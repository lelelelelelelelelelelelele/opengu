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8777" autoAdjust="0"/>
  </p:normalViewPr>
  <p:slideViewPr>
    <p:cSldViewPr snapToGrid="0" snapToObjects="1">
      <p:cViewPr varScale="1">
        <p:scale>
          <a:sx n="101" d="100"/>
          <a:sy n="101" d="100"/>
        </p:scale>
        <p:origin x="12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080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This project audits approximate graph unlearning under adversarial deletion requests.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question is whether a malicious requester can choose deletions that amplify approximation error.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answer depends strongly on the unlearning family.</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Good afternoon. I am Liu Chengyu, and this presentation summarizes my EE5003 MSc project on adversarial deletion attacks against approximate graph unlearning. The core question is whether a deletion interface can be exploited by choosing nodes whose removal causes much more damage than a normal request should. I study this problem across several graph unlearning families, build an evaluation workflow on top of </a:t>
            </a:r>
            <a:r>
              <a:rPr lang="en-US" altLang="zh-CN" sz="1200" kern="1200" dirty="0" err="1">
                <a:solidFill>
                  <a:schemeClr val="tx1"/>
                </a:solidFill>
                <a:effectLst/>
                <a:latin typeface="+mn-lt"/>
                <a:ea typeface="+mn-ea"/>
                <a:cs typeface="+mn-cs"/>
              </a:rPr>
              <a:t>OpenGU</a:t>
            </a:r>
            <a:r>
              <a:rPr lang="en-US" altLang="zh-CN" sz="1200" kern="1200" dirty="0">
                <a:solidFill>
                  <a:schemeClr val="tx1"/>
                </a:solidFill>
                <a:effectLst/>
                <a:latin typeface="+mn-lt"/>
                <a:ea typeface="+mn-ea"/>
                <a:cs typeface="+mn-cs"/>
              </a:rPr>
              <a:t>, and show that these methods do not inherit safety behavior equally.</a:t>
            </a:r>
            <a:endParaRPr lang="zh-CN" altLang="zh-C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Graph models are used in settings where deletion requests are realistic.</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Approximate unlearning is attractive because exact retraining is expensive.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That same approximation creates a security surface.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Graph unlearning matters because graph neural networks are used in citation, recommendation, and social systems where node-level removal is a realistic requirement. In practice, exact retraining after every deletion request is often too expensive, so approximate unlearning methods are attractive. But approximation also creates risk. If the retained model only approximates the effect of deletion, then a malicious requester may exploit the deletion interface itself by choosing nodes that maximize retained-model damage. So the deletion API is not only a compliance mechanism; it can also become an attack interface.</a:t>
            </a:r>
            <a:endParaRPr lang="zh-CN" altLang="zh-C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Can malicious deletion requests degrade utility beyond ordinary deletion at the same budget?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Compare method families, not just one algorithm.</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Add attribution metrics and practicality analysis.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main research question is whether malicious deletion requests can amplify approximation error and degrade retained-model utility beyond what ordinary deletion would cause at the same budget. I organized the project around four objectives. First, build an attack pipeline with multiple deletion strategies. Second, compare vulnerability across different graph unlearning families. Third, introduce attribution metrics that separate true deletion impact from approximation-induced spillover. And fourth, test whether adversarial node selection is efficient enough to be practically relevant rather than only conceptually possible.</a:t>
            </a:r>
            <a:endParaRPr lang="zh-CN" altLang="zh-C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study covers learning-based, IF-based, and shard-based unlearning.</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These families differ in mechanism, so family-level robustness may differ too.</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attacker controls only the deletion request.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evaluation spans several unlearning families. Learning-based unlearning is represented by </a:t>
            </a:r>
            <a:r>
              <a:rPr lang="en-US" altLang="zh-CN" sz="1200" kern="1200" dirty="0" err="1">
                <a:solidFill>
                  <a:schemeClr val="tx1"/>
                </a:solidFill>
                <a:effectLst/>
                <a:latin typeface="+mn-lt"/>
                <a:ea typeface="+mn-ea"/>
                <a:cs typeface="+mn-cs"/>
              </a:rPr>
              <a:t>GNNDelete</a:t>
            </a:r>
            <a:r>
              <a:rPr lang="en-US" altLang="zh-CN" sz="1200" kern="1200" dirty="0">
                <a:solidFill>
                  <a:schemeClr val="tx1"/>
                </a:solidFill>
                <a:effectLst/>
                <a:latin typeface="+mn-lt"/>
                <a:ea typeface="+mn-ea"/>
                <a:cs typeface="+mn-cs"/>
              </a:rPr>
              <a:t>, which learns a direct unlearning correction. Influence-function-based unlearning is represented by GIF, which approximates deletion through local influence-style updates. The broader benchmark also includes IDEA, MEGU, and the shard-based </a:t>
            </a:r>
            <a:r>
              <a:rPr lang="en-US" altLang="zh-CN" sz="1200" kern="1200" dirty="0" err="1">
                <a:solidFill>
                  <a:schemeClr val="tx1"/>
                </a:solidFill>
                <a:effectLst/>
                <a:latin typeface="+mn-lt"/>
                <a:ea typeface="+mn-ea"/>
                <a:cs typeface="+mn-cs"/>
              </a:rPr>
              <a:t>GraphEraser</a:t>
            </a:r>
            <a:r>
              <a:rPr lang="en-US" altLang="zh-CN" sz="1200" kern="1200" dirty="0">
                <a:solidFill>
                  <a:schemeClr val="tx1"/>
                </a:solidFill>
                <a:effectLst/>
                <a:latin typeface="+mn-lt"/>
                <a:ea typeface="+mn-ea"/>
                <a:cs typeface="+mn-cs"/>
              </a:rPr>
              <a:t>, which partitions the graph and retrains affected shards. I make this distinction early because the mechanisms are genuinely different, so it would be surprising if they all inherited the same robustness behavior. The threat model is deliberately practical. The attacker can choose which nodes to delete through the normal interface, but does not modify labels, features, optimizer settings, or hidden training code. This is not a poisoning attack. I also track collateral damage on retained nodes.</a:t>
            </a:r>
            <a:endParaRPr lang="zh-CN" altLang="zh-C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pipeline is select nodes, unlearn, exact retrain, and compare.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Structured attacks include </a:t>
            </a:r>
            <a:r>
              <a:rPr lang="en-US" altLang="zh-CN" sz="1200" kern="1200" dirty="0" err="1">
                <a:solidFill>
                  <a:schemeClr val="tx1"/>
                </a:solidFill>
                <a:effectLst/>
                <a:latin typeface="+mn-lt"/>
                <a:ea typeface="+mn-ea"/>
                <a:cs typeface="+mn-cs"/>
              </a:rPr>
              <a:t>TracIn</a:t>
            </a:r>
            <a:r>
              <a:rPr lang="en-US" altLang="zh-CN" sz="1200" kern="1200" dirty="0">
                <a:solidFill>
                  <a:schemeClr val="tx1"/>
                </a:solidFill>
                <a:effectLst/>
                <a:latin typeface="+mn-lt"/>
                <a:ea typeface="+mn-ea"/>
                <a:cs typeface="+mn-cs"/>
              </a:rPr>
              <a:t>, IM, and Hybrid.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final matrix covers 5 methods, 2 datasets, 3 backbones, 6 strategies, and 950 runs.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The workflow has four steps. First, select deletion targets, either randomly or with a structured strategy such as </a:t>
            </a:r>
            <a:r>
              <a:rPr lang="en-US" altLang="zh-CN" sz="1200" kern="1200" dirty="0" err="1">
                <a:solidFill>
                  <a:schemeClr val="tx1"/>
                </a:solidFill>
                <a:effectLst/>
                <a:latin typeface="+mn-lt"/>
                <a:ea typeface="+mn-ea"/>
                <a:cs typeface="+mn-cs"/>
              </a:rPr>
              <a:t>TracIn</a:t>
            </a:r>
            <a:r>
              <a:rPr lang="en-US" altLang="zh-CN" sz="1200" kern="1200" dirty="0">
                <a:solidFill>
                  <a:schemeClr val="tx1"/>
                </a:solidFill>
                <a:effectLst/>
                <a:latin typeface="+mn-lt"/>
                <a:ea typeface="+mn-ea"/>
                <a:cs typeface="+mn-cs"/>
              </a:rPr>
              <a:t>, IM, or Hybrid. Second, apply the chosen graph unlearning method. Third, run an exact retrain control on the same deletion set. This shows what the post-deletion model should ideally look like without approximation error. Fourth, compare the main outputs: relative F1 drop, retrain gap, collateral effects, and efficiency. Up to now, The completed evaluation covers five unlearning methods, two citation-graph datasets, three GNN backbones, six node-selection strategies, and 950 total runs.</a:t>
            </a:r>
            <a:endParaRPr lang="zh-CN" altLang="zh-C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TracIn or IF-style selection is model-aware.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IM is graph-structural and aims at spread or disruption.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Hybrid combines model-side influence with topology-side spread.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later comparison is mainly among these informed selectors, not against random.</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Before defining the metrics, I want to clarify what the attack strategies are actually doing. These are not just arbitrary labels. TracIn, or more broadly IF-style logic, is model-aware: it tries to pick nodes with high training influence on the learned model. IM is graph-structural: it tries to pick nodes that maximize spread or disruption in the graph itself. Hybrid combines both signals. I put a small formula on the slide, but it is only there as shorthand intuition, not something I need the audience to parse line by line. This matters because the more interesting strategy comparison later is mainly among these informed selectors themselves: IF-style selection, IM, and Hybrid, rather than simply asking whether any one of them beats a naive baseline.</a:t>
            </a:r>
            <a:endParaRPr lang="zh-CN" altLang="zh-CN" sz="120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`relative_f1_drop = F1_after(k=5, random) - F1_after(attack)`.</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Use a tiny random-trigger baseline because raw utility drop can be misleading for shard-based methods.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retrain_gap</a:t>
            </a:r>
            <a:r>
              <a:rPr lang="en-US" altLang="zh-CN" sz="1200" kern="1200" dirty="0">
                <a:solidFill>
                  <a:schemeClr val="tx1"/>
                </a:solidFill>
                <a:effectLst/>
                <a:latin typeface="+mn-lt"/>
                <a:ea typeface="+mn-ea"/>
                <a:cs typeface="+mn-cs"/>
              </a:rPr>
              <a:t>` and collateral metrics explain where the degradation comes from.</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Before showing the main results, I want to define the metrics clearly. The main utility metric is relative F1 drop, but the important design choice is the reference point. Instead of relying only on raw F1 before minus F1 after, I first trigger each method with a very small random deletion, k equals 5, and use that post-unlearning F1 as the baseline. This matters because shard-based methods such as </a:t>
            </a:r>
            <a:r>
              <a:rPr lang="en-US" altLang="zh-CN" sz="1200" kern="1200" dirty="0" err="1">
                <a:solidFill>
                  <a:schemeClr val="tx1"/>
                </a:solidFill>
                <a:effectLst/>
                <a:latin typeface="+mn-lt"/>
                <a:ea typeface="+mn-ea"/>
                <a:cs typeface="+mn-cs"/>
              </a:rPr>
              <a:t>GraphEraser</a:t>
            </a:r>
            <a:r>
              <a:rPr lang="en-US" altLang="zh-CN" sz="1200" kern="1200" dirty="0">
                <a:solidFill>
                  <a:schemeClr val="tx1"/>
                </a:solidFill>
                <a:effectLst/>
                <a:latin typeface="+mn-lt"/>
                <a:ea typeface="+mn-ea"/>
                <a:cs typeface="+mn-cs"/>
              </a:rPr>
              <a:t> can show method-induced score shifts after deletion, so raw drop alone can be misleading. Relative F1 drop therefore measures extra damage beyond that small-trigger baseline. To explain why a method degrades, I then use retrain gap and collateral metrics. Retrain gap compares approximate unlearning against exact retraining on the same deletion set, and collateral metrics track how much the retained nodes are disturbed.</a:t>
            </a:r>
            <a:endParaRPr lang="zh-CN" altLang="zh-C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Relative F1 drop reveals a clear family-level vulnerability spectrum.</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GNNDelete is the most fragile representative in the tested settings.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GIF stays comparatively stable, while GraphEraser shows shard protection.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is the main result of the project. When I compare relative F1 drop across datasets and backbones at the same deletion ratio, I do not see one shared failure pattern. Instead, I see a clear vulnerability spectrum across graph unlearning families. GNNDelete is consistently the most fragile representative. GIF remains comparatively stable, with much smaller extra drops beyond the k equals 5 baseline. GraphEraser behaves qualitatively differently again: because raw utility change can be negative, the relative metric is the cleaner way to compare it against the other families. In the tested settings, GraphEraser shows a shard protection pattern rather than the expected collapse. So the broader takeaway from this page is that robustness is mechanism-dependent, and the metric definition matters for reading that spectrum correctly. I then use the next page to ask a different question, which is how the informed selection methods compare with each other.</a:t>
            </a:r>
            <a:endParaRPr lang="zh-CN" altLang="zh-CN" sz="1200" kern="1200" dirty="0">
              <a:solidFill>
                <a:schemeClr val="tx1"/>
              </a:solidFill>
              <a:effectLst/>
              <a:latin typeface="+mn-lt"/>
              <a:ea typeface="+mn-ea"/>
              <a:cs typeface="+mn-cs"/>
            </a:endParaRPr>
          </a:p>
          <a:p>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This page is not mainly about random versus informed selection.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useful comparison here is IF-style selection versus IM versus Hybrid.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There is no universally dominant informed selector; effectiveness depends on the target method.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page answers a different question from the previous one. I am not mainly using it to argue that informed selection beats random. The more useful comparison here is within the informed selectors themselves: IF-style selection such as TracIn, graph-structural selection through IM, and the fused Hybrid strategy. The key result is that there is no universally dominant selector across all graph unlearning methods. In some settings, especially on GNNDelete, IM is often the strongest or one of the strongest choices because structural disruption directly targets its weak point. In other settings, Hybrid or TracIn is competitive, and the gap is usually moderate rather than dramatic. So the strategy-level conclusion is not a single global ranking. It is that selector effectiveness is also mechanism-dependent, and these informed selectors should be read as different attack logics with different targets of strength.</a:t>
            </a:r>
            <a:endParaRPr lang="zh-CN" altLang="zh-CN" sz="120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ratio figure works like an ablation on deletion budget.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GNNDelete</a:t>
            </a:r>
            <a:r>
              <a:rPr lang="en-US" altLang="zh-CN" sz="1200" kern="1200" dirty="0">
                <a:solidFill>
                  <a:schemeClr val="tx1"/>
                </a:solidFill>
                <a:effectLst/>
                <a:latin typeface="+mn-lt"/>
                <a:ea typeface="+mn-ea"/>
                <a:cs typeface="+mn-cs"/>
              </a:rPr>
              <a:t> stays sensitive even at very small ratios.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GIF remains comparatively flat, showing much weaker amplification.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To make the spectrum more concrete, I next use the ratio-sensitivity figure as an ablation-style view. The question here is not only which method is worse at one fixed budget, but how attack strength changes as the deletion ratio increases. </a:t>
            </a:r>
            <a:r>
              <a:rPr lang="en-US" altLang="zh-CN" sz="1200" kern="1200" dirty="0" err="1">
                <a:solidFill>
                  <a:schemeClr val="tx1"/>
                </a:solidFill>
                <a:effectLst/>
                <a:latin typeface="+mn-lt"/>
                <a:ea typeface="+mn-ea"/>
                <a:cs typeface="+mn-cs"/>
              </a:rPr>
              <a:t>GNNDelete</a:t>
            </a:r>
            <a:r>
              <a:rPr lang="en-US" altLang="zh-CN" sz="1200" kern="1200" dirty="0">
                <a:solidFill>
                  <a:schemeClr val="tx1"/>
                </a:solidFill>
                <a:effectLst/>
                <a:latin typeface="+mn-lt"/>
                <a:ea typeface="+mn-ea"/>
                <a:cs typeface="+mn-cs"/>
              </a:rPr>
              <a:t> already shows strong amplification even at a very small ratio, which means the vulnerability appears early rather than only under large deletion budgets. GIF remains much flatter across the same range. So this page supports the interpretation that the family difference is structural rather than a one-point artifact of the ratio chosen for the main comparison.</a:t>
            </a:r>
            <a:endParaRPr lang="zh-CN" altLang="zh-C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Relative F1 drop says the attack beat the k=5 baseline.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Retrain gap says how much extra error comes from approximation.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Collateral metrics show how strongly retained nodes are disturbed.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small evidence table anchors this logic with family-level collateral results.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slide summarizes the attribution logic. Relative F1 drop tells us whether a structured attack beats the k equals 5 method baseline, but it does not by itself explain why. That is why the exact retrain control is essential. It tells us what should happen on the same deletion set if approximation error were absent. The gap between approximate unlearning and exact retraining is the retrain gap, and that is the part we should attribute to the mechanism. I then use collateral metrics, such as prediction flips and mean prediction shift on retained nodes, to show how far the disturbance propagates beyond the requested deletions. So the three metrics answer three different questions: did the attack work, where did the error come from, and how far did it spread. The small evidence table at the bottom makes clear that this is not only conceptual. In the report-level collateral summary, GNNDelete also has the largest retrain gap and the strongest retained-node disturbance.</a:t>
            </a:r>
            <a:endParaRPr lang="zh-CN" altLang="zh-CN" sz="120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observed </a:t>
            </a:r>
            <a:r>
              <a:rPr lang="en-US" altLang="zh-CN" sz="1200" kern="1200" dirty="0" err="1">
                <a:solidFill>
                  <a:schemeClr val="tx1"/>
                </a:solidFill>
                <a:effectLst/>
                <a:latin typeface="+mn-lt"/>
                <a:ea typeface="+mn-ea"/>
                <a:cs typeface="+mn-cs"/>
              </a:rPr>
              <a:t>GraphEraser</a:t>
            </a:r>
            <a:r>
              <a:rPr lang="en-US" altLang="zh-CN" sz="1200" kern="1200" dirty="0">
                <a:solidFill>
                  <a:schemeClr val="tx1"/>
                </a:solidFill>
                <a:effectLst/>
                <a:latin typeface="+mn-lt"/>
                <a:ea typeface="+mn-ea"/>
                <a:cs typeface="+mn-cs"/>
              </a:rPr>
              <a:t> score distribution shifts upward after unlearning.</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That is why raw utility drop alone is not the right cross-family metric here.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This is setting-specific evidence for a shard protection effect, not universal robustness.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err="1">
                <a:solidFill>
                  <a:schemeClr val="tx1"/>
                </a:solidFill>
                <a:effectLst/>
                <a:latin typeface="+mn-lt"/>
                <a:ea typeface="+mn-ea"/>
                <a:cs typeface="+mn-cs"/>
              </a:rPr>
              <a:t>GraphEraser</a:t>
            </a:r>
            <a:r>
              <a:rPr lang="en-US" altLang="zh-CN" sz="1200" kern="1200" dirty="0">
                <a:solidFill>
                  <a:schemeClr val="tx1"/>
                </a:solidFill>
                <a:effectLst/>
                <a:latin typeface="+mn-lt"/>
                <a:ea typeface="+mn-ea"/>
                <a:cs typeface="+mn-cs"/>
              </a:rPr>
              <a:t> behaves differently enough that it deserves its own evidence slide. Here I show the observed score shift for </a:t>
            </a:r>
            <a:r>
              <a:rPr lang="en-US" altLang="zh-CN" sz="1200" kern="1200" dirty="0" err="1">
                <a:solidFill>
                  <a:schemeClr val="tx1"/>
                </a:solidFill>
                <a:effectLst/>
                <a:latin typeface="+mn-lt"/>
                <a:ea typeface="+mn-ea"/>
                <a:cs typeface="+mn-cs"/>
              </a:rPr>
              <a:t>GraphEraser</a:t>
            </a:r>
            <a:r>
              <a:rPr lang="en-US" altLang="zh-CN" sz="1200" kern="1200" dirty="0">
                <a:solidFill>
                  <a:schemeClr val="tx1"/>
                </a:solidFill>
                <a:effectLst/>
                <a:latin typeface="+mn-lt"/>
                <a:ea typeface="+mn-ea"/>
                <a:cs typeface="+mn-cs"/>
              </a:rPr>
              <a:t> on Cora with a GCN backbone. The after-unlearning distribution moves upward across the tested attack strategies, which is why I said earlier that raw utility drop alone can be misleading for shard-based methods. A plausible explanation is that removing bridge or hub nodes changes the partition structure in a way that makes shard-local classification easier and reduces cross-shard interference. This is still a narrow claim. I am not saying </a:t>
            </a:r>
            <a:r>
              <a:rPr lang="en-US" altLang="zh-CN" sz="1200" kern="1200" dirty="0" err="1">
                <a:solidFill>
                  <a:schemeClr val="tx1"/>
                </a:solidFill>
                <a:effectLst/>
                <a:latin typeface="+mn-lt"/>
                <a:ea typeface="+mn-ea"/>
                <a:cs typeface="+mn-cs"/>
              </a:rPr>
              <a:t>GraphEraser</a:t>
            </a:r>
            <a:r>
              <a:rPr lang="en-US" altLang="zh-CN" sz="1200" kern="1200" dirty="0">
                <a:solidFill>
                  <a:schemeClr val="tx1"/>
                </a:solidFill>
                <a:effectLst/>
                <a:latin typeface="+mn-lt"/>
                <a:ea typeface="+mn-ea"/>
                <a:cs typeface="+mn-cs"/>
              </a:rPr>
              <a:t> is universally robust. I am saying that under the tested settings, the evidence is more consistent with a shard protection effect than with the collapse pattern seen in </a:t>
            </a:r>
            <a:r>
              <a:rPr lang="en-US" altLang="zh-CN" sz="1200" kern="1200" dirty="0" err="1">
                <a:solidFill>
                  <a:schemeClr val="tx1"/>
                </a:solidFill>
                <a:effectLst/>
                <a:latin typeface="+mn-lt"/>
                <a:ea typeface="+mn-ea"/>
                <a:cs typeface="+mn-cs"/>
              </a:rPr>
              <a:t>GNNDelete</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Figure 4a asks how strongly the attack-over-random gap is supported.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Figure 4b asks how large that extra damage is.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GNNDelete</a:t>
            </a:r>
            <a:r>
              <a:rPr lang="en-US" altLang="zh-CN" sz="1200" kern="1200" dirty="0">
                <a:solidFill>
                  <a:schemeClr val="tx1"/>
                </a:solidFill>
                <a:effectLst/>
                <a:latin typeface="+mn-lt"/>
                <a:ea typeface="+mn-ea"/>
                <a:cs typeface="+mn-cs"/>
              </a:rPr>
              <a:t> is strong on both support and effect size.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I then strengthen the main result with statistical-support and effect-size evidence. Figure 4a asks how strongly the attack-over-random difference is supported, while Figure 4b asks how large that difference is once support is established. This matters because a visible pattern alone can still look thin if we do not show whether it is consistent. The key read is that </a:t>
            </a:r>
            <a:r>
              <a:rPr lang="en-US" altLang="zh-CN" sz="1200" kern="1200" dirty="0" err="1">
                <a:solidFill>
                  <a:schemeClr val="tx1"/>
                </a:solidFill>
                <a:effectLst/>
                <a:latin typeface="+mn-lt"/>
                <a:ea typeface="+mn-ea"/>
                <a:cs typeface="+mn-cs"/>
              </a:rPr>
              <a:t>GNNDelete</a:t>
            </a:r>
            <a:r>
              <a:rPr lang="en-US" altLang="zh-CN" sz="1200" kern="1200" dirty="0">
                <a:solidFill>
                  <a:schemeClr val="tx1"/>
                </a:solidFill>
                <a:effectLst/>
                <a:latin typeface="+mn-lt"/>
                <a:ea typeface="+mn-ea"/>
                <a:cs typeface="+mn-cs"/>
              </a:rPr>
              <a:t> is strong on both axes: it shows both clear support and large extra damage. The other families are more moderate, which is consistent with the main spectrum rather than a contradiction to it.</a:t>
            </a:r>
            <a:endParaRPr lang="zh-CN" altLang="zh-C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This is a completed MSc project with clearly bounded claims.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main limits are benchmark scope and the lack of deeper </a:t>
            </a:r>
            <a:r>
              <a:rPr lang="en-US" altLang="zh-CN" sz="1200" kern="1200" dirty="0" err="1">
                <a:solidFill>
                  <a:schemeClr val="tx1"/>
                </a:solidFill>
                <a:effectLst/>
                <a:latin typeface="+mn-lt"/>
                <a:ea typeface="+mn-ea"/>
                <a:cs typeface="+mn-cs"/>
              </a:rPr>
              <a:t>GNNDelete</a:t>
            </a:r>
            <a:r>
              <a:rPr lang="en-US" altLang="zh-CN" sz="1200" kern="1200" dirty="0">
                <a:solidFill>
                  <a:schemeClr val="tx1"/>
                </a:solidFill>
                <a:effectLst/>
                <a:latin typeface="+mn-lt"/>
                <a:ea typeface="+mn-ea"/>
                <a:cs typeface="+mn-cs"/>
              </a:rPr>
              <a:t> mechanism analysis.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most credible future work is larger-benchmark validation plus targeted </a:t>
            </a:r>
            <a:r>
              <a:rPr lang="en-US" altLang="zh-CN" sz="1200" kern="1200" dirty="0" err="1">
                <a:solidFill>
                  <a:schemeClr val="tx1"/>
                </a:solidFill>
                <a:effectLst/>
                <a:latin typeface="+mn-lt"/>
                <a:ea typeface="+mn-ea"/>
                <a:cs typeface="+mn-cs"/>
              </a:rPr>
              <a:t>GNNDelete</a:t>
            </a:r>
            <a:r>
              <a:rPr lang="en-US" altLang="zh-CN" sz="1200" kern="1200" dirty="0">
                <a:solidFill>
                  <a:schemeClr val="tx1"/>
                </a:solidFill>
                <a:effectLst/>
                <a:latin typeface="+mn-lt"/>
                <a:ea typeface="+mn-ea"/>
                <a:cs typeface="+mn-cs"/>
              </a:rPr>
              <a:t> ablations.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This project has clear limitations, and I want to state them directly. The evidence is strong within the tested citation benchmarks and backbones, but it should not be treated as universal across all graph domains. The second limit is explanatory depth: </a:t>
            </a:r>
            <a:r>
              <a:rPr lang="en-US" altLang="zh-CN" sz="1200" kern="1200" dirty="0" err="1">
                <a:solidFill>
                  <a:schemeClr val="tx1"/>
                </a:solidFill>
                <a:effectLst/>
                <a:latin typeface="+mn-lt"/>
                <a:ea typeface="+mn-ea"/>
                <a:cs typeface="+mn-cs"/>
              </a:rPr>
              <a:t>GNNDelete</a:t>
            </a:r>
            <a:r>
              <a:rPr lang="en-US" altLang="zh-CN" sz="1200" kern="1200" dirty="0">
                <a:solidFill>
                  <a:schemeClr val="tx1"/>
                </a:solidFill>
                <a:effectLst/>
                <a:latin typeface="+mn-lt"/>
                <a:ea typeface="+mn-ea"/>
                <a:cs typeface="+mn-cs"/>
              </a:rPr>
              <a:t> is clearly fragile in these experiments, but the mechanism-level reason still needs more targeted ablation. At the same time, this is a completed MSc project, not a midstream progress report. The most credible future work is to validate the same pattern on larger graph benchmarks such as PubMed and to run more targeted ablations that explain when and why </a:t>
            </a:r>
            <a:r>
              <a:rPr lang="en-US" altLang="zh-CN" sz="1200" kern="1200" dirty="0" err="1">
                <a:solidFill>
                  <a:schemeClr val="tx1"/>
                </a:solidFill>
                <a:effectLst/>
                <a:latin typeface="+mn-lt"/>
                <a:ea typeface="+mn-ea"/>
                <a:cs typeface="+mn-cs"/>
              </a:rPr>
              <a:t>GNNDelete</a:t>
            </a:r>
            <a:r>
              <a:rPr lang="en-US" altLang="zh-CN" sz="1200" kern="1200" dirty="0">
                <a:solidFill>
                  <a:schemeClr val="tx1"/>
                </a:solidFill>
                <a:effectLst/>
                <a:latin typeface="+mn-lt"/>
                <a:ea typeface="+mn-ea"/>
                <a:cs typeface="+mn-cs"/>
              </a:rPr>
              <a: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kern="1200" dirty="0">
                <a:solidFill>
                  <a:schemeClr val="tx1"/>
                </a:solidFill>
                <a:effectLst/>
                <a:latin typeface="+mn-lt"/>
                <a:ea typeface="+mn-ea"/>
                <a:cs typeface="+mn-cs"/>
              </a:rPr>
              <a:t>Key Lines: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Approximate graph unlearning can and should be stress-tested through adversarial deletion requests.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Robustness differs substantially across method families.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best informed selection method also depends on the target mechanism.</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The project contributes both findings and a reusable workflow.</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Speaker Notes: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To conclude, this project shows that approximate graph unlearning can and should be stress-tested through adversarial deletion requests. The first main result is a clear family-level vulnerability spectrum defined through relative F1 drop: GNNDelete is the most fragile case in the tested settings, GIF is comparatively stable, and GraphEraser exhibits a shard protection effect rather than collapse. The second main result is about attack selection: among informed selectors such as IF-style selection, IM, and Hybrid, there is no single universally best choice, because effectiveness also depends on the target mechanism. Just as importantly, the project leaves behind a practical OpenGU-based audit workflow that can support future work from a completed course submission. Thank you, and I welcome your questions.</a:t>
            </a:r>
            <a:endParaRPr lang="zh-CN" altLang="zh-CN" sz="1200" kern="1200" dirty="0">
              <a:solidFill>
                <a:schemeClr val="tx1"/>
              </a:solidFill>
              <a:effectLst/>
              <a:latin typeface="+mn-lt"/>
              <a:ea typeface="+mn-ea"/>
              <a:cs typeface="+mn-cs"/>
            </a:endParaRPr>
          </a:p>
          <a:p>
            <a:endParaRP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2" name="图形 1">
            <a:extLst>
              <a:ext uri="{FF2B5EF4-FFF2-40B4-BE49-F238E27FC236}">
                <a16:creationId xmlns:a16="http://schemas.microsoft.com/office/drawing/2014/main" id="{A2DB0987-C8B2-DD23-E354-45BC7832096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877824" cy="58521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形 1">
            <a:extLst>
              <a:ext uri="{FF2B5EF4-FFF2-40B4-BE49-F238E27FC236}">
                <a16:creationId xmlns:a16="http://schemas.microsoft.com/office/drawing/2014/main" id="{FB7CDE96-872B-F624-02C4-71D4596BDD3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877824" cy="58521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3F"/>
        </a:solidFill>
        <a:effectLst/>
      </p:bgPr>
    </p:bg>
    <p:spTree>
      <p:nvGrpSpPr>
        <p:cNvPr id="1" name=""/>
        <p:cNvGrpSpPr/>
        <p:nvPr/>
      </p:nvGrpSpPr>
      <p:grpSpPr>
        <a:xfrm>
          <a:off x="0" y="0"/>
          <a:ext cx="0" cy="0"/>
          <a:chOff x="0" y="0"/>
          <a:chExt cx="0" cy="0"/>
        </a:xfrm>
      </p:grpSpPr>
      <p:sp>
        <p:nvSpPr>
          <p:cNvPr id="2" name="Shape 0"/>
          <p:cNvSpPr/>
          <p:nvPr/>
        </p:nvSpPr>
        <p:spPr>
          <a:xfrm>
            <a:off x="6355080" y="0"/>
            <a:ext cx="2788920" cy="5143500"/>
          </a:xfrm>
          <a:prstGeom prst="rect">
            <a:avLst/>
          </a:prstGeom>
          <a:solidFill>
            <a:srgbClr val="E8EEF5">
              <a:alpha val="88000"/>
            </a:srgbClr>
          </a:solidFill>
          <a:ln w="12700">
            <a:solidFill>
              <a:srgbClr val="E8EEF5">
                <a:alpha val="0"/>
              </a:srgbClr>
            </a:solidFill>
            <a:prstDash val="solid"/>
          </a:ln>
        </p:spPr>
        <p:txBody>
          <a:bodyPr/>
          <a:lstStyle/>
          <a:p>
            <a:endParaRPr lang="zh-CN" altLang="en-US"/>
          </a:p>
        </p:txBody>
      </p:sp>
      <p:sp>
        <p:nvSpPr>
          <p:cNvPr id="3" name="Text 1"/>
          <p:cNvSpPr/>
          <p:nvPr/>
        </p:nvSpPr>
        <p:spPr>
          <a:xfrm>
            <a:off x="685800" y="749808"/>
            <a:ext cx="5212080" cy="1188720"/>
          </a:xfrm>
          <a:prstGeom prst="rect">
            <a:avLst/>
          </a:prstGeom>
          <a:noFill/>
          <a:ln/>
        </p:spPr>
        <p:txBody>
          <a:bodyPr wrap="square" lIns="0" tIns="0" rIns="0" bIns="0" rtlCol="0" anchor="ctr">
            <a:normAutofit/>
          </a:bodyP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Adversarial Deletion Attacks on</a:t>
            </a:r>
            <a:endParaRPr lang="en-US" sz="2400" dirty="0"/>
          </a:p>
          <a:p>
            <a:pPr marL="0" indent="0">
              <a:buNone/>
            </a:pPr>
            <a:r>
              <a:rPr lang="en-US" sz="2400" b="1" dirty="0">
                <a:solidFill>
                  <a:srgbClr val="FFFFFF"/>
                </a:solidFill>
                <a:latin typeface="Times New Roman" pitchFamily="34" charset="0"/>
                <a:ea typeface="Times New Roman" pitchFamily="34" charset="-122"/>
                <a:cs typeface="Times New Roman" pitchFamily="34" charset="-120"/>
              </a:rPr>
              <a:t>Approximate Graph Unlearning</a:t>
            </a:r>
            <a:endParaRPr lang="en-US" sz="2400" dirty="0"/>
          </a:p>
        </p:txBody>
      </p:sp>
      <p:sp>
        <p:nvSpPr>
          <p:cNvPr id="4" name="Text 2"/>
          <p:cNvSpPr/>
          <p:nvPr/>
        </p:nvSpPr>
        <p:spPr>
          <a:xfrm>
            <a:off x="713232" y="2103120"/>
            <a:ext cx="4572000" cy="274320"/>
          </a:xfrm>
          <a:prstGeom prst="rect">
            <a:avLst/>
          </a:prstGeom>
          <a:noFill/>
          <a:ln/>
        </p:spPr>
        <p:txBody>
          <a:bodyPr wrap="square" lIns="0" tIns="0" rIns="0" bIns="0" rtlCol="0" anchor="ctr"/>
          <a:lstStyle/>
          <a:p>
            <a:pPr marL="0" indent="0">
              <a:buNone/>
            </a:pPr>
            <a:r>
              <a:rPr lang="en-US" sz="1500" i="1" dirty="0">
                <a:solidFill>
                  <a:srgbClr val="F7F5F1"/>
                </a:solidFill>
                <a:latin typeface="Times New Roman" pitchFamily="34" charset="0"/>
                <a:ea typeface="Times New Roman" pitchFamily="34" charset="-122"/>
                <a:cs typeface="Times New Roman" pitchFamily="34" charset="-120"/>
              </a:rPr>
              <a:t>The inheritance of safety behavior within graph unlearning families</a:t>
            </a:r>
            <a:endParaRPr lang="en-US" sz="1500" dirty="0"/>
          </a:p>
        </p:txBody>
      </p:sp>
      <p:sp>
        <p:nvSpPr>
          <p:cNvPr id="5" name="Text 3"/>
          <p:cNvSpPr/>
          <p:nvPr/>
        </p:nvSpPr>
        <p:spPr>
          <a:xfrm>
            <a:off x="713232" y="2926080"/>
            <a:ext cx="3291840" cy="457200"/>
          </a:xfrm>
          <a:prstGeom prst="rect">
            <a:avLst/>
          </a:prstGeom>
          <a:noFill/>
          <a:ln/>
        </p:spPr>
        <p:txBody>
          <a:bodyPr wrap="square" lIns="0" tIns="0" rIns="0" bIns="0" rtlCol="0" anchor="ctr"/>
          <a:lstStyle/>
          <a:p>
            <a:pPr marL="0" indent="0">
              <a:buNone/>
            </a:pPr>
            <a:r>
              <a:rPr lang="en-US" sz="1500" dirty="0">
                <a:solidFill>
                  <a:srgbClr val="F7F5F1"/>
                </a:solidFill>
                <a:latin typeface="Times New Roman" pitchFamily="34" charset="0"/>
                <a:ea typeface="Times New Roman" pitchFamily="34" charset="-122"/>
                <a:cs typeface="Times New Roman" pitchFamily="34" charset="-120"/>
              </a:rPr>
              <a:t>EE5003 MSc Project Report</a:t>
            </a:r>
            <a:endParaRPr lang="en-US" sz="1500" dirty="0"/>
          </a:p>
          <a:p>
            <a:pPr marL="0" indent="0">
              <a:buNone/>
            </a:pPr>
            <a:r>
              <a:rPr lang="en-US" sz="1500" dirty="0">
                <a:solidFill>
                  <a:srgbClr val="F7F5F1"/>
                </a:solidFill>
                <a:latin typeface="Times New Roman" pitchFamily="34" charset="0"/>
                <a:ea typeface="Times New Roman" pitchFamily="34" charset="-122"/>
                <a:cs typeface="Times New Roman" pitchFamily="34" charset="-120"/>
              </a:rPr>
              <a:t>National University of Singapore</a:t>
            </a:r>
            <a:endParaRPr lang="en-US" sz="1500" dirty="0"/>
          </a:p>
        </p:txBody>
      </p:sp>
      <p:sp>
        <p:nvSpPr>
          <p:cNvPr id="6" name="Text 4"/>
          <p:cNvSpPr/>
          <p:nvPr/>
        </p:nvSpPr>
        <p:spPr>
          <a:xfrm>
            <a:off x="713231" y="3657600"/>
            <a:ext cx="2701913" cy="365760"/>
          </a:xfrm>
          <a:prstGeom prst="rect">
            <a:avLst/>
          </a:prstGeom>
          <a:noFill/>
          <a:ln/>
        </p:spPr>
        <p:txBody>
          <a:bodyPr wrap="square" lIns="0" tIns="0" rIns="0" bIns="0" rtlCol="0" anchor="ctr"/>
          <a:lstStyle/>
          <a:p>
            <a:pPr marL="0" indent="0">
              <a:buNone/>
            </a:pPr>
            <a:r>
              <a:rPr lang="en-US" sz="1400" dirty="0">
                <a:solidFill>
                  <a:srgbClr val="FFFFFF"/>
                </a:solidFill>
                <a:latin typeface="Times New Roman" pitchFamily="34" charset="0"/>
                <a:ea typeface="Times New Roman" pitchFamily="34" charset="-122"/>
                <a:cs typeface="Times New Roman" pitchFamily="34" charset="-120"/>
              </a:rPr>
              <a:t>Liu Chengyu</a:t>
            </a:r>
          </a:p>
          <a:p>
            <a:pPr marL="0" indent="0">
              <a:buNone/>
            </a:pPr>
            <a:r>
              <a:rPr lang="en-US" sz="1400" dirty="0">
                <a:solidFill>
                  <a:srgbClr val="FFFFFF"/>
                </a:solidFill>
                <a:latin typeface="Times New Roman" pitchFamily="34" charset="0"/>
                <a:cs typeface="Times New Roman" pitchFamily="34" charset="-120"/>
              </a:rPr>
              <a:t>Examiner: Prof. Wu and Wang</a:t>
            </a:r>
            <a:endParaRPr lang="en-US" sz="1400" dirty="0"/>
          </a:p>
          <a:p>
            <a:pPr marL="0" indent="0">
              <a:buNone/>
            </a:pPr>
            <a:r>
              <a:rPr lang="en-US" sz="1400" dirty="0">
                <a:solidFill>
                  <a:srgbClr val="FFFFFF"/>
                </a:solidFill>
                <a:latin typeface="Times New Roman" pitchFamily="34" charset="0"/>
                <a:ea typeface="Times New Roman" pitchFamily="34" charset="-122"/>
                <a:cs typeface="Times New Roman" pitchFamily="34" charset="-120"/>
              </a:rPr>
              <a:t>April 2026</a:t>
            </a:r>
            <a:endParaRPr lang="en-US" sz="1400" dirty="0"/>
          </a:p>
        </p:txBody>
      </p:sp>
      <p:sp>
        <p:nvSpPr>
          <p:cNvPr id="7" name="Shape 5"/>
          <p:cNvSpPr/>
          <p:nvPr/>
        </p:nvSpPr>
        <p:spPr>
          <a:xfrm>
            <a:off x="6473952" y="1188720"/>
            <a:ext cx="1965960" cy="1645920"/>
          </a:xfrm>
          <a:prstGeom prst="roundRect">
            <a:avLst>
              <a:gd name="adj" fmla="val 2778"/>
            </a:avLst>
          </a:prstGeom>
          <a:solidFill>
            <a:srgbClr val="FFFFFF"/>
          </a:solidFill>
          <a:ln w="13970">
            <a:solidFill>
              <a:srgbClr val="D9DEE7"/>
            </a:solidFill>
            <a:prstDash val="solid"/>
          </a:ln>
        </p:spPr>
        <p:txBody>
          <a:bodyPr/>
          <a:lstStyle/>
          <a:p>
            <a:endParaRPr lang="zh-CN" altLang="en-US"/>
          </a:p>
        </p:txBody>
      </p:sp>
      <p:sp>
        <p:nvSpPr>
          <p:cNvPr id="8" name="Text 6"/>
          <p:cNvSpPr/>
          <p:nvPr/>
        </p:nvSpPr>
        <p:spPr>
          <a:xfrm>
            <a:off x="6611112" y="1353312"/>
            <a:ext cx="1691640" cy="182880"/>
          </a:xfrm>
          <a:prstGeom prst="rect">
            <a:avLst/>
          </a:prstGeom>
          <a:noFill/>
          <a:ln/>
        </p:spPr>
        <p:txBody>
          <a:bodyPr wrap="square" lIns="0" tIns="0" rIns="0" bIns="0" rtlCol="0" anchor="ctr"/>
          <a:lstStyle/>
          <a:p>
            <a:pPr marL="0" indent="0">
              <a:buNone/>
            </a:pPr>
            <a:r>
              <a:rPr lang="en-US" sz="1700" b="1" dirty="0">
                <a:solidFill>
                  <a:srgbClr val="16263F"/>
                </a:solidFill>
                <a:latin typeface="Times New Roman" pitchFamily="34" charset="0"/>
                <a:ea typeface="Times New Roman" pitchFamily="34" charset="-122"/>
                <a:cs typeface="Times New Roman" pitchFamily="34" charset="-120"/>
              </a:rPr>
              <a:t>Thesis</a:t>
            </a:r>
            <a:endParaRPr lang="en-US" sz="1700" dirty="0"/>
          </a:p>
        </p:txBody>
      </p:sp>
      <p:sp>
        <p:nvSpPr>
          <p:cNvPr id="9" name="Text 7"/>
          <p:cNvSpPr/>
          <p:nvPr/>
        </p:nvSpPr>
        <p:spPr>
          <a:xfrm>
            <a:off x="6611112" y="1600200"/>
            <a:ext cx="1691640" cy="1143000"/>
          </a:xfrm>
          <a:prstGeom prst="rect">
            <a:avLst/>
          </a:prstGeom>
          <a:noFill/>
          <a:ln/>
        </p:spPr>
        <p:txBody>
          <a:bodyPr wrap="square" lIns="0" tIns="0" rIns="0" bIns="0" rtlCol="0" anchor="ctr">
            <a:normAutofit fontScale="92500"/>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Deletion interfaces in approximate graph unlearning can be exploited to amplify approximation error, and fragility differs sharply across method families.</a:t>
            </a:r>
            <a:endParaRPr lang="en-US" sz="1220" dirty="0"/>
          </a:p>
        </p:txBody>
      </p:sp>
      <p:sp>
        <p:nvSpPr>
          <p:cNvPr id="10" name="Shape 8"/>
          <p:cNvSpPr/>
          <p:nvPr/>
        </p:nvSpPr>
        <p:spPr>
          <a:xfrm>
            <a:off x="6510528" y="3154680"/>
            <a:ext cx="877824" cy="310896"/>
          </a:xfrm>
          <a:prstGeom prst="roundRect">
            <a:avLst>
              <a:gd name="adj" fmla="val 11765"/>
            </a:avLst>
          </a:prstGeom>
          <a:solidFill>
            <a:srgbClr val="FFFFFF"/>
          </a:solidFill>
          <a:ln w="12700">
            <a:solidFill>
              <a:srgbClr val="D9DEE7"/>
            </a:solidFill>
            <a:prstDash val="solid"/>
          </a:ln>
        </p:spPr>
        <p:txBody>
          <a:bodyPr/>
          <a:lstStyle/>
          <a:p>
            <a:endParaRPr lang="zh-CN" altLang="en-US"/>
          </a:p>
        </p:txBody>
      </p:sp>
      <p:sp>
        <p:nvSpPr>
          <p:cNvPr id="11" name="Text 9"/>
          <p:cNvSpPr/>
          <p:nvPr/>
        </p:nvSpPr>
        <p:spPr>
          <a:xfrm>
            <a:off x="6547104" y="3227832"/>
            <a:ext cx="804672" cy="109728"/>
          </a:xfrm>
          <a:prstGeom prst="rect">
            <a:avLst/>
          </a:prstGeom>
          <a:noFill/>
          <a:ln/>
        </p:spPr>
        <p:txBody>
          <a:bodyPr wrap="square" lIns="0" tIns="0" rIns="0" bIns="0" rtlCol="0" anchor="ctr"/>
          <a:lstStyle/>
          <a:p>
            <a:pPr marL="0" indent="0" algn="ctr">
              <a:buNone/>
            </a:pPr>
            <a:r>
              <a:rPr lang="en-US" sz="1120" b="1" dirty="0">
                <a:solidFill>
                  <a:srgbClr val="16263F"/>
                </a:solidFill>
                <a:latin typeface="Times New Roman" pitchFamily="34" charset="0"/>
                <a:ea typeface="Times New Roman" pitchFamily="34" charset="-122"/>
                <a:cs typeface="Times New Roman" pitchFamily="34" charset="-120"/>
              </a:rPr>
              <a:t>Problem</a:t>
            </a:r>
            <a:endParaRPr lang="en-US" sz="1120" dirty="0"/>
          </a:p>
        </p:txBody>
      </p:sp>
      <p:sp>
        <p:nvSpPr>
          <p:cNvPr id="12" name="Shape 10"/>
          <p:cNvSpPr/>
          <p:nvPr/>
        </p:nvSpPr>
        <p:spPr>
          <a:xfrm>
            <a:off x="7534656" y="3154680"/>
            <a:ext cx="877824" cy="310896"/>
          </a:xfrm>
          <a:prstGeom prst="roundRect">
            <a:avLst>
              <a:gd name="adj" fmla="val 11765"/>
            </a:avLst>
          </a:prstGeom>
          <a:solidFill>
            <a:srgbClr val="E8EEF5"/>
          </a:solidFill>
          <a:ln w="12700">
            <a:solidFill>
              <a:srgbClr val="E8EEF5"/>
            </a:solidFill>
            <a:prstDash val="solid"/>
          </a:ln>
        </p:spPr>
        <p:txBody>
          <a:bodyPr/>
          <a:lstStyle/>
          <a:p>
            <a:endParaRPr lang="zh-CN" altLang="en-US"/>
          </a:p>
        </p:txBody>
      </p:sp>
      <p:sp>
        <p:nvSpPr>
          <p:cNvPr id="13" name="Text 11"/>
          <p:cNvSpPr/>
          <p:nvPr/>
        </p:nvSpPr>
        <p:spPr>
          <a:xfrm>
            <a:off x="7571232" y="3227832"/>
            <a:ext cx="804672" cy="109728"/>
          </a:xfrm>
          <a:prstGeom prst="rect">
            <a:avLst/>
          </a:prstGeom>
          <a:noFill/>
          <a:ln/>
        </p:spPr>
        <p:txBody>
          <a:bodyPr wrap="square" lIns="0" tIns="0" rIns="0" bIns="0" rtlCol="0" anchor="ctr"/>
          <a:lstStyle/>
          <a:p>
            <a:pPr marL="0" indent="0" algn="ctr">
              <a:buNone/>
            </a:pPr>
            <a:r>
              <a:rPr lang="en-US" sz="1120" b="1" dirty="0">
                <a:solidFill>
                  <a:srgbClr val="223A5E"/>
                </a:solidFill>
                <a:latin typeface="Times New Roman" pitchFamily="34" charset="0"/>
                <a:ea typeface="Times New Roman" pitchFamily="34" charset="-122"/>
                <a:cs typeface="Times New Roman" pitchFamily="34" charset="-120"/>
              </a:rPr>
              <a:t>Method</a:t>
            </a:r>
            <a:endParaRPr lang="en-US" sz="1120" dirty="0"/>
          </a:p>
        </p:txBody>
      </p:sp>
      <p:sp>
        <p:nvSpPr>
          <p:cNvPr id="14" name="Shape 12"/>
          <p:cNvSpPr/>
          <p:nvPr/>
        </p:nvSpPr>
        <p:spPr>
          <a:xfrm>
            <a:off x="6510528" y="3639312"/>
            <a:ext cx="877824" cy="310896"/>
          </a:xfrm>
          <a:prstGeom prst="roundRect">
            <a:avLst>
              <a:gd name="adj" fmla="val 11765"/>
            </a:avLst>
          </a:prstGeom>
          <a:solidFill>
            <a:srgbClr val="E8EEF5"/>
          </a:solidFill>
          <a:ln w="12700">
            <a:solidFill>
              <a:srgbClr val="E8EEF5"/>
            </a:solidFill>
            <a:prstDash val="solid"/>
          </a:ln>
        </p:spPr>
        <p:txBody>
          <a:bodyPr/>
          <a:lstStyle/>
          <a:p>
            <a:endParaRPr lang="zh-CN" altLang="en-US"/>
          </a:p>
        </p:txBody>
      </p:sp>
      <p:sp>
        <p:nvSpPr>
          <p:cNvPr id="15" name="Text 13"/>
          <p:cNvSpPr/>
          <p:nvPr/>
        </p:nvSpPr>
        <p:spPr>
          <a:xfrm>
            <a:off x="6547104" y="3712464"/>
            <a:ext cx="804672" cy="109728"/>
          </a:xfrm>
          <a:prstGeom prst="rect">
            <a:avLst/>
          </a:prstGeom>
          <a:noFill/>
          <a:ln/>
        </p:spPr>
        <p:txBody>
          <a:bodyPr wrap="square" lIns="0" tIns="0" rIns="0" bIns="0" rtlCol="0" anchor="ctr"/>
          <a:lstStyle/>
          <a:p>
            <a:pPr marL="0" indent="0" algn="ctr">
              <a:buNone/>
            </a:pPr>
            <a:r>
              <a:rPr lang="en-US" sz="1120" b="1" dirty="0">
                <a:solidFill>
                  <a:srgbClr val="223A5E"/>
                </a:solidFill>
                <a:latin typeface="Times New Roman" pitchFamily="34" charset="0"/>
                <a:ea typeface="Times New Roman" pitchFamily="34" charset="-122"/>
                <a:cs typeface="Times New Roman" pitchFamily="34" charset="-120"/>
              </a:rPr>
              <a:t>Results</a:t>
            </a:r>
            <a:endParaRPr lang="en-US" sz="1120" dirty="0"/>
          </a:p>
        </p:txBody>
      </p:sp>
      <p:sp>
        <p:nvSpPr>
          <p:cNvPr id="16" name="Shape 14"/>
          <p:cNvSpPr/>
          <p:nvPr/>
        </p:nvSpPr>
        <p:spPr>
          <a:xfrm>
            <a:off x="7534656" y="3639312"/>
            <a:ext cx="877824" cy="310896"/>
          </a:xfrm>
          <a:prstGeom prst="roundRect">
            <a:avLst>
              <a:gd name="adj" fmla="val 11765"/>
            </a:avLst>
          </a:prstGeom>
          <a:solidFill>
            <a:srgbClr val="FFFFFF"/>
          </a:solidFill>
          <a:ln w="12700">
            <a:solidFill>
              <a:srgbClr val="D9DEE7"/>
            </a:solidFill>
            <a:prstDash val="solid"/>
          </a:ln>
        </p:spPr>
        <p:txBody>
          <a:bodyPr/>
          <a:lstStyle/>
          <a:p>
            <a:endParaRPr lang="zh-CN" altLang="en-US"/>
          </a:p>
        </p:txBody>
      </p:sp>
      <p:sp>
        <p:nvSpPr>
          <p:cNvPr id="17" name="Text 15"/>
          <p:cNvSpPr/>
          <p:nvPr/>
        </p:nvSpPr>
        <p:spPr>
          <a:xfrm>
            <a:off x="7571232" y="3712464"/>
            <a:ext cx="804672" cy="109728"/>
          </a:xfrm>
          <a:prstGeom prst="rect">
            <a:avLst/>
          </a:prstGeom>
          <a:noFill/>
          <a:ln/>
        </p:spPr>
        <p:txBody>
          <a:bodyPr wrap="square" lIns="0" tIns="0" rIns="0" bIns="0" rtlCol="0" anchor="ctr"/>
          <a:lstStyle/>
          <a:p>
            <a:pPr marL="0" indent="0" algn="ctr">
              <a:buNone/>
            </a:pPr>
            <a:r>
              <a:rPr lang="en-US" sz="1120" b="1" dirty="0">
                <a:solidFill>
                  <a:srgbClr val="16263F"/>
                </a:solidFill>
                <a:latin typeface="Times New Roman" pitchFamily="34" charset="0"/>
                <a:ea typeface="Times New Roman" pitchFamily="34" charset="-122"/>
                <a:cs typeface="Times New Roman" pitchFamily="34" charset="-120"/>
              </a:rPr>
              <a:t>Takeaway</a:t>
            </a:r>
            <a:endParaRPr lang="en-US" sz="11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223A5E"/>
          </a:solidFill>
          <a:ln w="12700">
            <a:solidFill>
              <a:srgbClr val="223A5E">
                <a:alpha val="0"/>
              </a:srgbClr>
            </a:solidFill>
            <a:prstDash val="solid"/>
          </a:ln>
        </p:spPr>
        <p:txBody>
          <a:bodyPr/>
          <a:lstStyle/>
          <a:p>
            <a:endParaRPr lang="zh-CN" altLang="en-US"/>
          </a:p>
        </p:txBody>
      </p:sp>
      <p:sp>
        <p:nvSpPr>
          <p:cNvPr id="3" name="Text 1"/>
          <p:cNvSpPr/>
          <p:nvPr/>
        </p:nvSpPr>
        <p:spPr>
          <a:xfrm>
            <a:off x="502920" y="100584"/>
            <a:ext cx="6583680" cy="219456"/>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Why Graph Unlearning Matters</a:t>
            </a:r>
            <a:endParaRPr lang="en-US" sz="2400" dirty="0"/>
          </a:p>
        </p:txBody>
      </p:sp>
      <p:sp>
        <p:nvSpPr>
          <p:cNvPr id="4" name="Text 2"/>
          <p:cNvSpPr/>
          <p:nvPr/>
        </p:nvSpPr>
        <p:spPr>
          <a:xfrm>
            <a:off x="7955280" y="118872"/>
            <a:ext cx="640080" cy="137160"/>
          </a:xfrm>
          <a:prstGeom prst="rect">
            <a:avLst/>
          </a:prstGeom>
          <a:noFill/>
          <a:ln/>
        </p:spPr>
        <p:txBody>
          <a:bodyPr wrap="square" lIns="0" tIns="0" rIns="0" bIns="0" rtlCol="0" anchor="ctr"/>
          <a:lstStyle/>
          <a:p>
            <a:pPr marL="0" indent="0" algn="r">
              <a:buNone/>
            </a:pPr>
            <a:r>
              <a:rPr lang="en-US" sz="1000" dirty="0">
                <a:solidFill>
                  <a:srgbClr val="F7F5F1"/>
                </a:solidFill>
                <a:latin typeface="Times New Roman" pitchFamily="34" charset="0"/>
                <a:ea typeface="Times New Roman" pitchFamily="34" charset="-122"/>
                <a:cs typeface="Times New Roman" pitchFamily="34" charset="-120"/>
              </a:rPr>
              <a:t>02 / 15</a:t>
            </a:r>
            <a:endParaRPr lang="en-US" sz="1000" dirty="0"/>
          </a:p>
        </p:txBody>
      </p:sp>
      <p:sp>
        <p:nvSpPr>
          <p:cNvPr id="5" name="Text 3"/>
          <p:cNvSpPr/>
          <p:nvPr/>
        </p:nvSpPr>
        <p:spPr>
          <a:xfrm>
            <a:off x="502920" y="4736592"/>
            <a:ext cx="2743200" cy="137160"/>
          </a:xfrm>
          <a:prstGeom prst="rect">
            <a:avLst/>
          </a:prstGeom>
          <a:noFill/>
          <a:ln/>
        </p:spPr>
        <p:txBody>
          <a:bodyPr wrap="square" lIns="0" tIns="0" rIns="0" bIns="0" rtlCol="0" anchor="ctr"/>
          <a:lstStyle/>
          <a:p>
            <a:pPr marL="0" indent="0">
              <a:buNone/>
            </a:pPr>
            <a:r>
              <a:rPr lang="en-US" sz="900" dirty="0">
                <a:solidFill>
                  <a:srgbClr val="667085"/>
                </a:solidFill>
                <a:latin typeface="Times New Roman" pitchFamily="34" charset="0"/>
                <a:ea typeface="Times New Roman" pitchFamily="34" charset="-122"/>
                <a:cs typeface="Times New Roman" pitchFamily="34" charset="-120"/>
              </a:rPr>
              <a:t>EE5003 MSc Project | Liu Chengyu</a:t>
            </a:r>
            <a:endParaRPr lang="en-US" sz="900" dirty="0"/>
          </a:p>
        </p:txBody>
      </p:sp>
      <p:sp>
        <p:nvSpPr>
          <p:cNvPr id="6" name="Text 4"/>
          <p:cNvSpPr/>
          <p:nvPr/>
        </p:nvSpPr>
        <p:spPr>
          <a:xfrm>
            <a:off x="5577840" y="4736592"/>
            <a:ext cx="3017520" cy="137160"/>
          </a:xfrm>
          <a:prstGeom prst="rect">
            <a:avLst/>
          </a:prstGeom>
          <a:noFill/>
          <a:ln/>
        </p:spPr>
        <p:txBody>
          <a:bodyPr wrap="square" lIns="0" tIns="0" rIns="0" bIns="0" rtlCol="0" anchor="ctr"/>
          <a:lstStyle/>
          <a:p>
            <a:pPr marL="0" indent="0" algn="r">
              <a:buNone/>
            </a:pPr>
            <a:r>
              <a:rPr lang="en-US" sz="900" dirty="0">
                <a:solidFill>
                  <a:srgbClr val="667085"/>
                </a:solidFill>
                <a:latin typeface="Times New Roman" pitchFamily="34" charset="0"/>
                <a:ea typeface="Times New Roman" pitchFamily="34" charset="-122"/>
                <a:cs typeface="Times New Roman" pitchFamily="34" charset="-120"/>
              </a:rPr>
              <a:t>Approximate Graph Unlearning Audit</a:t>
            </a:r>
            <a:endParaRPr lang="en-US" sz="900" dirty="0"/>
          </a:p>
        </p:txBody>
      </p:sp>
      <p:sp>
        <p:nvSpPr>
          <p:cNvPr id="7" name="Text 5"/>
          <p:cNvSpPr/>
          <p:nvPr/>
        </p:nvSpPr>
        <p:spPr>
          <a:xfrm>
            <a:off x="594360" y="768096"/>
            <a:ext cx="5486400" cy="530352"/>
          </a:xfrm>
          <a:prstGeom prst="rect">
            <a:avLst/>
          </a:prstGeom>
          <a:noFill/>
          <a:ln/>
        </p:spPr>
        <p:txBody>
          <a:bodyPr wrap="square" lIns="0" tIns="0" rIns="0" bIns="0" rtlCol="0" anchor="ctr">
            <a:normAutofit/>
          </a:bodyPr>
          <a:lstStyle/>
          <a:p>
            <a:pPr marL="0" indent="0">
              <a:buNone/>
            </a:pPr>
            <a:r>
              <a:rPr lang="en-US" sz="1720" b="1" dirty="0">
                <a:solidFill>
                  <a:srgbClr val="223A5E"/>
                </a:solidFill>
                <a:latin typeface="Times New Roman" pitchFamily="34" charset="0"/>
                <a:ea typeface="Times New Roman" pitchFamily="34" charset="-122"/>
                <a:cs typeface="Times New Roman" pitchFamily="34" charset="-120"/>
              </a:rPr>
              <a:t>Deletion requests are operationally plausible, and approximation turns them into a security question.</a:t>
            </a:r>
            <a:endParaRPr lang="en-US" sz="1720" dirty="0"/>
          </a:p>
        </p:txBody>
      </p:sp>
      <p:sp>
        <p:nvSpPr>
          <p:cNvPr id="8" name="Shape 6"/>
          <p:cNvSpPr/>
          <p:nvPr/>
        </p:nvSpPr>
        <p:spPr>
          <a:xfrm>
            <a:off x="594360" y="1353312"/>
            <a:ext cx="2468880" cy="2267712"/>
          </a:xfrm>
          <a:prstGeom prst="roundRect">
            <a:avLst>
              <a:gd name="adj" fmla="val 2016"/>
            </a:avLst>
          </a:prstGeom>
          <a:solidFill>
            <a:srgbClr val="FFFFFF"/>
          </a:solidFill>
          <a:ln w="13970">
            <a:solidFill>
              <a:srgbClr val="D9DEE7"/>
            </a:solidFill>
            <a:prstDash val="solid"/>
          </a:ln>
        </p:spPr>
        <p:txBody>
          <a:bodyPr/>
          <a:lstStyle/>
          <a:p>
            <a:endParaRPr lang="zh-CN" altLang="en-US"/>
          </a:p>
        </p:txBody>
      </p:sp>
      <p:sp>
        <p:nvSpPr>
          <p:cNvPr id="9" name="Text 7"/>
          <p:cNvSpPr/>
          <p:nvPr/>
        </p:nvSpPr>
        <p:spPr>
          <a:xfrm>
            <a:off x="731520" y="1463040"/>
            <a:ext cx="2194560" cy="420624"/>
          </a:xfrm>
          <a:prstGeom prst="rect">
            <a:avLst/>
          </a:prstGeom>
          <a:noFill/>
          <a:ln/>
        </p:spPr>
        <p:txBody>
          <a:bodyPr wrap="square" lIns="0" tIns="0" rIns="0" bIns="0" rtlCol="0" anchor="ctr">
            <a:normAutofit/>
          </a:bodyPr>
          <a:lstStyle/>
          <a:p>
            <a:pPr marL="0" indent="0">
              <a:buNone/>
            </a:pPr>
            <a:r>
              <a:rPr lang="en-US" sz="1580" b="1" dirty="0">
                <a:solidFill>
                  <a:srgbClr val="223A5E"/>
                </a:solidFill>
                <a:latin typeface="Times New Roman" pitchFamily="34" charset="0"/>
                <a:ea typeface="Times New Roman" pitchFamily="34" charset="-122"/>
                <a:cs typeface="Times New Roman" pitchFamily="34" charset="-120"/>
              </a:rPr>
              <a:t>Real deletion requests</a:t>
            </a:r>
            <a:endParaRPr lang="en-US" sz="1580" dirty="0"/>
          </a:p>
        </p:txBody>
      </p:sp>
      <p:sp>
        <p:nvSpPr>
          <p:cNvPr id="10" name="Text 8"/>
          <p:cNvSpPr/>
          <p:nvPr/>
        </p:nvSpPr>
        <p:spPr>
          <a:xfrm>
            <a:off x="731520" y="2377440"/>
            <a:ext cx="2194560" cy="1106424"/>
          </a:xfrm>
          <a:prstGeom prst="rect">
            <a:avLst/>
          </a:prstGeom>
          <a:noFill/>
          <a:ln/>
        </p:spPr>
        <p:txBody>
          <a:bodyPr wrap="square" lIns="0" tIns="0" rIns="0" bIns="0" rtlCol="0" anchor="ctr">
            <a:normAutofit/>
          </a:bodyPr>
          <a:lstStyle/>
          <a:p>
            <a:pPr marL="0" indent="0">
              <a:buNone/>
            </a:pPr>
            <a:r>
              <a:rPr lang="en-US" sz="1180" dirty="0">
                <a:solidFill>
                  <a:srgbClr val="1E2630"/>
                </a:solidFill>
                <a:latin typeface="Times New Roman" pitchFamily="34" charset="0"/>
                <a:ea typeface="Times New Roman" pitchFamily="34" charset="-122"/>
                <a:cs typeface="Times New Roman" pitchFamily="34" charset="-120"/>
              </a:rPr>
              <a:t>User-level or node-level removal is realistic in citation, social, and recommendation graphs.</a:t>
            </a:r>
            <a:endParaRPr lang="en-US" sz="1180" dirty="0"/>
          </a:p>
        </p:txBody>
      </p:sp>
      <p:sp>
        <p:nvSpPr>
          <p:cNvPr id="11" name="Shape 9"/>
          <p:cNvSpPr/>
          <p:nvPr/>
        </p:nvSpPr>
        <p:spPr>
          <a:xfrm>
            <a:off x="3337560" y="1353312"/>
            <a:ext cx="2468880" cy="2267712"/>
          </a:xfrm>
          <a:prstGeom prst="roundRect">
            <a:avLst>
              <a:gd name="adj" fmla="val 2016"/>
            </a:avLst>
          </a:prstGeom>
          <a:solidFill>
            <a:srgbClr val="FFFFFF"/>
          </a:solidFill>
          <a:ln w="13970">
            <a:solidFill>
              <a:srgbClr val="D9DEE7"/>
            </a:solidFill>
            <a:prstDash val="solid"/>
          </a:ln>
        </p:spPr>
        <p:txBody>
          <a:bodyPr/>
          <a:lstStyle/>
          <a:p>
            <a:endParaRPr lang="zh-CN" altLang="en-US"/>
          </a:p>
        </p:txBody>
      </p:sp>
      <p:sp>
        <p:nvSpPr>
          <p:cNvPr id="12" name="Text 10"/>
          <p:cNvSpPr/>
          <p:nvPr/>
        </p:nvSpPr>
        <p:spPr>
          <a:xfrm>
            <a:off x="3474720" y="1463040"/>
            <a:ext cx="2194560" cy="420624"/>
          </a:xfrm>
          <a:prstGeom prst="rect">
            <a:avLst/>
          </a:prstGeom>
          <a:noFill/>
          <a:ln/>
        </p:spPr>
        <p:txBody>
          <a:bodyPr wrap="square" lIns="0" tIns="0" rIns="0" bIns="0" rtlCol="0" anchor="ctr">
            <a:normAutofit fontScale="92500" lnSpcReduction="10000"/>
          </a:bodyPr>
          <a:lstStyle/>
          <a:p>
            <a:pPr marL="0" indent="0">
              <a:buNone/>
            </a:pPr>
            <a:r>
              <a:rPr lang="en-US" sz="1580" b="1" dirty="0">
                <a:solidFill>
                  <a:srgbClr val="223A5E"/>
                </a:solidFill>
                <a:latin typeface="Times New Roman" pitchFamily="34" charset="0"/>
                <a:ea typeface="Times New Roman" pitchFamily="34" charset="-122"/>
                <a:cs typeface="Times New Roman" pitchFamily="34" charset="-120"/>
              </a:rPr>
              <a:t>Approximate</a:t>
            </a:r>
            <a:endParaRPr lang="en-US" sz="1580" dirty="0"/>
          </a:p>
          <a:p>
            <a:pPr marL="0" indent="0">
              <a:buNone/>
            </a:pPr>
            <a:r>
              <a:rPr lang="en-US" sz="1580" b="1" dirty="0">
                <a:solidFill>
                  <a:srgbClr val="223A5E"/>
                </a:solidFill>
                <a:latin typeface="Times New Roman" pitchFamily="34" charset="0"/>
                <a:ea typeface="Times New Roman" pitchFamily="34" charset="-122"/>
                <a:cs typeface="Times New Roman" pitchFamily="34" charset="-120"/>
              </a:rPr>
              <a:t>unlearning</a:t>
            </a:r>
            <a:endParaRPr lang="en-US" sz="1580" dirty="0"/>
          </a:p>
        </p:txBody>
      </p:sp>
      <p:sp>
        <p:nvSpPr>
          <p:cNvPr id="13" name="Text 11"/>
          <p:cNvSpPr/>
          <p:nvPr/>
        </p:nvSpPr>
        <p:spPr>
          <a:xfrm>
            <a:off x="3474720" y="2377440"/>
            <a:ext cx="2194560" cy="1106424"/>
          </a:xfrm>
          <a:prstGeom prst="rect">
            <a:avLst/>
          </a:prstGeom>
          <a:noFill/>
          <a:ln/>
        </p:spPr>
        <p:txBody>
          <a:bodyPr wrap="square" lIns="0" tIns="0" rIns="0" bIns="0" rtlCol="0" anchor="ctr">
            <a:normAutofit/>
          </a:bodyPr>
          <a:lstStyle/>
          <a:p>
            <a:pPr marL="0" indent="0">
              <a:buNone/>
            </a:pPr>
            <a:r>
              <a:rPr lang="en-US" sz="1180" dirty="0">
                <a:solidFill>
                  <a:srgbClr val="1E2630"/>
                </a:solidFill>
                <a:latin typeface="Times New Roman" pitchFamily="34" charset="0"/>
                <a:ea typeface="Times New Roman" pitchFamily="34" charset="-122"/>
                <a:cs typeface="Times New Roman" pitchFamily="34" charset="-120"/>
              </a:rPr>
              <a:t>Exact retraining is expensive, so practical systems use approximation.</a:t>
            </a:r>
            <a:endParaRPr lang="en-US" sz="1180" dirty="0"/>
          </a:p>
        </p:txBody>
      </p:sp>
      <p:sp>
        <p:nvSpPr>
          <p:cNvPr id="14" name="Shape 12"/>
          <p:cNvSpPr/>
          <p:nvPr/>
        </p:nvSpPr>
        <p:spPr>
          <a:xfrm>
            <a:off x="6080760" y="1353312"/>
            <a:ext cx="2468880" cy="2267712"/>
          </a:xfrm>
          <a:prstGeom prst="roundRect">
            <a:avLst>
              <a:gd name="adj" fmla="val 2016"/>
            </a:avLst>
          </a:prstGeom>
          <a:solidFill>
            <a:srgbClr val="FFFFFF"/>
          </a:solidFill>
          <a:ln w="13970">
            <a:solidFill>
              <a:srgbClr val="D9DEE7"/>
            </a:solidFill>
            <a:prstDash val="solid"/>
          </a:ln>
        </p:spPr>
        <p:txBody>
          <a:bodyPr/>
          <a:lstStyle/>
          <a:p>
            <a:endParaRPr lang="zh-CN" altLang="en-US"/>
          </a:p>
        </p:txBody>
      </p:sp>
      <p:sp>
        <p:nvSpPr>
          <p:cNvPr id="15" name="Text 13"/>
          <p:cNvSpPr/>
          <p:nvPr/>
        </p:nvSpPr>
        <p:spPr>
          <a:xfrm>
            <a:off x="6217920" y="1463040"/>
            <a:ext cx="2194560" cy="420624"/>
          </a:xfrm>
          <a:prstGeom prst="rect">
            <a:avLst/>
          </a:prstGeom>
          <a:noFill/>
          <a:ln/>
        </p:spPr>
        <p:txBody>
          <a:bodyPr wrap="square" lIns="0" tIns="0" rIns="0" bIns="0" rtlCol="0" anchor="ctr">
            <a:normAutofit/>
          </a:bodyPr>
          <a:lstStyle/>
          <a:p>
            <a:pPr marL="0" indent="0">
              <a:buNone/>
            </a:pPr>
            <a:r>
              <a:rPr lang="en-US" sz="1580" b="1" dirty="0">
                <a:solidFill>
                  <a:srgbClr val="223A5E"/>
                </a:solidFill>
                <a:latin typeface="Times New Roman" pitchFamily="34" charset="0"/>
                <a:ea typeface="Times New Roman" pitchFamily="34" charset="-122"/>
                <a:cs typeface="Times New Roman" pitchFamily="34" charset="-120"/>
              </a:rPr>
              <a:t>Attack surface</a:t>
            </a:r>
            <a:endParaRPr lang="en-US" sz="1580" dirty="0"/>
          </a:p>
        </p:txBody>
      </p:sp>
      <p:sp>
        <p:nvSpPr>
          <p:cNvPr id="16" name="Text 14"/>
          <p:cNvSpPr/>
          <p:nvPr/>
        </p:nvSpPr>
        <p:spPr>
          <a:xfrm>
            <a:off x="6217920" y="2377440"/>
            <a:ext cx="2194560" cy="1106424"/>
          </a:xfrm>
          <a:prstGeom prst="rect">
            <a:avLst/>
          </a:prstGeom>
          <a:noFill/>
          <a:ln/>
        </p:spPr>
        <p:txBody>
          <a:bodyPr wrap="square" lIns="0" tIns="0" rIns="0" bIns="0" rtlCol="0" anchor="ctr">
            <a:normAutofit/>
          </a:bodyPr>
          <a:lstStyle/>
          <a:p>
            <a:pPr marL="0" indent="0">
              <a:buNone/>
            </a:pPr>
            <a:r>
              <a:rPr lang="en-US" sz="1180" dirty="0">
                <a:solidFill>
                  <a:srgbClr val="1E2630"/>
                </a:solidFill>
                <a:latin typeface="Times New Roman" pitchFamily="34" charset="0"/>
                <a:ea typeface="Times New Roman" pitchFamily="34" charset="-122"/>
                <a:cs typeface="Times New Roman" pitchFamily="34" charset="-120"/>
              </a:rPr>
              <a:t>A malicious requester may exploit the deletion interface itself by choosing harmful targets.</a:t>
            </a:r>
            <a:endParaRPr lang="en-US" sz="1180" dirty="0"/>
          </a:p>
        </p:txBody>
      </p:sp>
      <p:sp>
        <p:nvSpPr>
          <p:cNvPr id="17" name="Shape 15"/>
          <p:cNvSpPr/>
          <p:nvPr/>
        </p:nvSpPr>
        <p:spPr>
          <a:xfrm>
            <a:off x="6565392" y="3822192"/>
            <a:ext cx="1938528" cy="749808"/>
          </a:xfrm>
          <a:prstGeom prst="roundRect">
            <a:avLst>
              <a:gd name="adj" fmla="val 6098"/>
            </a:avLst>
          </a:prstGeom>
          <a:solidFill>
            <a:srgbClr val="A6404B"/>
          </a:solidFill>
          <a:ln w="12700">
            <a:solidFill>
              <a:srgbClr val="A6404B">
                <a:alpha val="0"/>
              </a:srgbClr>
            </a:solidFill>
            <a:prstDash val="solid"/>
          </a:ln>
        </p:spPr>
        <p:txBody>
          <a:bodyPr/>
          <a:lstStyle/>
          <a:p>
            <a:endParaRPr lang="zh-CN" altLang="en-US"/>
          </a:p>
        </p:txBody>
      </p:sp>
      <p:sp>
        <p:nvSpPr>
          <p:cNvPr id="18" name="Text 16"/>
          <p:cNvSpPr/>
          <p:nvPr/>
        </p:nvSpPr>
        <p:spPr>
          <a:xfrm>
            <a:off x="6638544" y="3931920"/>
            <a:ext cx="1792224" cy="201168"/>
          </a:xfrm>
          <a:prstGeom prst="rect">
            <a:avLst/>
          </a:prstGeom>
          <a:noFill/>
          <a:ln/>
        </p:spPr>
        <p:txBody>
          <a:bodyPr wrap="square" lIns="0" tIns="0" rIns="0" bIns="0" rtlCol="0" anchor="ctr"/>
          <a:lstStyle/>
          <a:p>
            <a:pPr marL="0" indent="0" algn="ctr">
              <a:buNone/>
            </a:pPr>
            <a:r>
              <a:rPr lang="en-US" sz="1900" b="1" dirty="0">
                <a:solidFill>
                  <a:srgbClr val="FFFFFF"/>
                </a:solidFill>
                <a:latin typeface="Times New Roman" pitchFamily="34" charset="0"/>
                <a:ea typeface="Times New Roman" pitchFamily="34" charset="-122"/>
                <a:cs typeface="Times New Roman" pitchFamily="34" charset="-120"/>
              </a:rPr>
              <a:t>Delete</a:t>
            </a:r>
            <a:endParaRPr lang="en-US" sz="1900" dirty="0"/>
          </a:p>
        </p:txBody>
      </p:sp>
      <p:sp>
        <p:nvSpPr>
          <p:cNvPr id="19" name="Text 17"/>
          <p:cNvSpPr/>
          <p:nvPr/>
        </p:nvSpPr>
        <p:spPr>
          <a:xfrm>
            <a:off x="6638544" y="4206240"/>
            <a:ext cx="1792224" cy="320040"/>
          </a:xfrm>
          <a:prstGeom prst="rect">
            <a:avLst/>
          </a:prstGeom>
          <a:noFill/>
          <a:ln/>
        </p:spPr>
        <p:txBody>
          <a:bodyPr wrap="square" lIns="0" tIns="0" rIns="0" bIns="0" rtlCol="0" anchor="ctr">
            <a:normAutofit/>
          </a:bodyPr>
          <a:lstStyle/>
          <a:p>
            <a:pPr marL="0" indent="0" algn="ctr">
              <a:buNone/>
            </a:pPr>
            <a:r>
              <a:rPr lang="en-US" sz="1000" dirty="0">
                <a:solidFill>
                  <a:srgbClr val="F7F5F1"/>
                </a:solidFill>
                <a:latin typeface="Times New Roman" pitchFamily="34" charset="0"/>
                <a:ea typeface="Times New Roman" pitchFamily="34" charset="-122"/>
                <a:cs typeface="Times New Roman" pitchFamily="34" charset="-120"/>
              </a:rPr>
              <a:t>Compliance tool and attack interface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223A5E"/>
          </a:solidFill>
          <a:ln w="12700">
            <a:solidFill>
              <a:srgbClr val="223A5E">
                <a:alpha val="0"/>
              </a:srgbClr>
            </a:solidFill>
            <a:prstDash val="solid"/>
          </a:ln>
        </p:spPr>
        <p:txBody>
          <a:bodyPr/>
          <a:lstStyle/>
          <a:p>
            <a:endParaRPr lang="zh-CN" altLang="en-US"/>
          </a:p>
        </p:txBody>
      </p:sp>
      <p:sp>
        <p:nvSpPr>
          <p:cNvPr id="3" name="Text 1"/>
          <p:cNvSpPr/>
          <p:nvPr/>
        </p:nvSpPr>
        <p:spPr>
          <a:xfrm>
            <a:off x="502920" y="100584"/>
            <a:ext cx="6583680" cy="219456"/>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Research Question And Objectives</a:t>
            </a:r>
            <a:endParaRPr lang="en-US" sz="2400" dirty="0"/>
          </a:p>
        </p:txBody>
      </p:sp>
      <p:sp>
        <p:nvSpPr>
          <p:cNvPr id="4" name="Text 2"/>
          <p:cNvSpPr/>
          <p:nvPr/>
        </p:nvSpPr>
        <p:spPr>
          <a:xfrm>
            <a:off x="7955280" y="118872"/>
            <a:ext cx="640080" cy="137160"/>
          </a:xfrm>
          <a:prstGeom prst="rect">
            <a:avLst/>
          </a:prstGeom>
          <a:noFill/>
          <a:ln/>
        </p:spPr>
        <p:txBody>
          <a:bodyPr wrap="square" lIns="0" tIns="0" rIns="0" bIns="0" rtlCol="0" anchor="ctr"/>
          <a:lstStyle/>
          <a:p>
            <a:pPr marL="0" indent="0" algn="r">
              <a:buNone/>
            </a:pPr>
            <a:r>
              <a:rPr lang="en-US" sz="1000" dirty="0">
                <a:solidFill>
                  <a:srgbClr val="F7F5F1"/>
                </a:solidFill>
                <a:latin typeface="Times New Roman" pitchFamily="34" charset="0"/>
                <a:ea typeface="Times New Roman" pitchFamily="34" charset="-122"/>
                <a:cs typeface="Times New Roman" pitchFamily="34" charset="-120"/>
              </a:rPr>
              <a:t>03 / 15</a:t>
            </a:r>
            <a:endParaRPr lang="en-US" sz="1000" dirty="0"/>
          </a:p>
        </p:txBody>
      </p:sp>
      <p:sp>
        <p:nvSpPr>
          <p:cNvPr id="5" name="Text 3"/>
          <p:cNvSpPr/>
          <p:nvPr/>
        </p:nvSpPr>
        <p:spPr>
          <a:xfrm>
            <a:off x="502920" y="4736592"/>
            <a:ext cx="2743200" cy="137160"/>
          </a:xfrm>
          <a:prstGeom prst="rect">
            <a:avLst/>
          </a:prstGeom>
          <a:noFill/>
          <a:ln/>
        </p:spPr>
        <p:txBody>
          <a:bodyPr wrap="square" lIns="0" tIns="0" rIns="0" bIns="0" rtlCol="0" anchor="ctr"/>
          <a:lstStyle/>
          <a:p>
            <a:pPr marL="0" indent="0">
              <a:buNone/>
            </a:pPr>
            <a:r>
              <a:rPr lang="en-US" sz="900" dirty="0">
                <a:solidFill>
                  <a:srgbClr val="667085"/>
                </a:solidFill>
                <a:latin typeface="Times New Roman" pitchFamily="34" charset="0"/>
                <a:ea typeface="Times New Roman" pitchFamily="34" charset="-122"/>
                <a:cs typeface="Times New Roman" pitchFamily="34" charset="-120"/>
              </a:rPr>
              <a:t>EE5003 MSc Project | Liu Chengyu</a:t>
            </a:r>
            <a:endParaRPr lang="en-US" sz="900" dirty="0"/>
          </a:p>
        </p:txBody>
      </p:sp>
      <p:sp>
        <p:nvSpPr>
          <p:cNvPr id="6" name="Text 4"/>
          <p:cNvSpPr/>
          <p:nvPr/>
        </p:nvSpPr>
        <p:spPr>
          <a:xfrm>
            <a:off x="5577840" y="4736592"/>
            <a:ext cx="3017520" cy="137160"/>
          </a:xfrm>
          <a:prstGeom prst="rect">
            <a:avLst/>
          </a:prstGeom>
          <a:noFill/>
          <a:ln/>
        </p:spPr>
        <p:txBody>
          <a:bodyPr wrap="square" lIns="0" tIns="0" rIns="0" bIns="0" rtlCol="0" anchor="ctr"/>
          <a:lstStyle/>
          <a:p>
            <a:pPr marL="0" indent="0" algn="r">
              <a:buNone/>
            </a:pPr>
            <a:r>
              <a:rPr lang="en-US" sz="900" dirty="0">
                <a:solidFill>
                  <a:srgbClr val="667085"/>
                </a:solidFill>
                <a:latin typeface="Times New Roman" pitchFamily="34" charset="0"/>
                <a:ea typeface="Times New Roman" pitchFamily="34" charset="-122"/>
                <a:cs typeface="Times New Roman" pitchFamily="34" charset="-120"/>
              </a:rPr>
              <a:t>Approximate Graph Unlearning Audit</a:t>
            </a:r>
            <a:endParaRPr lang="en-US" sz="900" dirty="0"/>
          </a:p>
        </p:txBody>
      </p:sp>
      <p:sp>
        <p:nvSpPr>
          <p:cNvPr id="7" name="Shape 5"/>
          <p:cNvSpPr/>
          <p:nvPr/>
        </p:nvSpPr>
        <p:spPr>
          <a:xfrm>
            <a:off x="640080" y="914400"/>
            <a:ext cx="7863840" cy="868680"/>
          </a:xfrm>
          <a:prstGeom prst="roundRect">
            <a:avLst>
              <a:gd name="adj" fmla="val 5263"/>
            </a:avLst>
          </a:prstGeom>
          <a:solidFill>
            <a:srgbClr val="223A5E"/>
          </a:solidFill>
          <a:ln w="13970">
            <a:solidFill>
              <a:srgbClr val="223A5E"/>
            </a:solidFill>
            <a:prstDash val="solid"/>
          </a:ln>
        </p:spPr>
        <p:txBody>
          <a:bodyPr/>
          <a:lstStyle/>
          <a:p>
            <a:endParaRPr lang="zh-CN" altLang="en-US"/>
          </a:p>
        </p:txBody>
      </p:sp>
      <p:sp>
        <p:nvSpPr>
          <p:cNvPr id="8" name="Text 6"/>
          <p:cNvSpPr/>
          <p:nvPr/>
        </p:nvSpPr>
        <p:spPr>
          <a:xfrm>
            <a:off x="777240" y="1078992"/>
            <a:ext cx="7589520" cy="182880"/>
          </a:xfrm>
          <a:prstGeom prst="rect">
            <a:avLst/>
          </a:prstGeom>
          <a:noFill/>
          <a:ln/>
        </p:spPr>
        <p:txBody>
          <a:bodyPr wrap="square" lIns="0" tIns="0" rIns="0" bIns="0" rtlCol="0" anchor="ctr"/>
          <a:lstStyle/>
          <a:p>
            <a:pPr marL="0" indent="0">
              <a:buNone/>
            </a:pPr>
            <a:r>
              <a:rPr lang="en-US" sz="1700" b="1" dirty="0">
                <a:solidFill>
                  <a:srgbClr val="F7F5F1"/>
                </a:solidFill>
                <a:latin typeface="Times New Roman" pitchFamily="34" charset="0"/>
                <a:ea typeface="Times New Roman" pitchFamily="34" charset="-122"/>
                <a:cs typeface="Times New Roman" pitchFamily="34" charset="-120"/>
              </a:rPr>
              <a:t>Research question</a:t>
            </a:r>
            <a:endParaRPr lang="en-US" sz="1700" dirty="0"/>
          </a:p>
        </p:txBody>
      </p:sp>
      <p:sp>
        <p:nvSpPr>
          <p:cNvPr id="9" name="Text 7"/>
          <p:cNvSpPr/>
          <p:nvPr/>
        </p:nvSpPr>
        <p:spPr>
          <a:xfrm>
            <a:off x="777240" y="1325880"/>
            <a:ext cx="7589520" cy="365760"/>
          </a:xfrm>
          <a:prstGeom prst="rect">
            <a:avLst/>
          </a:prstGeom>
          <a:noFill/>
          <a:ln/>
        </p:spPr>
        <p:txBody>
          <a:bodyPr wrap="square" lIns="0" tIns="0" rIns="0" bIns="0" rtlCol="0" anchor="ctr">
            <a:normAutofit lnSpcReduction="10000"/>
          </a:bodyPr>
          <a:lstStyle/>
          <a:p>
            <a:pPr marL="0" indent="0">
              <a:buNone/>
            </a:pPr>
            <a:r>
              <a:rPr lang="en-US" sz="1220" dirty="0">
                <a:solidFill>
                  <a:srgbClr val="FFFFFF"/>
                </a:solidFill>
                <a:latin typeface="Times New Roman" pitchFamily="34" charset="0"/>
                <a:ea typeface="Times New Roman" pitchFamily="34" charset="-122"/>
                <a:cs typeface="Times New Roman" pitchFamily="34" charset="-120"/>
              </a:rPr>
              <a:t>Can malicious deletion requests amplify approximation error and degrade retained-model utility beyond ordinary deletion at the same budget?</a:t>
            </a:r>
            <a:endParaRPr lang="en-US" sz="1220" dirty="0"/>
          </a:p>
        </p:txBody>
      </p:sp>
      <p:sp>
        <p:nvSpPr>
          <p:cNvPr id="10" name="Shape 8"/>
          <p:cNvSpPr/>
          <p:nvPr/>
        </p:nvSpPr>
        <p:spPr>
          <a:xfrm>
            <a:off x="777240" y="2148840"/>
            <a:ext cx="3611880" cy="896112"/>
          </a:xfrm>
          <a:prstGeom prst="roundRect">
            <a:avLst>
              <a:gd name="adj" fmla="val 5102"/>
            </a:avLst>
          </a:prstGeom>
          <a:solidFill>
            <a:srgbClr val="E8EEF5"/>
          </a:solidFill>
          <a:ln w="13970">
            <a:solidFill>
              <a:srgbClr val="E8EEF5"/>
            </a:solidFill>
            <a:prstDash val="solid"/>
          </a:ln>
        </p:spPr>
        <p:txBody>
          <a:bodyPr/>
          <a:lstStyle/>
          <a:p>
            <a:endParaRPr lang="zh-CN" altLang="en-US"/>
          </a:p>
        </p:txBody>
      </p:sp>
      <p:sp>
        <p:nvSpPr>
          <p:cNvPr id="11" name="Text 9"/>
          <p:cNvSpPr/>
          <p:nvPr/>
        </p:nvSpPr>
        <p:spPr>
          <a:xfrm>
            <a:off x="914400" y="2313432"/>
            <a:ext cx="333756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Objective 1</a:t>
            </a:r>
            <a:endParaRPr lang="en-US" sz="1700" dirty="0"/>
          </a:p>
        </p:txBody>
      </p:sp>
      <p:sp>
        <p:nvSpPr>
          <p:cNvPr id="12" name="Text 10"/>
          <p:cNvSpPr/>
          <p:nvPr/>
        </p:nvSpPr>
        <p:spPr>
          <a:xfrm>
            <a:off x="914400" y="2560320"/>
            <a:ext cx="3337560" cy="393192"/>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Build an attack pipeline with multiple deletion strategies.</a:t>
            </a:r>
            <a:endParaRPr lang="en-US" sz="1220" dirty="0"/>
          </a:p>
        </p:txBody>
      </p:sp>
      <p:sp>
        <p:nvSpPr>
          <p:cNvPr id="13" name="Shape 11"/>
          <p:cNvSpPr/>
          <p:nvPr/>
        </p:nvSpPr>
        <p:spPr>
          <a:xfrm>
            <a:off x="4663440" y="2148840"/>
            <a:ext cx="3611880" cy="896112"/>
          </a:xfrm>
          <a:prstGeom prst="roundRect">
            <a:avLst>
              <a:gd name="adj" fmla="val 5102"/>
            </a:avLst>
          </a:prstGeom>
          <a:solidFill>
            <a:srgbClr val="FFFFFF"/>
          </a:solidFill>
          <a:ln w="13970">
            <a:solidFill>
              <a:srgbClr val="D9DEE7"/>
            </a:solidFill>
            <a:prstDash val="solid"/>
          </a:ln>
        </p:spPr>
        <p:txBody>
          <a:bodyPr/>
          <a:lstStyle/>
          <a:p>
            <a:endParaRPr lang="zh-CN" altLang="en-US"/>
          </a:p>
        </p:txBody>
      </p:sp>
      <p:sp>
        <p:nvSpPr>
          <p:cNvPr id="14" name="Text 12"/>
          <p:cNvSpPr/>
          <p:nvPr/>
        </p:nvSpPr>
        <p:spPr>
          <a:xfrm>
            <a:off x="4800600" y="2313432"/>
            <a:ext cx="333756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Objective 2</a:t>
            </a:r>
            <a:endParaRPr lang="en-US" sz="1700" dirty="0"/>
          </a:p>
        </p:txBody>
      </p:sp>
      <p:sp>
        <p:nvSpPr>
          <p:cNvPr id="15" name="Text 13"/>
          <p:cNvSpPr/>
          <p:nvPr/>
        </p:nvSpPr>
        <p:spPr>
          <a:xfrm>
            <a:off x="4800600" y="2560320"/>
            <a:ext cx="3337560" cy="393192"/>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Compare vulnerability across method families, not just one algorithm.</a:t>
            </a:r>
            <a:endParaRPr lang="en-US" sz="1220" dirty="0"/>
          </a:p>
        </p:txBody>
      </p:sp>
      <p:sp>
        <p:nvSpPr>
          <p:cNvPr id="16" name="Shape 14"/>
          <p:cNvSpPr/>
          <p:nvPr/>
        </p:nvSpPr>
        <p:spPr>
          <a:xfrm>
            <a:off x="777240" y="3291840"/>
            <a:ext cx="3611880" cy="896112"/>
          </a:xfrm>
          <a:prstGeom prst="roundRect">
            <a:avLst>
              <a:gd name="adj" fmla="val 5102"/>
            </a:avLst>
          </a:prstGeom>
          <a:solidFill>
            <a:srgbClr val="FFFFFF"/>
          </a:solidFill>
          <a:ln w="13970">
            <a:solidFill>
              <a:srgbClr val="D9DEE7"/>
            </a:solidFill>
            <a:prstDash val="solid"/>
          </a:ln>
        </p:spPr>
        <p:txBody>
          <a:bodyPr/>
          <a:lstStyle/>
          <a:p>
            <a:endParaRPr lang="zh-CN" altLang="en-US"/>
          </a:p>
        </p:txBody>
      </p:sp>
      <p:sp>
        <p:nvSpPr>
          <p:cNvPr id="17" name="Text 15"/>
          <p:cNvSpPr/>
          <p:nvPr/>
        </p:nvSpPr>
        <p:spPr>
          <a:xfrm>
            <a:off x="914400" y="3456432"/>
            <a:ext cx="333756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Objective 3</a:t>
            </a:r>
            <a:endParaRPr lang="en-US" sz="1700" dirty="0"/>
          </a:p>
        </p:txBody>
      </p:sp>
      <p:sp>
        <p:nvSpPr>
          <p:cNvPr id="18" name="Text 16"/>
          <p:cNvSpPr/>
          <p:nvPr/>
        </p:nvSpPr>
        <p:spPr>
          <a:xfrm>
            <a:off x="914400" y="3703320"/>
            <a:ext cx="3337560" cy="393192"/>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Add attribution metrics for collateral and retrain gap.</a:t>
            </a:r>
            <a:endParaRPr lang="en-US" sz="1220" dirty="0"/>
          </a:p>
        </p:txBody>
      </p:sp>
      <p:sp>
        <p:nvSpPr>
          <p:cNvPr id="19" name="Shape 17"/>
          <p:cNvSpPr/>
          <p:nvPr/>
        </p:nvSpPr>
        <p:spPr>
          <a:xfrm>
            <a:off x="4663440" y="3291840"/>
            <a:ext cx="3611880" cy="896112"/>
          </a:xfrm>
          <a:prstGeom prst="roundRect">
            <a:avLst>
              <a:gd name="adj" fmla="val 5102"/>
            </a:avLst>
          </a:prstGeom>
          <a:solidFill>
            <a:srgbClr val="FFFFFF"/>
          </a:solidFill>
          <a:ln w="13970">
            <a:solidFill>
              <a:srgbClr val="D9DEE7"/>
            </a:solidFill>
            <a:prstDash val="solid"/>
          </a:ln>
        </p:spPr>
        <p:txBody>
          <a:bodyPr/>
          <a:lstStyle/>
          <a:p>
            <a:endParaRPr lang="zh-CN" altLang="en-US"/>
          </a:p>
        </p:txBody>
      </p:sp>
      <p:sp>
        <p:nvSpPr>
          <p:cNvPr id="20" name="Text 18"/>
          <p:cNvSpPr/>
          <p:nvPr/>
        </p:nvSpPr>
        <p:spPr>
          <a:xfrm>
            <a:off x="4800600" y="3456432"/>
            <a:ext cx="333756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Objective 4</a:t>
            </a:r>
            <a:endParaRPr lang="en-US" sz="1700" dirty="0"/>
          </a:p>
        </p:txBody>
      </p:sp>
      <p:sp>
        <p:nvSpPr>
          <p:cNvPr id="21" name="Text 19"/>
          <p:cNvSpPr/>
          <p:nvPr/>
        </p:nvSpPr>
        <p:spPr>
          <a:xfrm>
            <a:off x="4800600" y="3703320"/>
            <a:ext cx="3337560" cy="393192"/>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Measure whether adversarial node selection is practically efficient.</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223A5E"/>
          </a:solidFill>
          <a:ln w="12700">
            <a:solidFill>
              <a:srgbClr val="223A5E">
                <a:alpha val="0"/>
              </a:srgbClr>
            </a:solidFill>
            <a:prstDash val="solid"/>
          </a:ln>
        </p:spPr>
        <p:txBody>
          <a:bodyPr/>
          <a:lstStyle/>
          <a:p>
            <a:endParaRPr lang="zh-CN" altLang="en-US"/>
          </a:p>
        </p:txBody>
      </p:sp>
      <p:sp>
        <p:nvSpPr>
          <p:cNvPr id="3" name="Text 1"/>
          <p:cNvSpPr/>
          <p:nvPr/>
        </p:nvSpPr>
        <p:spPr>
          <a:xfrm>
            <a:off x="502920" y="100584"/>
            <a:ext cx="6583680" cy="219456"/>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Method Families And Threat Model</a:t>
            </a:r>
            <a:endParaRPr lang="en-US" sz="2400" dirty="0"/>
          </a:p>
        </p:txBody>
      </p:sp>
      <p:sp>
        <p:nvSpPr>
          <p:cNvPr id="4" name="Text 2"/>
          <p:cNvSpPr/>
          <p:nvPr/>
        </p:nvSpPr>
        <p:spPr>
          <a:xfrm>
            <a:off x="7955280" y="118872"/>
            <a:ext cx="640080" cy="137160"/>
          </a:xfrm>
          <a:prstGeom prst="rect">
            <a:avLst/>
          </a:prstGeom>
          <a:noFill/>
          <a:ln/>
        </p:spPr>
        <p:txBody>
          <a:bodyPr wrap="square" lIns="0" tIns="0" rIns="0" bIns="0" rtlCol="0" anchor="ctr"/>
          <a:lstStyle/>
          <a:p>
            <a:pPr marL="0" indent="0" algn="r">
              <a:buNone/>
            </a:pPr>
            <a:r>
              <a:rPr lang="en-US" sz="1000" dirty="0">
                <a:solidFill>
                  <a:srgbClr val="F7F5F1"/>
                </a:solidFill>
                <a:latin typeface="Times New Roman" pitchFamily="34" charset="0"/>
                <a:ea typeface="Times New Roman" pitchFamily="34" charset="-122"/>
                <a:cs typeface="Times New Roman" pitchFamily="34" charset="-120"/>
              </a:rPr>
              <a:t>04 / 15</a:t>
            </a:r>
            <a:endParaRPr lang="en-US" sz="1000" dirty="0"/>
          </a:p>
        </p:txBody>
      </p:sp>
      <p:sp>
        <p:nvSpPr>
          <p:cNvPr id="5" name="Text 3"/>
          <p:cNvSpPr/>
          <p:nvPr/>
        </p:nvSpPr>
        <p:spPr>
          <a:xfrm>
            <a:off x="502920" y="4736592"/>
            <a:ext cx="2743200" cy="137160"/>
          </a:xfrm>
          <a:prstGeom prst="rect">
            <a:avLst/>
          </a:prstGeom>
          <a:noFill/>
          <a:ln/>
        </p:spPr>
        <p:txBody>
          <a:bodyPr wrap="square" lIns="0" tIns="0" rIns="0" bIns="0" rtlCol="0" anchor="ctr"/>
          <a:lstStyle/>
          <a:p>
            <a:pPr marL="0" indent="0">
              <a:buNone/>
            </a:pPr>
            <a:r>
              <a:rPr lang="en-US" sz="900" dirty="0">
                <a:solidFill>
                  <a:srgbClr val="667085"/>
                </a:solidFill>
                <a:latin typeface="Times New Roman" pitchFamily="34" charset="0"/>
                <a:ea typeface="Times New Roman" pitchFamily="34" charset="-122"/>
                <a:cs typeface="Times New Roman" pitchFamily="34" charset="-120"/>
              </a:rPr>
              <a:t>EE5003 MSc Project | Liu Chengyu</a:t>
            </a:r>
            <a:endParaRPr lang="en-US" sz="900" dirty="0"/>
          </a:p>
        </p:txBody>
      </p:sp>
      <p:sp>
        <p:nvSpPr>
          <p:cNvPr id="6" name="Text 4"/>
          <p:cNvSpPr/>
          <p:nvPr/>
        </p:nvSpPr>
        <p:spPr>
          <a:xfrm>
            <a:off x="5577840" y="4736592"/>
            <a:ext cx="3017520" cy="137160"/>
          </a:xfrm>
          <a:prstGeom prst="rect">
            <a:avLst/>
          </a:prstGeom>
          <a:noFill/>
          <a:ln/>
        </p:spPr>
        <p:txBody>
          <a:bodyPr wrap="square" lIns="0" tIns="0" rIns="0" bIns="0" rtlCol="0" anchor="ctr"/>
          <a:lstStyle/>
          <a:p>
            <a:pPr marL="0" indent="0" algn="r">
              <a:buNone/>
            </a:pPr>
            <a:r>
              <a:rPr lang="en-US" sz="900" dirty="0">
                <a:solidFill>
                  <a:srgbClr val="667085"/>
                </a:solidFill>
                <a:latin typeface="Times New Roman" pitchFamily="34" charset="0"/>
                <a:ea typeface="Times New Roman" pitchFamily="34" charset="-122"/>
                <a:cs typeface="Times New Roman" pitchFamily="34" charset="-120"/>
              </a:rPr>
              <a:t>Approximate Graph Unlearning Audit</a:t>
            </a:r>
            <a:endParaRPr lang="en-US" sz="900" dirty="0"/>
          </a:p>
        </p:txBody>
      </p:sp>
      <p:sp>
        <p:nvSpPr>
          <p:cNvPr id="7" name="Text 5"/>
          <p:cNvSpPr/>
          <p:nvPr/>
        </p:nvSpPr>
        <p:spPr>
          <a:xfrm>
            <a:off x="640080" y="749808"/>
            <a:ext cx="2194560" cy="182880"/>
          </a:xfrm>
          <a:prstGeom prst="rect">
            <a:avLst/>
          </a:prstGeom>
          <a:noFill/>
          <a:ln/>
        </p:spPr>
        <p:txBody>
          <a:bodyPr wrap="square" lIns="0" tIns="0" rIns="0" bIns="0" rtlCol="0" anchor="ctr"/>
          <a:lstStyle/>
          <a:p>
            <a:pPr marL="0" indent="0">
              <a:buNone/>
            </a:pPr>
            <a:r>
              <a:rPr lang="en-US" sz="1900" b="1" dirty="0">
                <a:solidFill>
                  <a:srgbClr val="223A5E"/>
                </a:solidFill>
                <a:latin typeface="Times New Roman" pitchFamily="34" charset="0"/>
                <a:ea typeface="Times New Roman" pitchFamily="34" charset="-122"/>
                <a:cs typeface="Times New Roman" pitchFamily="34" charset="-120"/>
              </a:rPr>
              <a:t>Families under test</a:t>
            </a:r>
            <a:endParaRPr lang="en-US" sz="1900" dirty="0"/>
          </a:p>
        </p:txBody>
      </p:sp>
      <p:sp>
        <p:nvSpPr>
          <p:cNvPr id="8" name="Shape 6"/>
          <p:cNvSpPr/>
          <p:nvPr/>
        </p:nvSpPr>
        <p:spPr>
          <a:xfrm>
            <a:off x="658368" y="1051560"/>
            <a:ext cx="2880360" cy="960120"/>
          </a:xfrm>
          <a:prstGeom prst="roundRect">
            <a:avLst>
              <a:gd name="adj" fmla="val 4762"/>
            </a:avLst>
          </a:prstGeom>
          <a:solidFill>
            <a:srgbClr val="FFFFFF"/>
          </a:solidFill>
          <a:ln w="13970">
            <a:solidFill>
              <a:srgbClr val="D9DEE7"/>
            </a:solidFill>
            <a:prstDash val="solid"/>
          </a:ln>
        </p:spPr>
        <p:txBody>
          <a:bodyPr/>
          <a:lstStyle/>
          <a:p>
            <a:endParaRPr lang="zh-CN" altLang="en-US"/>
          </a:p>
        </p:txBody>
      </p:sp>
      <p:sp>
        <p:nvSpPr>
          <p:cNvPr id="9" name="Text 7"/>
          <p:cNvSpPr/>
          <p:nvPr/>
        </p:nvSpPr>
        <p:spPr>
          <a:xfrm>
            <a:off x="795528" y="1216152"/>
            <a:ext cx="260604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Learning-based</a:t>
            </a:r>
            <a:endParaRPr lang="en-US" sz="1700" dirty="0"/>
          </a:p>
        </p:txBody>
      </p:sp>
      <p:sp>
        <p:nvSpPr>
          <p:cNvPr id="10" name="Text 8"/>
          <p:cNvSpPr/>
          <p:nvPr/>
        </p:nvSpPr>
        <p:spPr>
          <a:xfrm>
            <a:off x="795528" y="1463040"/>
            <a:ext cx="2606040" cy="457200"/>
          </a:xfrm>
          <a:prstGeom prst="rect">
            <a:avLst/>
          </a:prstGeom>
          <a:noFill/>
          <a:ln/>
        </p:spPr>
        <p:txBody>
          <a:bodyPr wrap="square" lIns="0" tIns="0" rIns="0" bIns="0" rtlCol="0" anchor="ctr">
            <a:normAutofit fontScale="92500"/>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Learn a direct unlearning correction; GNNDelete is the fragile representative here.</a:t>
            </a:r>
            <a:endParaRPr lang="en-US" sz="1220" dirty="0"/>
          </a:p>
        </p:txBody>
      </p:sp>
      <p:sp>
        <p:nvSpPr>
          <p:cNvPr id="11" name="Shape 9"/>
          <p:cNvSpPr/>
          <p:nvPr/>
        </p:nvSpPr>
        <p:spPr>
          <a:xfrm>
            <a:off x="658368" y="2148840"/>
            <a:ext cx="2880360" cy="960120"/>
          </a:xfrm>
          <a:prstGeom prst="roundRect">
            <a:avLst>
              <a:gd name="adj" fmla="val 4762"/>
            </a:avLst>
          </a:prstGeom>
          <a:solidFill>
            <a:srgbClr val="FFFFFF"/>
          </a:solidFill>
          <a:ln w="13970">
            <a:solidFill>
              <a:srgbClr val="D9DEE7"/>
            </a:solidFill>
            <a:prstDash val="solid"/>
          </a:ln>
        </p:spPr>
        <p:txBody>
          <a:bodyPr/>
          <a:lstStyle/>
          <a:p>
            <a:endParaRPr lang="zh-CN" altLang="en-US"/>
          </a:p>
        </p:txBody>
      </p:sp>
      <p:sp>
        <p:nvSpPr>
          <p:cNvPr id="12" name="Text 10"/>
          <p:cNvSpPr/>
          <p:nvPr/>
        </p:nvSpPr>
        <p:spPr>
          <a:xfrm>
            <a:off x="795528" y="2313432"/>
            <a:ext cx="260604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IF-based</a:t>
            </a:r>
            <a:endParaRPr lang="en-US" sz="1700" dirty="0"/>
          </a:p>
        </p:txBody>
      </p:sp>
      <p:sp>
        <p:nvSpPr>
          <p:cNvPr id="13" name="Text 11"/>
          <p:cNvSpPr/>
          <p:nvPr/>
        </p:nvSpPr>
        <p:spPr>
          <a:xfrm>
            <a:off x="795528" y="2560320"/>
            <a:ext cx="2606040" cy="457200"/>
          </a:xfrm>
          <a:prstGeom prst="rect">
            <a:avLst/>
          </a:prstGeom>
          <a:noFill/>
          <a:ln/>
        </p:spPr>
        <p:txBody>
          <a:bodyPr wrap="square" lIns="0" tIns="0" rIns="0" bIns="0" rtlCol="0" anchor="ctr">
            <a:normAutofit fontScale="92500"/>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Approximate deletion through local influence-style updates; GIF stays comparatively stable.</a:t>
            </a:r>
            <a:endParaRPr lang="en-US" sz="1220" dirty="0"/>
          </a:p>
        </p:txBody>
      </p:sp>
      <p:sp>
        <p:nvSpPr>
          <p:cNvPr id="14" name="Shape 12"/>
          <p:cNvSpPr/>
          <p:nvPr/>
        </p:nvSpPr>
        <p:spPr>
          <a:xfrm>
            <a:off x="658368" y="3246120"/>
            <a:ext cx="2880360" cy="960120"/>
          </a:xfrm>
          <a:prstGeom prst="roundRect">
            <a:avLst>
              <a:gd name="adj" fmla="val 4762"/>
            </a:avLst>
          </a:prstGeom>
          <a:solidFill>
            <a:srgbClr val="E8EEF5"/>
          </a:solidFill>
          <a:ln w="13970">
            <a:solidFill>
              <a:srgbClr val="E8EEF5"/>
            </a:solidFill>
            <a:prstDash val="solid"/>
          </a:ln>
        </p:spPr>
        <p:txBody>
          <a:bodyPr/>
          <a:lstStyle/>
          <a:p>
            <a:endParaRPr lang="zh-CN" altLang="en-US"/>
          </a:p>
        </p:txBody>
      </p:sp>
      <p:sp>
        <p:nvSpPr>
          <p:cNvPr id="15" name="Text 13"/>
          <p:cNvSpPr/>
          <p:nvPr/>
        </p:nvSpPr>
        <p:spPr>
          <a:xfrm>
            <a:off x="795528" y="3410712"/>
            <a:ext cx="260604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Shard-based</a:t>
            </a:r>
            <a:endParaRPr lang="en-US" sz="1700" dirty="0"/>
          </a:p>
        </p:txBody>
      </p:sp>
      <p:sp>
        <p:nvSpPr>
          <p:cNvPr id="16" name="Text 14"/>
          <p:cNvSpPr/>
          <p:nvPr/>
        </p:nvSpPr>
        <p:spPr>
          <a:xfrm>
            <a:off x="795528" y="3657600"/>
            <a:ext cx="2606040" cy="457200"/>
          </a:xfrm>
          <a:prstGeom prst="rect">
            <a:avLst/>
          </a:prstGeom>
          <a:noFill/>
          <a:ln/>
        </p:spPr>
        <p:txBody>
          <a:bodyPr wrap="square" lIns="0" tIns="0" rIns="0" bIns="0" rtlCol="0" anchor="ctr">
            <a:normAutofit fontScale="92500" lnSpcReduction="10000"/>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Partition the graph and retrain affected shards; GraphEraser behaves differently in the tested settings.</a:t>
            </a:r>
            <a:endParaRPr lang="en-US" sz="1220" dirty="0"/>
          </a:p>
        </p:txBody>
      </p:sp>
      <p:sp>
        <p:nvSpPr>
          <p:cNvPr id="17" name="Shape 15"/>
          <p:cNvSpPr/>
          <p:nvPr/>
        </p:nvSpPr>
        <p:spPr>
          <a:xfrm>
            <a:off x="3931920" y="1051560"/>
            <a:ext cx="4526280" cy="1920240"/>
          </a:xfrm>
          <a:prstGeom prst="roundRect">
            <a:avLst>
              <a:gd name="adj" fmla="val 2381"/>
            </a:avLst>
          </a:prstGeom>
          <a:solidFill>
            <a:srgbClr val="223A5E"/>
          </a:solidFill>
          <a:ln w="13970">
            <a:solidFill>
              <a:srgbClr val="223A5E"/>
            </a:solidFill>
            <a:prstDash val="solid"/>
          </a:ln>
        </p:spPr>
        <p:txBody>
          <a:bodyPr/>
          <a:lstStyle/>
          <a:p>
            <a:endParaRPr lang="zh-CN" altLang="en-US"/>
          </a:p>
        </p:txBody>
      </p:sp>
      <p:sp>
        <p:nvSpPr>
          <p:cNvPr id="18" name="Text 16"/>
          <p:cNvSpPr/>
          <p:nvPr/>
        </p:nvSpPr>
        <p:spPr>
          <a:xfrm>
            <a:off x="4069080" y="1216152"/>
            <a:ext cx="4251960" cy="182880"/>
          </a:xfrm>
          <a:prstGeom prst="rect">
            <a:avLst/>
          </a:prstGeom>
          <a:noFill/>
          <a:ln/>
        </p:spPr>
        <p:txBody>
          <a:bodyPr wrap="square" lIns="0" tIns="0" rIns="0" bIns="0" rtlCol="0" anchor="ctr"/>
          <a:lstStyle/>
          <a:p>
            <a:pPr marL="0" indent="0">
              <a:buNone/>
            </a:pPr>
            <a:r>
              <a:rPr lang="en-US" sz="1700" b="1" dirty="0">
                <a:solidFill>
                  <a:srgbClr val="F7F5F1"/>
                </a:solidFill>
                <a:latin typeface="Times New Roman" pitchFamily="34" charset="0"/>
                <a:ea typeface="Times New Roman" pitchFamily="34" charset="-122"/>
                <a:cs typeface="Times New Roman" pitchFamily="34" charset="-120"/>
              </a:rPr>
              <a:t>Threat model</a:t>
            </a:r>
            <a:endParaRPr lang="en-US" sz="1700" dirty="0"/>
          </a:p>
        </p:txBody>
      </p:sp>
      <p:sp>
        <p:nvSpPr>
          <p:cNvPr id="19" name="Text 17"/>
          <p:cNvSpPr/>
          <p:nvPr/>
        </p:nvSpPr>
        <p:spPr>
          <a:xfrm>
            <a:off x="4069080" y="1463040"/>
            <a:ext cx="4251960" cy="1417320"/>
          </a:xfrm>
          <a:prstGeom prst="rect">
            <a:avLst/>
          </a:prstGeom>
          <a:noFill/>
          <a:ln/>
        </p:spPr>
        <p:txBody>
          <a:bodyPr wrap="square" lIns="0" tIns="0" rIns="0" bIns="0" rtlCol="0" anchor="ctr">
            <a:normAutofit/>
          </a:bodyPr>
          <a:lstStyle/>
          <a:p>
            <a:pPr marL="0" indent="0">
              <a:buNone/>
            </a:pPr>
            <a:r>
              <a:rPr lang="en-US" sz="1220" dirty="0">
                <a:solidFill>
                  <a:srgbClr val="FFFFFF"/>
                </a:solidFill>
                <a:latin typeface="Times New Roman" pitchFamily="34" charset="0"/>
                <a:ea typeface="Times New Roman" pitchFamily="34" charset="-122"/>
                <a:cs typeface="Times New Roman" pitchFamily="34" charset="-120"/>
              </a:rPr>
              <a:t>Attacker capability: choose which nodes to delete through the normal interface.</a:t>
            </a:r>
            <a:endParaRPr lang="en-US" sz="1220" dirty="0"/>
          </a:p>
          <a:p>
            <a:pPr marL="0" indent="0">
              <a:buNone/>
            </a:pPr>
            <a:endParaRPr lang="en-US" sz="1220" dirty="0"/>
          </a:p>
          <a:p>
            <a:pPr marL="0" indent="0">
              <a:buNone/>
            </a:pPr>
            <a:r>
              <a:rPr lang="en-US" sz="1220" dirty="0">
                <a:solidFill>
                  <a:srgbClr val="FFFFFF"/>
                </a:solidFill>
                <a:latin typeface="Times New Roman" pitchFamily="34" charset="0"/>
                <a:ea typeface="Times New Roman" pitchFamily="34" charset="-122"/>
                <a:cs typeface="Times New Roman" pitchFamily="34" charset="-120"/>
              </a:rPr>
              <a:t>Out of scope: poisoning labels, features, or hidden training code.</a:t>
            </a:r>
            <a:endParaRPr lang="en-US" sz="1220" dirty="0"/>
          </a:p>
          <a:p>
            <a:pPr marL="0" indent="0">
              <a:buNone/>
            </a:pPr>
            <a:endParaRPr lang="en-US" sz="1220" dirty="0"/>
          </a:p>
          <a:p>
            <a:pPr marL="0" indent="0">
              <a:buNone/>
            </a:pPr>
            <a:r>
              <a:rPr lang="en-US" sz="1220" dirty="0">
                <a:solidFill>
                  <a:srgbClr val="FFFFFF"/>
                </a:solidFill>
                <a:latin typeface="Times New Roman" pitchFamily="34" charset="0"/>
                <a:ea typeface="Times New Roman" pitchFamily="34" charset="-122"/>
                <a:cs typeface="Times New Roman" pitchFamily="34" charset="-120"/>
              </a:rPr>
              <a:t>Target: maximize post-unlearning utility loss beyond random deletion.</a:t>
            </a:r>
            <a:endParaRPr lang="en-US" sz="1220" dirty="0"/>
          </a:p>
        </p:txBody>
      </p:sp>
      <p:sp>
        <p:nvSpPr>
          <p:cNvPr id="20" name="Shape 18"/>
          <p:cNvSpPr/>
          <p:nvPr/>
        </p:nvSpPr>
        <p:spPr>
          <a:xfrm>
            <a:off x="4069080" y="3337560"/>
            <a:ext cx="1234440" cy="713232"/>
          </a:xfrm>
          <a:prstGeom prst="roundRect">
            <a:avLst>
              <a:gd name="adj" fmla="val 6410"/>
            </a:avLst>
          </a:prstGeom>
          <a:solidFill>
            <a:srgbClr val="223A5E"/>
          </a:solidFill>
          <a:ln w="12700">
            <a:solidFill>
              <a:srgbClr val="223A5E">
                <a:alpha val="0"/>
              </a:srgbClr>
            </a:solidFill>
            <a:prstDash val="solid"/>
          </a:ln>
        </p:spPr>
        <p:txBody>
          <a:bodyPr/>
          <a:lstStyle/>
          <a:p>
            <a:endParaRPr lang="zh-CN" altLang="en-US"/>
          </a:p>
        </p:txBody>
      </p:sp>
      <p:sp>
        <p:nvSpPr>
          <p:cNvPr id="21" name="Text 19"/>
          <p:cNvSpPr/>
          <p:nvPr/>
        </p:nvSpPr>
        <p:spPr>
          <a:xfrm>
            <a:off x="4142232" y="3447288"/>
            <a:ext cx="1088136" cy="201168"/>
          </a:xfrm>
          <a:prstGeom prst="rect">
            <a:avLst/>
          </a:prstGeom>
          <a:noFill/>
          <a:ln/>
        </p:spPr>
        <p:txBody>
          <a:bodyPr wrap="square" lIns="0" tIns="0" rIns="0" bIns="0" rtlCol="0" anchor="ctr"/>
          <a:lstStyle/>
          <a:p>
            <a:pPr marL="0" indent="0" algn="ctr">
              <a:buNone/>
            </a:pPr>
            <a:r>
              <a:rPr lang="en-US" sz="1900" b="1" dirty="0">
                <a:solidFill>
                  <a:srgbClr val="FFFFFF"/>
                </a:solidFill>
                <a:latin typeface="Times New Roman" pitchFamily="34" charset="0"/>
                <a:ea typeface="Times New Roman" pitchFamily="34" charset="-122"/>
                <a:cs typeface="Times New Roman" pitchFamily="34" charset="-120"/>
              </a:rPr>
              <a:t>ΔF1</a:t>
            </a:r>
            <a:endParaRPr lang="en-US" sz="1900" dirty="0"/>
          </a:p>
        </p:txBody>
      </p:sp>
      <p:sp>
        <p:nvSpPr>
          <p:cNvPr id="22" name="Text 20"/>
          <p:cNvSpPr/>
          <p:nvPr/>
        </p:nvSpPr>
        <p:spPr>
          <a:xfrm>
            <a:off x="4142232" y="3721608"/>
            <a:ext cx="1088136" cy="283464"/>
          </a:xfrm>
          <a:prstGeom prst="rect">
            <a:avLst/>
          </a:prstGeom>
          <a:noFill/>
          <a:ln/>
        </p:spPr>
        <p:txBody>
          <a:bodyPr wrap="square" lIns="0" tIns="0" rIns="0" bIns="0" rtlCol="0" anchor="ctr">
            <a:normAutofit/>
          </a:bodyPr>
          <a:lstStyle/>
          <a:p>
            <a:pPr marL="0" indent="0" algn="ctr">
              <a:buNone/>
            </a:pPr>
            <a:r>
              <a:rPr lang="en-US" sz="1000" dirty="0">
                <a:solidFill>
                  <a:srgbClr val="F7F5F1"/>
                </a:solidFill>
                <a:latin typeface="Times New Roman" pitchFamily="34" charset="0"/>
                <a:ea typeface="Times New Roman" pitchFamily="34" charset="-122"/>
                <a:cs typeface="Times New Roman" pitchFamily="34" charset="-120"/>
              </a:rPr>
              <a:t>attack-over-random</a:t>
            </a:r>
            <a:endParaRPr lang="en-US" sz="1000" dirty="0"/>
          </a:p>
        </p:txBody>
      </p:sp>
      <p:sp>
        <p:nvSpPr>
          <p:cNvPr id="23" name="Shape 21"/>
          <p:cNvSpPr/>
          <p:nvPr/>
        </p:nvSpPr>
        <p:spPr>
          <a:xfrm>
            <a:off x="5532120" y="3337560"/>
            <a:ext cx="1234440" cy="713232"/>
          </a:xfrm>
          <a:prstGeom prst="roundRect">
            <a:avLst>
              <a:gd name="adj" fmla="val 6410"/>
            </a:avLst>
          </a:prstGeom>
          <a:solidFill>
            <a:srgbClr val="A6404B"/>
          </a:solidFill>
          <a:ln w="12700">
            <a:solidFill>
              <a:srgbClr val="A6404B">
                <a:alpha val="0"/>
              </a:srgbClr>
            </a:solidFill>
            <a:prstDash val="solid"/>
          </a:ln>
        </p:spPr>
        <p:txBody>
          <a:bodyPr/>
          <a:lstStyle/>
          <a:p>
            <a:endParaRPr lang="zh-CN" altLang="en-US"/>
          </a:p>
        </p:txBody>
      </p:sp>
      <p:sp>
        <p:nvSpPr>
          <p:cNvPr id="24" name="Text 22"/>
          <p:cNvSpPr/>
          <p:nvPr/>
        </p:nvSpPr>
        <p:spPr>
          <a:xfrm>
            <a:off x="5605272" y="3447288"/>
            <a:ext cx="1088136" cy="201168"/>
          </a:xfrm>
          <a:prstGeom prst="rect">
            <a:avLst/>
          </a:prstGeom>
          <a:noFill/>
          <a:ln/>
        </p:spPr>
        <p:txBody>
          <a:bodyPr wrap="square" lIns="0" tIns="0" rIns="0" bIns="0" rtlCol="0" anchor="ctr"/>
          <a:lstStyle/>
          <a:p>
            <a:pPr marL="0" indent="0" algn="ctr">
              <a:buNone/>
            </a:pPr>
            <a:r>
              <a:rPr lang="en-US" sz="1900" b="1" dirty="0">
                <a:solidFill>
                  <a:srgbClr val="FFFFFF"/>
                </a:solidFill>
                <a:latin typeface="Times New Roman" pitchFamily="34" charset="0"/>
                <a:ea typeface="Times New Roman" pitchFamily="34" charset="-122"/>
                <a:cs typeface="Times New Roman" pitchFamily="34" charset="-120"/>
              </a:rPr>
              <a:t>Gap</a:t>
            </a:r>
            <a:endParaRPr lang="en-US" sz="1900" dirty="0"/>
          </a:p>
        </p:txBody>
      </p:sp>
      <p:sp>
        <p:nvSpPr>
          <p:cNvPr id="25" name="Text 23"/>
          <p:cNvSpPr/>
          <p:nvPr/>
        </p:nvSpPr>
        <p:spPr>
          <a:xfrm>
            <a:off x="5605272" y="3721608"/>
            <a:ext cx="1088136" cy="283464"/>
          </a:xfrm>
          <a:prstGeom prst="rect">
            <a:avLst/>
          </a:prstGeom>
          <a:noFill/>
          <a:ln/>
        </p:spPr>
        <p:txBody>
          <a:bodyPr wrap="square" lIns="0" tIns="0" rIns="0" bIns="0" rtlCol="0" anchor="ctr">
            <a:normAutofit/>
          </a:bodyPr>
          <a:lstStyle/>
          <a:p>
            <a:pPr marL="0" indent="0" algn="ctr">
              <a:buNone/>
            </a:pPr>
            <a:r>
              <a:rPr lang="en-US" sz="1000" dirty="0">
                <a:solidFill>
                  <a:srgbClr val="F7F5F1"/>
                </a:solidFill>
                <a:latin typeface="Times New Roman" pitchFamily="34" charset="0"/>
                <a:ea typeface="Times New Roman" pitchFamily="34" charset="-122"/>
                <a:cs typeface="Times New Roman" pitchFamily="34" charset="-120"/>
              </a:rPr>
              <a:t>vs exact retrain</a:t>
            </a:r>
            <a:endParaRPr lang="en-US" sz="1000" dirty="0"/>
          </a:p>
        </p:txBody>
      </p:sp>
      <p:sp>
        <p:nvSpPr>
          <p:cNvPr id="26" name="Shape 24"/>
          <p:cNvSpPr/>
          <p:nvPr/>
        </p:nvSpPr>
        <p:spPr>
          <a:xfrm>
            <a:off x="6995160" y="3337560"/>
            <a:ext cx="1234440" cy="713232"/>
          </a:xfrm>
          <a:prstGeom prst="roundRect">
            <a:avLst>
              <a:gd name="adj" fmla="val 6410"/>
            </a:avLst>
          </a:prstGeom>
          <a:solidFill>
            <a:srgbClr val="E8EEF5"/>
          </a:solidFill>
          <a:ln w="12700">
            <a:solidFill>
              <a:srgbClr val="E8EEF5">
                <a:alpha val="0"/>
              </a:srgbClr>
            </a:solidFill>
            <a:prstDash val="solid"/>
          </a:ln>
        </p:spPr>
        <p:txBody>
          <a:bodyPr/>
          <a:lstStyle/>
          <a:p>
            <a:endParaRPr lang="zh-CN" altLang="en-US"/>
          </a:p>
        </p:txBody>
      </p:sp>
      <p:sp>
        <p:nvSpPr>
          <p:cNvPr id="27" name="Text 25"/>
          <p:cNvSpPr/>
          <p:nvPr/>
        </p:nvSpPr>
        <p:spPr>
          <a:xfrm>
            <a:off x="7068312" y="3447288"/>
            <a:ext cx="1088136" cy="201168"/>
          </a:xfrm>
          <a:prstGeom prst="rect">
            <a:avLst/>
          </a:prstGeom>
          <a:noFill/>
          <a:ln/>
        </p:spPr>
        <p:txBody>
          <a:bodyPr wrap="square" lIns="0" tIns="0" rIns="0" bIns="0" rtlCol="0" anchor="ctr"/>
          <a:lstStyle/>
          <a:p>
            <a:pPr marL="0" indent="0" algn="ctr">
              <a:buNone/>
            </a:pPr>
            <a:r>
              <a:rPr lang="en-US" sz="1900" b="1" dirty="0">
                <a:solidFill>
                  <a:srgbClr val="223A5E"/>
                </a:solidFill>
                <a:latin typeface="Times New Roman" pitchFamily="34" charset="0"/>
                <a:ea typeface="Times New Roman" pitchFamily="34" charset="-122"/>
                <a:cs typeface="Times New Roman" pitchFamily="34" charset="-120"/>
              </a:rPr>
              <a:t>26.2%</a:t>
            </a:r>
            <a:endParaRPr lang="en-US" sz="1900" dirty="0"/>
          </a:p>
        </p:txBody>
      </p:sp>
      <p:sp>
        <p:nvSpPr>
          <p:cNvPr id="28" name="Text 26"/>
          <p:cNvSpPr/>
          <p:nvPr/>
        </p:nvSpPr>
        <p:spPr>
          <a:xfrm>
            <a:off x="7068312" y="3721608"/>
            <a:ext cx="1088136" cy="283464"/>
          </a:xfrm>
          <a:prstGeom prst="rect">
            <a:avLst/>
          </a:prstGeom>
          <a:noFill/>
          <a:ln/>
        </p:spPr>
        <p:txBody>
          <a:bodyPr wrap="square" lIns="0" tIns="0" rIns="0" bIns="0" rtlCol="0" anchor="ctr">
            <a:normAutofit/>
          </a:bodyPr>
          <a:lstStyle/>
          <a:p>
            <a:pPr marL="0" indent="0" algn="ctr">
              <a:buNone/>
            </a:pPr>
            <a:r>
              <a:rPr lang="en-US" sz="1000" dirty="0">
                <a:solidFill>
                  <a:srgbClr val="223A5E"/>
                </a:solidFill>
                <a:latin typeface="Times New Roman" pitchFamily="34" charset="0"/>
                <a:ea typeface="Times New Roman" pitchFamily="34" charset="-122"/>
                <a:cs typeface="Times New Roman" pitchFamily="34" charset="-120"/>
              </a:rPr>
              <a:t>non-target changes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223A5E"/>
          </a:solidFill>
          <a:ln w="12700">
            <a:solidFill>
              <a:srgbClr val="223A5E">
                <a:alpha val="0"/>
              </a:srgbClr>
            </a:solidFill>
            <a:prstDash val="solid"/>
          </a:ln>
        </p:spPr>
        <p:txBody>
          <a:bodyPr/>
          <a:lstStyle/>
          <a:p>
            <a:endParaRPr lang="zh-CN" altLang="en-US"/>
          </a:p>
        </p:txBody>
      </p:sp>
      <p:sp>
        <p:nvSpPr>
          <p:cNvPr id="3" name="Text 1"/>
          <p:cNvSpPr/>
          <p:nvPr/>
        </p:nvSpPr>
        <p:spPr>
          <a:xfrm>
            <a:off x="502920" y="100584"/>
            <a:ext cx="6583680" cy="219456"/>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Attack Pipeline And Experimental Matrix</a:t>
            </a:r>
            <a:endParaRPr lang="en-US" sz="2400" dirty="0"/>
          </a:p>
        </p:txBody>
      </p:sp>
      <p:sp>
        <p:nvSpPr>
          <p:cNvPr id="4" name="Text 2"/>
          <p:cNvSpPr/>
          <p:nvPr/>
        </p:nvSpPr>
        <p:spPr>
          <a:xfrm>
            <a:off x="7955280" y="118872"/>
            <a:ext cx="640080" cy="137160"/>
          </a:xfrm>
          <a:prstGeom prst="rect">
            <a:avLst/>
          </a:prstGeom>
          <a:noFill/>
          <a:ln/>
        </p:spPr>
        <p:txBody>
          <a:bodyPr wrap="square" lIns="0" tIns="0" rIns="0" bIns="0" rtlCol="0" anchor="ctr"/>
          <a:lstStyle/>
          <a:p>
            <a:pPr marL="0" indent="0" algn="r">
              <a:buNone/>
            </a:pPr>
            <a:r>
              <a:rPr lang="en-US" sz="1000" dirty="0">
                <a:solidFill>
                  <a:srgbClr val="F7F5F1"/>
                </a:solidFill>
                <a:latin typeface="Times New Roman" pitchFamily="34" charset="0"/>
                <a:ea typeface="Times New Roman" pitchFamily="34" charset="-122"/>
                <a:cs typeface="Times New Roman" pitchFamily="34" charset="-120"/>
              </a:rPr>
              <a:t>05 / 15</a:t>
            </a:r>
            <a:endParaRPr lang="en-US" sz="1000" dirty="0"/>
          </a:p>
        </p:txBody>
      </p:sp>
      <p:sp>
        <p:nvSpPr>
          <p:cNvPr id="5" name="Text 3"/>
          <p:cNvSpPr/>
          <p:nvPr/>
        </p:nvSpPr>
        <p:spPr>
          <a:xfrm>
            <a:off x="502920" y="4736592"/>
            <a:ext cx="2743200" cy="137160"/>
          </a:xfrm>
          <a:prstGeom prst="rect">
            <a:avLst/>
          </a:prstGeom>
          <a:noFill/>
          <a:ln/>
        </p:spPr>
        <p:txBody>
          <a:bodyPr wrap="square" lIns="0" tIns="0" rIns="0" bIns="0" rtlCol="0" anchor="ctr"/>
          <a:lstStyle/>
          <a:p>
            <a:pPr marL="0" indent="0">
              <a:buNone/>
            </a:pPr>
            <a:r>
              <a:rPr lang="en-US" sz="900" dirty="0">
                <a:solidFill>
                  <a:srgbClr val="667085"/>
                </a:solidFill>
                <a:latin typeface="Times New Roman" pitchFamily="34" charset="0"/>
                <a:ea typeface="Times New Roman" pitchFamily="34" charset="-122"/>
                <a:cs typeface="Times New Roman" pitchFamily="34" charset="-120"/>
              </a:rPr>
              <a:t>EE5003 MSc Project | Liu Chengyu</a:t>
            </a:r>
            <a:endParaRPr lang="en-US" sz="900" dirty="0"/>
          </a:p>
        </p:txBody>
      </p:sp>
      <p:sp>
        <p:nvSpPr>
          <p:cNvPr id="6" name="Text 4"/>
          <p:cNvSpPr/>
          <p:nvPr/>
        </p:nvSpPr>
        <p:spPr>
          <a:xfrm>
            <a:off x="5577840" y="4736592"/>
            <a:ext cx="3017520" cy="137160"/>
          </a:xfrm>
          <a:prstGeom prst="rect">
            <a:avLst/>
          </a:prstGeom>
          <a:noFill/>
          <a:ln/>
        </p:spPr>
        <p:txBody>
          <a:bodyPr wrap="square" lIns="0" tIns="0" rIns="0" bIns="0" rtlCol="0" anchor="ctr"/>
          <a:lstStyle/>
          <a:p>
            <a:pPr marL="0" indent="0" algn="r">
              <a:buNone/>
            </a:pPr>
            <a:r>
              <a:rPr lang="en-US" sz="900" dirty="0">
                <a:solidFill>
                  <a:srgbClr val="667085"/>
                </a:solidFill>
                <a:latin typeface="Times New Roman" pitchFamily="34" charset="0"/>
                <a:ea typeface="Times New Roman" pitchFamily="34" charset="-122"/>
                <a:cs typeface="Times New Roman" pitchFamily="34" charset="-120"/>
              </a:rPr>
              <a:t>Approximate Graph Unlearning Audit</a:t>
            </a:r>
            <a:endParaRPr lang="en-US" sz="900" dirty="0"/>
          </a:p>
        </p:txBody>
      </p:sp>
      <p:sp>
        <p:nvSpPr>
          <p:cNvPr id="7" name="Text 5"/>
          <p:cNvSpPr/>
          <p:nvPr/>
        </p:nvSpPr>
        <p:spPr>
          <a:xfrm>
            <a:off x="621792" y="768096"/>
            <a:ext cx="6675120" cy="228600"/>
          </a:xfrm>
          <a:prstGeom prst="rect">
            <a:avLst/>
          </a:prstGeom>
          <a:noFill/>
          <a:ln/>
        </p:spPr>
        <p:txBody>
          <a:bodyPr wrap="square" lIns="0" tIns="0" rIns="0" bIns="0" rtlCol="0" anchor="ctr"/>
          <a:lstStyle/>
          <a:p>
            <a:pPr marL="0" indent="0">
              <a:buNone/>
            </a:pPr>
            <a:r>
              <a:rPr lang="en-US" sz="1800" b="1" dirty="0">
                <a:solidFill>
                  <a:srgbClr val="223A5E"/>
                </a:solidFill>
                <a:latin typeface="Times New Roman" pitchFamily="34" charset="0"/>
                <a:ea typeface="Times New Roman" pitchFamily="34" charset="-122"/>
                <a:cs typeface="Times New Roman" pitchFamily="34" charset="-120"/>
              </a:rPr>
              <a:t>The workflow compares approximate unlearning against an exact-retrain control on the same deletion set.</a:t>
            </a:r>
            <a:endParaRPr lang="en-US" sz="1800" dirty="0"/>
          </a:p>
        </p:txBody>
      </p:sp>
      <p:sp>
        <p:nvSpPr>
          <p:cNvPr id="8" name="Shape 6"/>
          <p:cNvSpPr/>
          <p:nvPr/>
        </p:nvSpPr>
        <p:spPr>
          <a:xfrm>
            <a:off x="685800" y="1353312"/>
            <a:ext cx="3749040" cy="685800"/>
          </a:xfrm>
          <a:prstGeom prst="roundRect">
            <a:avLst>
              <a:gd name="adj" fmla="val 6667"/>
            </a:avLst>
          </a:prstGeom>
          <a:solidFill>
            <a:srgbClr val="FFFFFF"/>
          </a:solidFill>
          <a:ln w="13970">
            <a:solidFill>
              <a:srgbClr val="D9DEE7"/>
            </a:solidFill>
            <a:prstDash val="solid"/>
          </a:ln>
        </p:spPr>
        <p:txBody>
          <a:bodyPr/>
          <a:lstStyle/>
          <a:p>
            <a:endParaRPr lang="zh-CN" altLang="en-US"/>
          </a:p>
        </p:txBody>
      </p:sp>
      <p:sp>
        <p:nvSpPr>
          <p:cNvPr id="9" name="Shape 7"/>
          <p:cNvSpPr/>
          <p:nvPr/>
        </p:nvSpPr>
        <p:spPr>
          <a:xfrm>
            <a:off x="822960" y="1490472"/>
            <a:ext cx="384048" cy="384048"/>
          </a:xfrm>
          <a:prstGeom prst="ellipse">
            <a:avLst/>
          </a:prstGeom>
          <a:solidFill>
            <a:srgbClr val="223A5E"/>
          </a:solidFill>
          <a:ln w="12700">
            <a:solidFill>
              <a:srgbClr val="223A5E">
                <a:alpha val="0"/>
              </a:srgbClr>
            </a:solidFill>
            <a:prstDash val="solid"/>
          </a:ln>
        </p:spPr>
        <p:txBody>
          <a:bodyPr/>
          <a:lstStyle/>
          <a:p>
            <a:endParaRPr lang="zh-CN" altLang="en-US"/>
          </a:p>
        </p:txBody>
      </p:sp>
      <p:sp>
        <p:nvSpPr>
          <p:cNvPr id="10" name="Text 8"/>
          <p:cNvSpPr/>
          <p:nvPr/>
        </p:nvSpPr>
        <p:spPr>
          <a:xfrm>
            <a:off x="822960" y="1545336"/>
            <a:ext cx="384048" cy="109728"/>
          </a:xfrm>
          <a:prstGeom prst="rect">
            <a:avLst/>
          </a:prstGeom>
          <a:noFill/>
          <a:ln/>
        </p:spPr>
        <p:txBody>
          <a:bodyPr wrap="square" lIns="0" tIns="0" rIns="0" bIns="0" rtlCol="0" anchor="ctr"/>
          <a:lstStyle/>
          <a:p>
            <a:pPr marL="0" indent="0" algn="ctr">
              <a:buNone/>
            </a:pPr>
            <a:r>
              <a:rPr lang="en-US" sz="1320" b="1" dirty="0">
                <a:solidFill>
                  <a:srgbClr val="FFFFFF"/>
                </a:solidFill>
                <a:latin typeface="Times New Roman" pitchFamily="34" charset="0"/>
                <a:ea typeface="Times New Roman" pitchFamily="34" charset="-122"/>
                <a:cs typeface="Times New Roman" pitchFamily="34" charset="-120"/>
              </a:rPr>
              <a:t>1</a:t>
            </a:r>
            <a:endParaRPr lang="en-US" sz="1320" dirty="0"/>
          </a:p>
        </p:txBody>
      </p:sp>
      <p:sp>
        <p:nvSpPr>
          <p:cNvPr id="11" name="Text 9"/>
          <p:cNvSpPr/>
          <p:nvPr/>
        </p:nvSpPr>
        <p:spPr>
          <a:xfrm>
            <a:off x="1344168" y="1444752"/>
            <a:ext cx="2880360" cy="146304"/>
          </a:xfrm>
          <a:prstGeom prst="rect">
            <a:avLst/>
          </a:prstGeom>
          <a:noFill/>
          <a:ln/>
        </p:spPr>
        <p:txBody>
          <a:bodyPr wrap="square" lIns="0" tIns="0" rIns="0" bIns="0" rtlCol="0" anchor="ctr"/>
          <a:lstStyle/>
          <a:p>
            <a:pPr marL="0" indent="0">
              <a:buNone/>
            </a:pPr>
            <a:r>
              <a:rPr lang="en-US" sz="1550" b="1" dirty="0">
                <a:solidFill>
                  <a:srgbClr val="223A5E"/>
                </a:solidFill>
                <a:latin typeface="Times New Roman" pitchFamily="34" charset="0"/>
                <a:ea typeface="Times New Roman" pitchFamily="34" charset="-122"/>
                <a:cs typeface="Times New Roman" pitchFamily="34" charset="-120"/>
              </a:rPr>
              <a:t>Select nodes</a:t>
            </a:r>
            <a:endParaRPr lang="en-US" sz="1550" dirty="0"/>
          </a:p>
        </p:txBody>
      </p:sp>
      <p:sp>
        <p:nvSpPr>
          <p:cNvPr id="12" name="Text 10"/>
          <p:cNvSpPr/>
          <p:nvPr/>
        </p:nvSpPr>
        <p:spPr>
          <a:xfrm>
            <a:off x="1344168" y="1664208"/>
            <a:ext cx="2880360" cy="201168"/>
          </a:xfrm>
          <a:prstGeom prst="rect">
            <a:avLst/>
          </a:prstGeom>
          <a:noFill/>
          <a:ln/>
        </p:spPr>
        <p:txBody>
          <a:bodyPr wrap="square" lIns="0" tIns="0" rIns="0" bIns="0" rtlCol="0" anchor="ctr">
            <a:normAutofit/>
          </a:bodyPr>
          <a:lstStyle/>
          <a:p>
            <a:pPr marL="0" indent="0">
              <a:buNone/>
            </a:pPr>
            <a:r>
              <a:rPr lang="en-US" sz="1130" dirty="0">
                <a:solidFill>
                  <a:srgbClr val="1E2630"/>
                </a:solidFill>
                <a:latin typeface="Times New Roman" pitchFamily="34" charset="0"/>
                <a:ea typeface="Times New Roman" pitchFamily="34" charset="-122"/>
                <a:cs typeface="Times New Roman" pitchFamily="34" charset="-120"/>
              </a:rPr>
              <a:t>Use random or structured attack targets.</a:t>
            </a:r>
            <a:endParaRPr lang="en-US" sz="1130" dirty="0"/>
          </a:p>
        </p:txBody>
      </p:sp>
      <p:sp>
        <p:nvSpPr>
          <p:cNvPr id="13" name="Shape 11"/>
          <p:cNvSpPr/>
          <p:nvPr/>
        </p:nvSpPr>
        <p:spPr>
          <a:xfrm>
            <a:off x="685800" y="2221992"/>
            <a:ext cx="3749040" cy="685800"/>
          </a:xfrm>
          <a:prstGeom prst="roundRect">
            <a:avLst>
              <a:gd name="adj" fmla="val 6667"/>
            </a:avLst>
          </a:prstGeom>
          <a:solidFill>
            <a:srgbClr val="FFFFFF"/>
          </a:solidFill>
          <a:ln w="13970">
            <a:solidFill>
              <a:srgbClr val="D9DEE7"/>
            </a:solidFill>
            <a:prstDash val="solid"/>
          </a:ln>
        </p:spPr>
        <p:txBody>
          <a:bodyPr/>
          <a:lstStyle/>
          <a:p>
            <a:endParaRPr lang="zh-CN" altLang="en-US"/>
          </a:p>
        </p:txBody>
      </p:sp>
      <p:sp>
        <p:nvSpPr>
          <p:cNvPr id="14" name="Shape 12"/>
          <p:cNvSpPr/>
          <p:nvPr/>
        </p:nvSpPr>
        <p:spPr>
          <a:xfrm>
            <a:off x="822960" y="2359152"/>
            <a:ext cx="384048" cy="384048"/>
          </a:xfrm>
          <a:prstGeom prst="ellipse">
            <a:avLst/>
          </a:prstGeom>
          <a:solidFill>
            <a:srgbClr val="A6404B"/>
          </a:solidFill>
          <a:ln w="12700">
            <a:solidFill>
              <a:srgbClr val="A6404B">
                <a:alpha val="0"/>
              </a:srgbClr>
            </a:solidFill>
            <a:prstDash val="solid"/>
          </a:ln>
        </p:spPr>
        <p:txBody>
          <a:bodyPr/>
          <a:lstStyle/>
          <a:p>
            <a:endParaRPr lang="zh-CN" altLang="en-US"/>
          </a:p>
        </p:txBody>
      </p:sp>
      <p:sp>
        <p:nvSpPr>
          <p:cNvPr id="15" name="Text 13"/>
          <p:cNvSpPr/>
          <p:nvPr/>
        </p:nvSpPr>
        <p:spPr>
          <a:xfrm>
            <a:off x="822960" y="2414016"/>
            <a:ext cx="384048" cy="109728"/>
          </a:xfrm>
          <a:prstGeom prst="rect">
            <a:avLst/>
          </a:prstGeom>
          <a:noFill/>
          <a:ln/>
        </p:spPr>
        <p:txBody>
          <a:bodyPr wrap="square" lIns="0" tIns="0" rIns="0" bIns="0" rtlCol="0" anchor="ctr"/>
          <a:lstStyle/>
          <a:p>
            <a:pPr marL="0" indent="0" algn="ctr">
              <a:buNone/>
            </a:pPr>
            <a:r>
              <a:rPr lang="en-US" sz="1320" b="1" dirty="0">
                <a:solidFill>
                  <a:srgbClr val="FFFFFF"/>
                </a:solidFill>
                <a:latin typeface="Times New Roman" pitchFamily="34" charset="0"/>
                <a:ea typeface="Times New Roman" pitchFamily="34" charset="-122"/>
                <a:cs typeface="Times New Roman" pitchFamily="34" charset="-120"/>
              </a:rPr>
              <a:t>2</a:t>
            </a:r>
            <a:endParaRPr lang="en-US" sz="1320" dirty="0"/>
          </a:p>
        </p:txBody>
      </p:sp>
      <p:sp>
        <p:nvSpPr>
          <p:cNvPr id="16" name="Text 14"/>
          <p:cNvSpPr/>
          <p:nvPr/>
        </p:nvSpPr>
        <p:spPr>
          <a:xfrm>
            <a:off x="1344168" y="2313432"/>
            <a:ext cx="2880360" cy="146304"/>
          </a:xfrm>
          <a:prstGeom prst="rect">
            <a:avLst/>
          </a:prstGeom>
          <a:noFill/>
          <a:ln/>
        </p:spPr>
        <p:txBody>
          <a:bodyPr wrap="square" lIns="0" tIns="0" rIns="0" bIns="0" rtlCol="0" anchor="ctr"/>
          <a:lstStyle/>
          <a:p>
            <a:pPr marL="0" indent="0">
              <a:buNone/>
            </a:pPr>
            <a:r>
              <a:rPr lang="en-US" sz="1550" b="1" dirty="0">
                <a:solidFill>
                  <a:srgbClr val="223A5E"/>
                </a:solidFill>
                <a:latin typeface="Times New Roman" pitchFamily="34" charset="0"/>
                <a:ea typeface="Times New Roman" pitchFamily="34" charset="-122"/>
                <a:cs typeface="Times New Roman" pitchFamily="34" charset="-120"/>
              </a:rPr>
              <a:t>Apply unlearning</a:t>
            </a:r>
            <a:endParaRPr lang="en-US" sz="1550" dirty="0"/>
          </a:p>
        </p:txBody>
      </p:sp>
      <p:sp>
        <p:nvSpPr>
          <p:cNvPr id="17" name="Text 15"/>
          <p:cNvSpPr/>
          <p:nvPr/>
        </p:nvSpPr>
        <p:spPr>
          <a:xfrm>
            <a:off x="1344168" y="2532888"/>
            <a:ext cx="2880360" cy="201168"/>
          </a:xfrm>
          <a:prstGeom prst="rect">
            <a:avLst/>
          </a:prstGeom>
          <a:noFill/>
          <a:ln/>
        </p:spPr>
        <p:txBody>
          <a:bodyPr wrap="square" lIns="0" tIns="0" rIns="0" bIns="0" rtlCol="0" anchor="ctr">
            <a:normAutofit/>
          </a:bodyPr>
          <a:lstStyle/>
          <a:p>
            <a:pPr marL="0" indent="0">
              <a:buNone/>
            </a:pPr>
            <a:r>
              <a:rPr lang="en-US" sz="1130" dirty="0">
                <a:solidFill>
                  <a:srgbClr val="1E2630"/>
                </a:solidFill>
                <a:latin typeface="Times New Roman" pitchFamily="34" charset="0"/>
                <a:ea typeface="Times New Roman" pitchFamily="34" charset="-122"/>
                <a:cs typeface="Times New Roman" pitchFamily="34" charset="-120"/>
              </a:rPr>
              <a:t>Run the selected graph unlearning method.</a:t>
            </a:r>
            <a:endParaRPr lang="en-US" sz="1130" dirty="0"/>
          </a:p>
        </p:txBody>
      </p:sp>
      <p:sp>
        <p:nvSpPr>
          <p:cNvPr id="18" name="Shape 16"/>
          <p:cNvSpPr/>
          <p:nvPr/>
        </p:nvSpPr>
        <p:spPr>
          <a:xfrm>
            <a:off x="685800" y="3090672"/>
            <a:ext cx="3749040" cy="685800"/>
          </a:xfrm>
          <a:prstGeom prst="roundRect">
            <a:avLst>
              <a:gd name="adj" fmla="val 6667"/>
            </a:avLst>
          </a:prstGeom>
          <a:solidFill>
            <a:srgbClr val="FFFFFF"/>
          </a:solidFill>
          <a:ln w="13970">
            <a:solidFill>
              <a:srgbClr val="D9DEE7"/>
            </a:solidFill>
            <a:prstDash val="solid"/>
          </a:ln>
        </p:spPr>
        <p:txBody>
          <a:bodyPr/>
          <a:lstStyle/>
          <a:p>
            <a:endParaRPr lang="zh-CN" altLang="en-US"/>
          </a:p>
        </p:txBody>
      </p:sp>
      <p:sp>
        <p:nvSpPr>
          <p:cNvPr id="19" name="Shape 17"/>
          <p:cNvSpPr/>
          <p:nvPr/>
        </p:nvSpPr>
        <p:spPr>
          <a:xfrm>
            <a:off x="822960" y="3227832"/>
            <a:ext cx="384048" cy="384048"/>
          </a:xfrm>
          <a:prstGeom prst="ellipse">
            <a:avLst/>
          </a:prstGeom>
          <a:solidFill>
            <a:srgbClr val="E8EEF5"/>
          </a:solidFill>
          <a:ln w="12700">
            <a:solidFill>
              <a:srgbClr val="E8EEF5">
                <a:alpha val="0"/>
              </a:srgbClr>
            </a:solidFill>
            <a:prstDash val="solid"/>
          </a:ln>
        </p:spPr>
        <p:txBody>
          <a:bodyPr/>
          <a:lstStyle/>
          <a:p>
            <a:endParaRPr lang="zh-CN" altLang="en-US"/>
          </a:p>
        </p:txBody>
      </p:sp>
      <p:sp>
        <p:nvSpPr>
          <p:cNvPr id="20" name="Text 18"/>
          <p:cNvSpPr/>
          <p:nvPr/>
        </p:nvSpPr>
        <p:spPr>
          <a:xfrm>
            <a:off x="822960" y="3282696"/>
            <a:ext cx="384048" cy="109728"/>
          </a:xfrm>
          <a:prstGeom prst="rect">
            <a:avLst/>
          </a:prstGeom>
          <a:noFill/>
          <a:ln/>
        </p:spPr>
        <p:txBody>
          <a:bodyPr wrap="square" lIns="0" tIns="0" rIns="0" bIns="0" rtlCol="0" anchor="ctr"/>
          <a:lstStyle/>
          <a:p>
            <a:pPr marL="0" indent="0" algn="ctr">
              <a:buNone/>
            </a:pPr>
            <a:r>
              <a:rPr lang="en-US" sz="1320" b="1" dirty="0">
                <a:solidFill>
                  <a:srgbClr val="223A5E"/>
                </a:solidFill>
                <a:latin typeface="Times New Roman" pitchFamily="34" charset="0"/>
                <a:ea typeface="Times New Roman" pitchFamily="34" charset="-122"/>
                <a:cs typeface="Times New Roman" pitchFamily="34" charset="-120"/>
              </a:rPr>
              <a:t>3</a:t>
            </a:r>
            <a:endParaRPr lang="en-US" sz="1320" dirty="0"/>
          </a:p>
        </p:txBody>
      </p:sp>
      <p:sp>
        <p:nvSpPr>
          <p:cNvPr id="21" name="Text 19"/>
          <p:cNvSpPr/>
          <p:nvPr/>
        </p:nvSpPr>
        <p:spPr>
          <a:xfrm>
            <a:off x="1344168" y="3182112"/>
            <a:ext cx="2880360" cy="146304"/>
          </a:xfrm>
          <a:prstGeom prst="rect">
            <a:avLst/>
          </a:prstGeom>
          <a:noFill/>
          <a:ln/>
        </p:spPr>
        <p:txBody>
          <a:bodyPr wrap="square" lIns="0" tIns="0" rIns="0" bIns="0" rtlCol="0" anchor="ctr"/>
          <a:lstStyle/>
          <a:p>
            <a:pPr marL="0" indent="0">
              <a:buNone/>
            </a:pPr>
            <a:r>
              <a:rPr lang="en-US" sz="1550" b="1" dirty="0">
                <a:solidFill>
                  <a:srgbClr val="223A5E"/>
                </a:solidFill>
                <a:latin typeface="Times New Roman" pitchFamily="34" charset="0"/>
                <a:ea typeface="Times New Roman" pitchFamily="34" charset="-122"/>
                <a:cs typeface="Times New Roman" pitchFamily="34" charset="-120"/>
              </a:rPr>
              <a:t>Exact retrain control</a:t>
            </a:r>
            <a:endParaRPr lang="en-US" sz="1550" dirty="0"/>
          </a:p>
        </p:txBody>
      </p:sp>
      <p:sp>
        <p:nvSpPr>
          <p:cNvPr id="22" name="Text 20"/>
          <p:cNvSpPr/>
          <p:nvPr/>
        </p:nvSpPr>
        <p:spPr>
          <a:xfrm>
            <a:off x="1344168" y="3401568"/>
            <a:ext cx="2880360" cy="201168"/>
          </a:xfrm>
          <a:prstGeom prst="rect">
            <a:avLst/>
          </a:prstGeom>
          <a:noFill/>
          <a:ln/>
        </p:spPr>
        <p:txBody>
          <a:bodyPr wrap="square" lIns="0" tIns="0" rIns="0" bIns="0" rtlCol="0" anchor="ctr">
            <a:normAutofit fontScale="77500" lnSpcReduction="20000"/>
          </a:bodyPr>
          <a:lstStyle/>
          <a:p>
            <a:pPr marL="0" indent="0">
              <a:buNone/>
            </a:pPr>
            <a:r>
              <a:rPr lang="en-US" sz="1130" dirty="0">
                <a:solidFill>
                  <a:srgbClr val="1E2630"/>
                </a:solidFill>
                <a:latin typeface="Times New Roman" pitchFamily="34" charset="0"/>
                <a:ea typeface="Times New Roman" pitchFamily="34" charset="-122"/>
                <a:cs typeface="Times New Roman" pitchFamily="34" charset="-120"/>
              </a:rPr>
              <a:t>Retrain on the same deletions for the gold-standard reference.</a:t>
            </a:r>
            <a:endParaRPr lang="en-US" sz="1130" dirty="0"/>
          </a:p>
        </p:txBody>
      </p:sp>
      <p:sp>
        <p:nvSpPr>
          <p:cNvPr id="23" name="Shape 21"/>
          <p:cNvSpPr/>
          <p:nvPr/>
        </p:nvSpPr>
        <p:spPr>
          <a:xfrm>
            <a:off x="685800" y="3959352"/>
            <a:ext cx="3749040" cy="685800"/>
          </a:xfrm>
          <a:prstGeom prst="roundRect">
            <a:avLst>
              <a:gd name="adj" fmla="val 6667"/>
            </a:avLst>
          </a:prstGeom>
          <a:solidFill>
            <a:srgbClr val="FFFFFF"/>
          </a:solidFill>
          <a:ln w="13970">
            <a:solidFill>
              <a:srgbClr val="D9DEE7"/>
            </a:solidFill>
            <a:prstDash val="solid"/>
          </a:ln>
        </p:spPr>
        <p:txBody>
          <a:bodyPr/>
          <a:lstStyle/>
          <a:p>
            <a:endParaRPr lang="zh-CN" altLang="en-US"/>
          </a:p>
        </p:txBody>
      </p:sp>
      <p:sp>
        <p:nvSpPr>
          <p:cNvPr id="24" name="Shape 22"/>
          <p:cNvSpPr/>
          <p:nvPr/>
        </p:nvSpPr>
        <p:spPr>
          <a:xfrm>
            <a:off x="822960" y="4096512"/>
            <a:ext cx="384048" cy="384048"/>
          </a:xfrm>
          <a:prstGeom prst="ellipse">
            <a:avLst/>
          </a:prstGeom>
          <a:solidFill>
            <a:srgbClr val="1E2630"/>
          </a:solidFill>
          <a:ln w="12700">
            <a:solidFill>
              <a:srgbClr val="1E2630">
                <a:alpha val="0"/>
              </a:srgbClr>
            </a:solidFill>
            <a:prstDash val="solid"/>
          </a:ln>
        </p:spPr>
        <p:txBody>
          <a:bodyPr/>
          <a:lstStyle/>
          <a:p>
            <a:endParaRPr lang="zh-CN" altLang="en-US"/>
          </a:p>
        </p:txBody>
      </p:sp>
      <p:sp>
        <p:nvSpPr>
          <p:cNvPr id="25" name="Text 23"/>
          <p:cNvSpPr/>
          <p:nvPr/>
        </p:nvSpPr>
        <p:spPr>
          <a:xfrm>
            <a:off x="822960" y="4151376"/>
            <a:ext cx="384048" cy="109728"/>
          </a:xfrm>
          <a:prstGeom prst="rect">
            <a:avLst/>
          </a:prstGeom>
          <a:noFill/>
          <a:ln/>
        </p:spPr>
        <p:txBody>
          <a:bodyPr wrap="square" lIns="0" tIns="0" rIns="0" bIns="0" rtlCol="0" anchor="ctr"/>
          <a:lstStyle/>
          <a:p>
            <a:pPr marL="0" indent="0" algn="ctr">
              <a:buNone/>
            </a:pPr>
            <a:r>
              <a:rPr lang="en-US" sz="1320" b="1" dirty="0">
                <a:solidFill>
                  <a:srgbClr val="FFFFFF"/>
                </a:solidFill>
                <a:latin typeface="Times New Roman" pitchFamily="34" charset="0"/>
                <a:ea typeface="Times New Roman" pitchFamily="34" charset="-122"/>
                <a:cs typeface="Times New Roman" pitchFamily="34" charset="-120"/>
              </a:rPr>
              <a:t>4</a:t>
            </a:r>
            <a:endParaRPr lang="en-US" sz="1320" dirty="0"/>
          </a:p>
        </p:txBody>
      </p:sp>
      <p:sp>
        <p:nvSpPr>
          <p:cNvPr id="26" name="Text 24"/>
          <p:cNvSpPr/>
          <p:nvPr/>
        </p:nvSpPr>
        <p:spPr>
          <a:xfrm>
            <a:off x="1344168" y="4050792"/>
            <a:ext cx="2880360" cy="146304"/>
          </a:xfrm>
          <a:prstGeom prst="rect">
            <a:avLst/>
          </a:prstGeom>
          <a:noFill/>
          <a:ln/>
        </p:spPr>
        <p:txBody>
          <a:bodyPr wrap="square" lIns="0" tIns="0" rIns="0" bIns="0" rtlCol="0" anchor="ctr"/>
          <a:lstStyle/>
          <a:p>
            <a:pPr marL="0" indent="0">
              <a:buNone/>
            </a:pPr>
            <a:r>
              <a:rPr lang="en-US" sz="1550" b="1" dirty="0">
                <a:solidFill>
                  <a:srgbClr val="223A5E"/>
                </a:solidFill>
                <a:latin typeface="Times New Roman" pitchFamily="34" charset="0"/>
                <a:ea typeface="Times New Roman" pitchFamily="34" charset="-122"/>
                <a:cs typeface="Times New Roman" pitchFamily="34" charset="-120"/>
              </a:rPr>
              <a:t>Compare outcomes</a:t>
            </a:r>
            <a:endParaRPr lang="en-US" sz="1550" dirty="0"/>
          </a:p>
        </p:txBody>
      </p:sp>
      <p:sp>
        <p:nvSpPr>
          <p:cNvPr id="27" name="Text 25"/>
          <p:cNvSpPr/>
          <p:nvPr/>
        </p:nvSpPr>
        <p:spPr>
          <a:xfrm>
            <a:off x="1344168" y="4270248"/>
            <a:ext cx="2880360" cy="201168"/>
          </a:xfrm>
          <a:prstGeom prst="rect">
            <a:avLst/>
          </a:prstGeom>
          <a:noFill/>
          <a:ln/>
        </p:spPr>
        <p:txBody>
          <a:bodyPr wrap="square" lIns="0" tIns="0" rIns="0" bIns="0" rtlCol="0" anchor="ctr">
            <a:normAutofit fontScale="92500"/>
          </a:bodyPr>
          <a:lstStyle/>
          <a:p>
            <a:pPr marL="0" indent="0">
              <a:buNone/>
            </a:pPr>
            <a:r>
              <a:rPr lang="en-US" sz="1130" dirty="0">
                <a:solidFill>
                  <a:srgbClr val="1E2630"/>
                </a:solidFill>
                <a:latin typeface="Times New Roman" pitchFamily="34" charset="0"/>
                <a:ea typeface="Times New Roman" pitchFamily="34" charset="-122"/>
                <a:cs typeface="Times New Roman" pitchFamily="34" charset="-120"/>
              </a:rPr>
              <a:t>Read utility loss, retrain gap, and collateral damage.</a:t>
            </a:r>
            <a:endParaRPr lang="en-US" sz="1130" dirty="0"/>
          </a:p>
        </p:txBody>
      </p:sp>
      <p:sp>
        <p:nvSpPr>
          <p:cNvPr id="28" name="Shape 26"/>
          <p:cNvSpPr/>
          <p:nvPr/>
        </p:nvSpPr>
        <p:spPr>
          <a:xfrm>
            <a:off x="4800600" y="1371600"/>
            <a:ext cx="3611880" cy="3273552"/>
          </a:xfrm>
          <a:prstGeom prst="roundRect">
            <a:avLst>
              <a:gd name="adj" fmla="val 1397"/>
            </a:avLst>
          </a:prstGeom>
          <a:solidFill>
            <a:srgbClr val="FFFFFF"/>
          </a:solidFill>
          <a:ln w="13970">
            <a:solidFill>
              <a:srgbClr val="D9DEE7"/>
            </a:solidFill>
            <a:prstDash val="solid"/>
          </a:ln>
        </p:spPr>
        <p:txBody>
          <a:bodyPr/>
          <a:lstStyle/>
          <a:p>
            <a:endParaRPr lang="zh-CN" altLang="en-US"/>
          </a:p>
        </p:txBody>
      </p:sp>
      <p:sp>
        <p:nvSpPr>
          <p:cNvPr id="29" name="Text 27"/>
          <p:cNvSpPr/>
          <p:nvPr/>
        </p:nvSpPr>
        <p:spPr>
          <a:xfrm>
            <a:off x="4937760" y="1536192"/>
            <a:ext cx="333756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Experimental matrix</a:t>
            </a:r>
            <a:endParaRPr lang="en-US" sz="1700" dirty="0"/>
          </a:p>
        </p:txBody>
      </p:sp>
      <p:sp>
        <p:nvSpPr>
          <p:cNvPr id="30" name="Text 28"/>
          <p:cNvSpPr/>
          <p:nvPr/>
        </p:nvSpPr>
        <p:spPr>
          <a:xfrm>
            <a:off x="4937760" y="1783080"/>
            <a:ext cx="3337560" cy="2770632"/>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Methods: 5</a:t>
            </a: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Datasets: 2 citation graphs</a:t>
            </a: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Backbones: 3 GNN architectures</a:t>
            </a: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Strategies: 6 node-selection methods</a:t>
            </a: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Runs: 950 experiment executions</a:t>
            </a:r>
            <a:endParaRPr lang="en-US" sz="1220" dirty="0"/>
          </a:p>
          <a:p>
            <a:pPr marL="0" indent="0">
              <a:buNone/>
            </a:pP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Outputs: relative_f1_drop, retrain_gap, collateral damage, and efficiency.</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223A5E"/>
          </a:solidFill>
          <a:ln w="12700">
            <a:solidFill>
              <a:srgbClr val="223A5E">
                <a:alpha val="0"/>
              </a:srgbClr>
            </a:solidFill>
            <a:prstDash val="solid"/>
          </a:ln>
        </p:spPr>
        <p:txBody>
          <a:bodyPr/>
          <a:lstStyle/>
          <a:p>
            <a:endParaRPr lang="zh-CN" altLang="en-US"/>
          </a:p>
        </p:txBody>
      </p:sp>
      <p:sp>
        <p:nvSpPr>
          <p:cNvPr id="3" name="Text 1"/>
          <p:cNvSpPr/>
          <p:nvPr/>
        </p:nvSpPr>
        <p:spPr>
          <a:xfrm>
            <a:off x="502920" y="100584"/>
            <a:ext cx="6583680" cy="219456"/>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Attack Selection Logic</a:t>
            </a:r>
            <a:endParaRPr lang="en-US" sz="2400" dirty="0"/>
          </a:p>
        </p:txBody>
      </p:sp>
      <p:sp>
        <p:nvSpPr>
          <p:cNvPr id="4" name="Text 2"/>
          <p:cNvSpPr/>
          <p:nvPr/>
        </p:nvSpPr>
        <p:spPr>
          <a:xfrm>
            <a:off x="7955280" y="118872"/>
            <a:ext cx="640080" cy="137160"/>
          </a:xfrm>
          <a:prstGeom prst="rect">
            <a:avLst/>
          </a:prstGeom>
          <a:noFill/>
          <a:ln/>
        </p:spPr>
        <p:txBody>
          <a:bodyPr wrap="square" lIns="0" tIns="0" rIns="0" bIns="0" rtlCol="0" anchor="ctr"/>
          <a:lstStyle/>
          <a:p>
            <a:pPr marL="0" indent="0" algn="r">
              <a:buNone/>
            </a:pPr>
            <a:r>
              <a:rPr lang="en-US" sz="1000" dirty="0">
                <a:solidFill>
                  <a:srgbClr val="F7F5F1"/>
                </a:solidFill>
                <a:latin typeface="Times New Roman" pitchFamily="34" charset="0"/>
                <a:ea typeface="Times New Roman" pitchFamily="34" charset="-122"/>
                <a:cs typeface="Times New Roman" pitchFamily="34" charset="-120"/>
              </a:rPr>
              <a:t>06 / 15</a:t>
            </a:r>
            <a:endParaRPr lang="en-US" sz="1000" dirty="0"/>
          </a:p>
        </p:txBody>
      </p:sp>
      <p:sp>
        <p:nvSpPr>
          <p:cNvPr id="5" name="Text 3"/>
          <p:cNvSpPr/>
          <p:nvPr/>
        </p:nvSpPr>
        <p:spPr>
          <a:xfrm>
            <a:off x="502920" y="4736592"/>
            <a:ext cx="2743200" cy="137160"/>
          </a:xfrm>
          <a:prstGeom prst="rect">
            <a:avLst/>
          </a:prstGeom>
          <a:noFill/>
          <a:ln/>
        </p:spPr>
        <p:txBody>
          <a:bodyPr wrap="square" lIns="0" tIns="0" rIns="0" bIns="0" rtlCol="0" anchor="ctr"/>
          <a:lstStyle/>
          <a:p>
            <a:pPr marL="0" indent="0">
              <a:buNone/>
            </a:pPr>
            <a:r>
              <a:rPr lang="en-US" sz="900" dirty="0">
                <a:solidFill>
                  <a:srgbClr val="667085"/>
                </a:solidFill>
                <a:latin typeface="Times New Roman" pitchFamily="34" charset="0"/>
                <a:ea typeface="Times New Roman" pitchFamily="34" charset="-122"/>
                <a:cs typeface="Times New Roman" pitchFamily="34" charset="-120"/>
              </a:rPr>
              <a:t>EE5003 MSc Project | Liu Chengyu</a:t>
            </a:r>
            <a:endParaRPr lang="en-US" sz="900" dirty="0"/>
          </a:p>
        </p:txBody>
      </p:sp>
      <p:sp>
        <p:nvSpPr>
          <p:cNvPr id="6" name="Text 4"/>
          <p:cNvSpPr/>
          <p:nvPr/>
        </p:nvSpPr>
        <p:spPr>
          <a:xfrm>
            <a:off x="5577840" y="4736592"/>
            <a:ext cx="3017520" cy="137160"/>
          </a:xfrm>
          <a:prstGeom prst="rect">
            <a:avLst/>
          </a:prstGeom>
          <a:noFill/>
          <a:ln/>
        </p:spPr>
        <p:txBody>
          <a:bodyPr wrap="square" lIns="0" tIns="0" rIns="0" bIns="0" rtlCol="0" anchor="ctr"/>
          <a:lstStyle/>
          <a:p>
            <a:pPr marL="0" indent="0" algn="r">
              <a:buNone/>
            </a:pPr>
            <a:r>
              <a:rPr lang="en-US" sz="900" dirty="0">
                <a:solidFill>
                  <a:srgbClr val="667085"/>
                </a:solidFill>
                <a:latin typeface="Times New Roman" pitchFamily="34" charset="0"/>
                <a:ea typeface="Times New Roman" pitchFamily="34" charset="-122"/>
                <a:cs typeface="Times New Roman" pitchFamily="34" charset="-120"/>
              </a:rPr>
              <a:t>Approximate Graph Unlearning Audit</a:t>
            </a:r>
            <a:endParaRPr lang="en-US" sz="900" dirty="0"/>
          </a:p>
        </p:txBody>
      </p:sp>
      <p:sp>
        <p:nvSpPr>
          <p:cNvPr id="7" name="Text 5"/>
          <p:cNvSpPr/>
          <p:nvPr/>
        </p:nvSpPr>
        <p:spPr>
          <a:xfrm>
            <a:off x="621792" y="768096"/>
            <a:ext cx="7406640" cy="256032"/>
          </a:xfrm>
          <a:prstGeom prst="rect">
            <a:avLst/>
          </a:prstGeom>
          <a:noFill/>
          <a:ln/>
        </p:spPr>
        <p:txBody>
          <a:bodyPr wrap="square" lIns="0" tIns="0" rIns="0" bIns="0" rtlCol="0" anchor="ctr"/>
          <a:lstStyle/>
          <a:p>
            <a:pPr marL="0" indent="0">
              <a:buNone/>
            </a:pPr>
            <a:r>
              <a:rPr lang="en-US" sz="1660" b="1" dirty="0">
                <a:solidFill>
                  <a:srgbClr val="223A5E"/>
                </a:solidFill>
                <a:latin typeface="Times New Roman" pitchFamily="34" charset="0"/>
                <a:ea typeface="Times New Roman" pitchFamily="34" charset="-122"/>
                <a:cs typeface="Times New Roman" pitchFamily="34" charset="-120"/>
              </a:rPr>
              <a:t>The attack is not only about how many nodes are deleted, but about what logic is used to choose them.</a:t>
            </a:r>
            <a:endParaRPr lang="en-US" sz="1660" dirty="0"/>
          </a:p>
        </p:txBody>
      </p:sp>
      <p:sp>
        <p:nvSpPr>
          <p:cNvPr id="8" name="Shape 6"/>
          <p:cNvSpPr/>
          <p:nvPr/>
        </p:nvSpPr>
        <p:spPr>
          <a:xfrm>
            <a:off x="713232" y="1325880"/>
            <a:ext cx="2487168" cy="2029968"/>
          </a:xfrm>
          <a:prstGeom prst="roundRect">
            <a:avLst>
              <a:gd name="adj" fmla="val 2252"/>
            </a:avLst>
          </a:prstGeom>
          <a:solidFill>
            <a:srgbClr val="FFFFFF"/>
          </a:solidFill>
          <a:ln w="13970">
            <a:solidFill>
              <a:srgbClr val="D9DEE7"/>
            </a:solidFill>
            <a:prstDash val="solid"/>
          </a:ln>
        </p:spPr>
        <p:txBody>
          <a:bodyPr/>
          <a:lstStyle/>
          <a:p>
            <a:endParaRPr lang="zh-CN" altLang="en-US"/>
          </a:p>
        </p:txBody>
      </p:sp>
      <p:sp>
        <p:nvSpPr>
          <p:cNvPr id="9" name="Text 7"/>
          <p:cNvSpPr/>
          <p:nvPr/>
        </p:nvSpPr>
        <p:spPr>
          <a:xfrm>
            <a:off x="850392" y="1490472"/>
            <a:ext cx="2212848"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TracIn / IF-style</a:t>
            </a:r>
            <a:endParaRPr lang="en-US" sz="1700" dirty="0"/>
          </a:p>
        </p:txBody>
      </p:sp>
      <p:sp>
        <p:nvSpPr>
          <p:cNvPr id="10" name="Text 8"/>
          <p:cNvSpPr/>
          <p:nvPr/>
        </p:nvSpPr>
        <p:spPr>
          <a:xfrm>
            <a:off x="850392" y="1737360"/>
            <a:ext cx="2212848" cy="1527048"/>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Model-aware logic.</a:t>
            </a: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Pick nodes with high training influence on the learned model.</a:t>
            </a:r>
            <a:endParaRPr lang="en-US" sz="1220" dirty="0"/>
          </a:p>
          <a:p>
            <a:pPr marL="0" indent="0">
              <a:buNone/>
            </a:pP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Shorthand: score(v) ≈ I_train(v)</a:t>
            </a:r>
            <a:endParaRPr lang="en-US" sz="1220" dirty="0"/>
          </a:p>
        </p:txBody>
      </p:sp>
      <p:sp>
        <p:nvSpPr>
          <p:cNvPr id="11" name="Shape 9"/>
          <p:cNvSpPr/>
          <p:nvPr/>
        </p:nvSpPr>
        <p:spPr>
          <a:xfrm>
            <a:off x="3328416" y="1325880"/>
            <a:ext cx="2487168" cy="2029968"/>
          </a:xfrm>
          <a:prstGeom prst="roundRect">
            <a:avLst>
              <a:gd name="adj" fmla="val 2252"/>
            </a:avLst>
          </a:prstGeom>
          <a:solidFill>
            <a:srgbClr val="E8EEF5"/>
          </a:solidFill>
          <a:ln w="13970">
            <a:solidFill>
              <a:srgbClr val="E8EEF5"/>
            </a:solidFill>
            <a:prstDash val="solid"/>
          </a:ln>
        </p:spPr>
        <p:txBody>
          <a:bodyPr/>
          <a:lstStyle/>
          <a:p>
            <a:endParaRPr lang="zh-CN" altLang="en-US"/>
          </a:p>
        </p:txBody>
      </p:sp>
      <p:sp>
        <p:nvSpPr>
          <p:cNvPr id="12" name="Text 10"/>
          <p:cNvSpPr/>
          <p:nvPr/>
        </p:nvSpPr>
        <p:spPr>
          <a:xfrm>
            <a:off x="3465576" y="1490472"/>
            <a:ext cx="2212848"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IM</a:t>
            </a:r>
            <a:endParaRPr lang="en-US" sz="1700" dirty="0"/>
          </a:p>
        </p:txBody>
      </p:sp>
      <p:sp>
        <p:nvSpPr>
          <p:cNvPr id="13" name="Text 11"/>
          <p:cNvSpPr/>
          <p:nvPr/>
        </p:nvSpPr>
        <p:spPr>
          <a:xfrm>
            <a:off x="3465576" y="1737360"/>
            <a:ext cx="2212848" cy="1527048"/>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Graph-structural logic.</a:t>
            </a: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Pick nodes that maximize spread or disruption in the graph.</a:t>
            </a:r>
            <a:endParaRPr lang="en-US" sz="1220" dirty="0"/>
          </a:p>
          <a:p>
            <a:pPr marL="0" indent="0">
              <a:buNone/>
            </a:pP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Shorthand: score(S) = spread(S)</a:t>
            </a:r>
            <a:endParaRPr lang="en-US" sz="1220" dirty="0"/>
          </a:p>
        </p:txBody>
      </p:sp>
      <p:sp>
        <p:nvSpPr>
          <p:cNvPr id="14" name="Shape 12"/>
          <p:cNvSpPr/>
          <p:nvPr/>
        </p:nvSpPr>
        <p:spPr>
          <a:xfrm>
            <a:off x="5943600" y="1325880"/>
            <a:ext cx="2487168" cy="2029968"/>
          </a:xfrm>
          <a:prstGeom prst="roundRect">
            <a:avLst>
              <a:gd name="adj" fmla="val 2252"/>
            </a:avLst>
          </a:prstGeom>
          <a:solidFill>
            <a:srgbClr val="FFFFFF"/>
          </a:solidFill>
          <a:ln w="13970">
            <a:solidFill>
              <a:srgbClr val="D9DEE7"/>
            </a:solidFill>
            <a:prstDash val="solid"/>
          </a:ln>
        </p:spPr>
        <p:txBody>
          <a:bodyPr/>
          <a:lstStyle/>
          <a:p>
            <a:endParaRPr lang="zh-CN" altLang="en-US"/>
          </a:p>
        </p:txBody>
      </p:sp>
      <p:sp>
        <p:nvSpPr>
          <p:cNvPr id="15" name="Text 13"/>
          <p:cNvSpPr/>
          <p:nvPr/>
        </p:nvSpPr>
        <p:spPr>
          <a:xfrm>
            <a:off x="6080760" y="1490472"/>
            <a:ext cx="2212848"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Hybrid</a:t>
            </a:r>
            <a:endParaRPr lang="en-US" sz="1700" dirty="0"/>
          </a:p>
        </p:txBody>
      </p:sp>
      <p:sp>
        <p:nvSpPr>
          <p:cNvPr id="16" name="Text 14"/>
          <p:cNvSpPr/>
          <p:nvPr/>
        </p:nvSpPr>
        <p:spPr>
          <a:xfrm>
            <a:off x="6080760" y="1737360"/>
            <a:ext cx="2212848" cy="1527048"/>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Combine model-side influence with topology-side spread to search for stronger targets.</a:t>
            </a:r>
            <a:endParaRPr lang="en-US" sz="1220" dirty="0"/>
          </a:p>
          <a:p>
            <a:pPr marL="0" indent="0">
              <a:buNone/>
            </a:pP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Shorthand: score(v) = α·z_IF(v) + (1-α)·z_IM(v)</a:t>
            </a:r>
            <a:endParaRPr lang="en-US" sz="1220" dirty="0"/>
          </a:p>
        </p:txBody>
      </p:sp>
      <p:sp>
        <p:nvSpPr>
          <p:cNvPr id="17" name="Shape 15"/>
          <p:cNvSpPr/>
          <p:nvPr/>
        </p:nvSpPr>
        <p:spPr>
          <a:xfrm>
            <a:off x="1078992" y="3803904"/>
            <a:ext cx="6912864" cy="694944"/>
          </a:xfrm>
          <a:prstGeom prst="roundRect">
            <a:avLst>
              <a:gd name="adj" fmla="val 6579"/>
            </a:avLst>
          </a:prstGeom>
          <a:solidFill>
            <a:srgbClr val="223A5E"/>
          </a:solidFill>
          <a:ln w="13970">
            <a:solidFill>
              <a:srgbClr val="223A5E"/>
            </a:solidFill>
            <a:prstDash val="solid"/>
          </a:ln>
        </p:spPr>
        <p:txBody>
          <a:bodyPr/>
          <a:lstStyle/>
          <a:p>
            <a:endParaRPr lang="zh-CN" altLang="en-US"/>
          </a:p>
        </p:txBody>
      </p:sp>
      <p:sp>
        <p:nvSpPr>
          <p:cNvPr id="18" name="Text 16"/>
          <p:cNvSpPr/>
          <p:nvPr/>
        </p:nvSpPr>
        <p:spPr>
          <a:xfrm>
            <a:off x="1216152" y="3968496"/>
            <a:ext cx="6638544" cy="182880"/>
          </a:xfrm>
          <a:prstGeom prst="rect">
            <a:avLst/>
          </a:prstGeom>
          <a:noFill/>
          <a:ln/>
        </p:spPr>
        <p:txBody>
          <a:bodyPr wrap="square" lIns="0" tIns="0" rIns="0" bIns="0" rtlCol="0" anchor="ctr"/>
          <a:lstStyle/>
          <a:p>
            <a:pPr marL="0" indent="0">
              <a:buNone/>
            </a:pPr>
            <a:r>
              <a:rPr lang="en-US" sz="1700" b="1" dirty="0">
                <a:solidFill>
                  <a:srgbClr val="F7F5F1"/>
                </a:solidFill>
                <a:latin typeface="Times New Roman" pitchFamily="34" charset="0"/>
                <a:ea typeface="Times New Roman" pitchFamily="34" charset="-122"/>
                <a:cs typeface="Times New Roman" pitchFamily="34" charset="-120"/>
              </a:rPr>
              <a:t>Reading rule</a:t>
            </a:r>
            <a:endParaRPr lang="en-US" sz="1700" dirty="0"/>
          </a:p>
        </p:txBody>
      </p:sp>
      <p:sp>
        <p:nvSpPr>
          <p:cNvPr id="19" name="Text 17"/>
          <p:cNvSpPr/>
          <p:nvPr/>
        </p:nvSpPr>
        <p:spPr>
          <a:xfrm>
            <a:off x="1216152" y="4215384"/>
            <a:ext cx="6638544" cy="192024"/>
          </a:xfrm>
          <a:prstGeom prst="rect">
            <a:avLst/>
          </a:prstGeom>
          <a:noFill/>
          <a:ln/>
        </p:spPr>
        <p:txBody>
          <a:bodyPr wrap="square" lIns="0" tIns="0" rIns="0" bIns="0" rtlCol="0" anchor="ctr">
            <a:normAutofit fontScale="62500" lnSpcReduction="20000"/>
          </a:bodyPr>
          <a:lstStyle/>
          <a:p>
            <a:pPr marL="0" indent="0">
              <a:buNone/>
            </a:pPr>
            <a:r>
              <a:rPr lang="en-US" sz="1220" dirty="0">
                <a:solidFill>
                  <a:srgbClr val="FFFFFF"/>
                </a:solidFill>
                <a:latin typeface="Times New Roman" pitchFamily="34" charset="0"/>
                <a:ea typeface="Times New Roman" pitchFamily="34" charset="-122"/>
                <a:cs typeface="Times New Roman" pitchFamily="34" charset="-120"/>
              </a:rPr>
              <a:t>Read these formulas only as intuition. The benchmark compares attacker logics: model-aware selection, graph-structural selection, and a hybrid of the two.</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223A5E"/>
          </a:solidFill>
          <a:ln w="12700">
            <a:solidFill>
              <a:srgbClr val="223A5E">
                <a:alpha val="0"/>
              </a:srgbClr>
            </a:solidFill>
            <a:prstDash val="solid"/>
          </a:ln>
        </p:spPr>
        <p:txBody>
          <a:bodyPr/>
          <a:lstStyle/>
          <a:p>
            <a:endParaRPr lang="zh-CN" altLang="en-US"/>
          </a:p>
        </p:txBody>
      </p:sp>
      <p:sp>
        <p:nvSpPr>
          <p:cNvPr id="3" name="Text 1"/>
          <p:cNvSpPr/>
          <p:nvPr/>
        </p:nvSpPr>
        <p:spPr>
          <a:xfrm>
            <a:off x="502920" y="100584"/>
            <a:ext cx="6583680" cy="219456"/>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Metrics Framework</a:t>
            </a:r>
            <a:endParaRPr lang="en-US" sz="2400" dirty="0"/>
          </a:p>
        </p:txBody>
      </p:sp>
      <p:sp>
        <p:nvSpPr>
          <p:cNvPr id="4" name="Text 2"/>
          <p:cNvSpPr/>
          <p:nvPr/>
        </p:nvSpPr>
        <p:spPr>
          <a:xfrm>
            <a:off x="7955280" y="118872"/>
            <a:ext cx="640080" cy="137160"/>
          </a:xfrm>
          <a:prstGeom prst="rect">
            <a:avLst/>
          </a:prstGeom>
          <a:noFill/>
          <a:ln/>
        </p:spPr>
        <p:txBody>
          <a:bodyPr wrap="square" lIns="0" tIns="0" rIns="0" bIns="0" rtlCol="0" anchor="ctr"/>
          <a:lstStyle/>
          <a:p>
            <a:pPr marL="0" indent="0" algn="r">
              <a:buNone/>
            </a:pPr>
            <a:r>
              <a:rPr lang="en-US" sz="1000" dirty="0">
                <a:solidFill>
                  <a:srgbClr val="F7F5F1"/>
                </a:solidFill>
                <a:latin typeface="Times New Roman" pitchFamily="34" charset="0"/>
                <a:ea typeface="Times New Roman" pitchFamily="34" charset="-122"/>
                <a:cs typeface="Times New Roman" pitchFamily="34" charset="-120"/>
              </a:rPr>
              <a:t>07 / 15</a:t>
            </a:r>
            <a:endParaRPr lang="en-US" sz="1000" dirty="0"/>
          </a:p>
        </p:txBody>
      </p:sp>
      <p:sp>
        <p:nvSpPr>
          <p:cNvPr id="5" name="Text 3"/>
          <p:cNvSpPr/>
          <p:nvPr/>
        </p:nvSpPr>
        <p:spPr>
          <a:xfrm>
            <a:off x="502920" y="4736592"/>
            <a:ext cx="2743200" cy="137160"/>
          </a:xfrm>
          <a:prstGeom prst="rect">
            <a:avLst/>
          </a:prstGeom>
          <a:noFill/>
          <a:ln/>
        </p:spPr>
        <p:txBody>
          <a:bodyPr wrap="square" lIns="0" tIns="0" rIns="0" bIns="0" rtlCol="0" anchor="ctr"/>
          <a:lstStyle/>
          <a:p>
            <a:pPr marL="0" indent="0">
              <a:buNone/>
            </a:pPr>
            <a:r>
              <a:rPr lang="en-US" sz="900" dirty="0">
                <a:solidFill>
                  <a:srgbClr val="667085"/>
                </a:solidFill>
                <a:latin typeface="Times New Roman" pitchFamily="34" charset="0"/>
                <a:ea typeface="Times New Roman" pitchFamily="34" charset="-122"/>
                <a:cs typeface="Times New Roman" pitchFamily="34" charset="-120"/>
              </a:rPr>
              <a:t>EE5003 MSc Project | Liu Chengyu</a:t>
            </a:r>
            <a:endParaRPr lang="en-US" sz="900" dirty="0"/>
          </a:p>
        </p:txBody>
      </p:sp>
      <p:sp>
        <p:nvSpPr>
          <p:cNvPr id="6" name="Text 4"/>
          <p:cNvSpPr/>
          <p:nvPr/>
        </p:nvSpPr>
        <p:spPr>
          <a:xfrm>
            <a:off x="5577840" y="4736592"/>
            <a:ext cx="3017520" cy="137160"/>
          </a:xfrm>
          <a:prstGeom prst="rect">
            <a:avLst/>
          </a:prstGeom>
          <a:noFill/>
          <a:ln/>
        </p:spPr>
        <p:txBody>
          <a:bodyPr wrap="square" lIns="0" tIns="0" rIns="0" bIns="0" rtlCol="0" anchor="ctr"/>
          <a:lstStyle/>
          <a:p>
            <a:pPr marL="0" indent="0" algn="r">
              <a:buNone/>
            </a:pPr>
            <a:r>
              <a:rPr lang="en-US" sz="900" dirty="0">
                <a:solidFill>
                  <a:srgbClr val="667085"/>
                </a:solidFill>
                <a:latin typeface="Times New Roman" pitchFamily="34" charset="0"/>
                <a:ea typeface="Times New Roman" pitchFamily="34" charset="-122"/>
                <a:cs typeface="Times New Roman" pitchFamily="34" charset="-120"/>
              </a:rPr>
              <a:t>Approximate Graph Unlearning Audit</a:t>
            </a:r>
            <a:endParaRPr lang="en-US" sz="900" dirty="0"/>
          </a:p>
        </p:txBody>
      </p:sp>
      <p:sp>
        <p:nvSpPr>
          <p:cNvPr id="7" name="Text 5"/>
          <p:cNvSpPr/>
          <p:nvPr/>
        </p:nvSpPr>
        <p:spPr>
          <a:xfrm>
            <a:off x="621792" y="768096"/>
            <a:ext cx="7406640" cy="256032"/>
          </a:xfrm>
          <a:prstGeom prst="rect">
            <a:avLst/>
          </a:prstGeom>
          <a:noFill/>
          <a:ln/>
        </p:spPr>
        <p:txBody>
          <a:bodyPr wrap="square" lIns="0" tIns="0" rIns="0" bIns="0" rtlCol="0" anchor="ctr"/>
          <a:lstStyle/>
          <a:p>
            <a:pPr marL="0" indent="0">
              <a:buNone/>
            </a:pPr>
            <a:r>
              <a:rPr lang="en-US" sz="1620" b="1" dirty="0">
                <a:solidFill>
                  <a:srgbClr val="223A5E"/>
                </a:solidFill>
                <a:latin typeface="Times New Roman" pitchFamily="34" charset="0"/>
                <a:ea typeface="Times New Roman" pitchFamily="34" charset="-122"/>
                <a:cs typeface="Times New Roman" pitchFamily="34" charset="-120"/>
              </a:rPr>
              <a:t>Three metrics answer three different questions: how much extra damage appears beyond a k=5 baseline, where it comes from, and how far it spreads.</a:t>
            </a:r>
            <a:endParaRPr lang="en-US" sz="1620" dirty="0"/>
          </a:p>
        </p:txBody>
      </p:sp>
      <p:sp>
        <p:nvSpPr>
          <p:cNvPr id="8" name="Shape 6"/>
          <p:cNvSpPr/>
          <p:nvPr/>
        </p:nvSpPr>
        <p:spPr>
          <a:xfrm>
            <a:off x="713232" y="1325880"/>
            <a:ext cx="2542032" cy="2148840"/>
          </a:xfrm>
          <a:prstGeom prst="roundRect">
            <a:avLst>
              <a:gd name="adj" fmla="val 2128"/>
            </a:avLst>
          </a:prstGeom>
          <a:solidFill>
            <a:srgbClr val="FFFFFF"/>
          </a:solidFill>
          <a:ln w="13970">
            <a:solidFill>
              <a:srgbClr val="D9DEE7"/>
            </a:solidFill>
            <a:prstDash val="solid"/>
          </a:ln>
        </p:spPr>
        <p:txBody>
          <a:bodyPr/>
          <a:lstStyle/>
          <a:p>
            <a:endParaRPr lang="zh-CN" altLang="en-US"/>
          </a:p>
        </p:txBody>
      </p:sp>
      <p:sp>
        <p:nvSpPr>
          <p:cNvPr id="9" name="Text 7"/>
          <p:cNvSpPr/>
          <p:nvPr/>
        </p:nvSpPr>
        <p:spPr>
          <a:xfrm>
            <a:off x="850392" y="1490472"/>
            <a:ext cx="2267712"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Utility</a:t>
            </a:r>
            <a:endParaRPr lang="en-US" sz="1700" dirty="0"/>
          </a:p>
        </p:txBody>
      </p:sp>
      <p:sp>
        <p:nvSpPr>
          <p:cNvPr id="10" name="Text 8"/>
          <p:cNvSpPr/>
          <p:nvPr/>
        </p:nvSpPr>
        <p:spPr>
          <a:xfrm>
            <a:off x="850392" y="1737360"/>
            <a:ext cx="2267712" cy="1645920"/>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relative_f1_drop = F1_after(k=5, random) - F1_after(attack)</a:t>
            </a:r>
            <a:endParaRPr lang="en-US" sz="1220" dirty="0"/>
          </a:p>
          <a:p>
            <a:pPr marL="0" indent="0">
              <a:buNone/>
            </a:pP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Use a tiny random-trigger baseline because raw drop can mislead on shard-based methods.</a:t>
            </a:r>
            <a:endParaRPr lang="en-US" sz="1220" dirty="0"/>
          </a:p>
        </p:txBody>
      </p:sp>
      <p:sp>
        <p:nvSpPr>
          <p:cNvPr id="11" name="Shape 9"/>
          <p:cNvSpPr/>
          <p:nvPr/>
        </p:nvSpPr>
        <p:spPr>
          <a:xfrm>
            <a:off x="3328416" y="1325880"/>
            <a:ext cx="2542032" cy="2148840"/>
          </a:xfrm>
          <a:prstGeom prst="roundRect">
            <a:avLst>
              <a:gd name="adj" fmla="val 2128"/>
            </a:avLst>
          </a:prstGeom>
          <a:solidFill>
            <a:srgbClr val="E8EEF5"/>
          </a:solidFill>
          <a:ln w="13970">
            <a:solidFill>
              <a:srgbClr val="E8EEF5"/>
            </a:solidFill>
            <a:prstDash val="solid"/>
          </a:ln>
        </p:spPr>
        <p:txBody>
          <a:bodyPr/>
          <a:lstStyle/>
          <a:p>
            <a:endParaRPr lang="zh-CN" altLang="en-US"/>
          </a:p>
        </p:txBody>
      </p:sp>
      <p:sp>
        <p:nvSpPr>
          <p:cNvPr id="12" name="Text 10"/>
          <p:cNvSpPr/>
          <p:nvPr/>
        </p:nvSpPr>
        <p:spPr>
          <a:xfrm>
            <a:off x="3465576" y="1490472"/>
            <a:ext cx="2267712"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Fidelity</a:t>
            </a:r>
            <a:endParaRPr lang="en-US" sz="1700" dirty="0"/>
          </a:p>
        </p:txBody>
      </p:sp>
      <p:sp>
        <p:nvSpPr>
          <p:cNvPr id="13" name="Text 11"/>
          <p:cNvSpPr/>
          <p:nvPr/>
        </p:nvSpPr>
        <p:spPr>
          <a:xfrm>
            <a:off x="3465576" y="1737360"/>
            <a:ext cx="2267712" cy="1645920"/>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retrain_gap = F1_retrain - F1_unlearn</a:t>
            </a:r>
            <a:endParaRPr lang="en-US" sz="1220" dirty="0"/>
          </a:p>
          <a:p>
            <a:pPr marL="0" indent="0">
              <a:buNone/>
            </a:pP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total_drop = drop_retrain + retrain_gap</a:t>
            </a:r>
            <a:endParaRPr lang="en-US" sz="1220" dirty="0"/>
          </a:p>
        </p:txBody>
      </p:sp>
      <p:sp>
        <p:nvSpPr>
          <p:cNvPr id="14" name="Shape 12"/>
          <p:cNvSpPr/>
          <p:nvPr/>
        </p:nvSpPr>
        <p:spPr>
          <a:xfrm>
            <a:off x="5943600" y="1325880"/>
            <a:ext cx="2542032" cy="2148840"/>
          </a:xfrm>
          <a:prstGeom prst="roundRect">
            <a:avLst>
              <a:gd name="adj" fmla="val 2128"/>
            </a:avLst>
          </a:prstGeom>
          <a:solidFill>
            <a:srgbClr val="FFFFFF"/>
          </a:solidFill>
          <a:ln w="13970">
            <a:solidFill>
              <a:srgbClr val="D9DEE7"/>
            </a:solidFill>
            <a:prstDash val="solid"/>
          </a:ln>
        </p:spPr>
        <p:txBody>
          <a:bodyPr/>
          <a:lstStyle/>
          <a:p>
            <a:endParaRPr lang="zh-CN" altLang="en-US"/>
          </a:p>
        </p:txBody>
      </p:sp>
      <p:sp>
        <p:nvSpPr>
          <p:cNvPr id="15" name="Text 13"/>
          <p:cNvSpPr/>
          <p:nvPr/>
        </p:nvSpPr>
        <p:spPr>
          <a:xfrm>
            <a:off x="6080760" y="1490472"/>
            <a:ext cx="2267712"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Collateral</a:t>
            </a:r>
            <a:endParaRPr lang="en-US" sz="1700" dirty="0"/>
          </a:p>
        </p:txBody>
      </p:sp>
      <p:sp>
        <p:nvSpPr>
          <p:cNvPr id="16" name="Text 14"/>
          <p:cNvSpPr/>
          <p:nvPr/>
        </p:nvSpPr>
        <p:spPr>
          <a:xfrm>
            <a:off x="6080760" y="1737360"/>
            <a:ext cx="2267712" cy="1645920"/>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fraction_flipped</a:t>
            </a: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mean_pred_shift</a:t>
            </a:r>
            <a:endParaRPr lang="en-US" sz="1220" dirty="0"/>
          </a:p>
          <a:p>
            <a:pPr marL="0" indent="0">
              <a:buNone/>
            </a:pP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These show how strongly retained nodes are disturbed.</a:t>
            </a:r>
            <a:endParaRPr lang="en-US" sz="1220" dirty="0"/>
          </a:p>
        </p:txBody>
      </p:sp>
      <p:sp>
        <p:nvSpPr>
          <p:cNvPr id="17" name="Shape 15"/>
          <p:cNvSpPr/>
          <p:nvPr/>
        </p:nvSpPr>
        <p:spPr>
          <a:xfrm>
            <a:off x="987552" y="3611880"/>
            <a:ext cx="7095744" cy="914400"/>
          </a:xfrm>
          <a:prstGeom prst="roundRect">
            <a:avLst>
              <a:gd name="adj" fmla="val 5000"/>
            </a:avLst>
          </a:prstGeom>
          <a:solidFill>
            <a:srgbClr val="223A5E"/>
          </a:solidFill>
          <a:ln w="13970">
            <a:solidFill>
              <a:srgbClr val="223A5E"/>
            </a:solidFill>
            <a:prstDash val="solid"/>
          </a:ln>
        </p:spPr>
        <p:txBody>
          <a:bodyPr/>
          <a:lstStyle/>
          <a:p>
            <a:endParaRPr lang="zh-CN" altLang="en-US"/>
          </a:p>
        </p:txBody>
      </p:sp>
      <p:sp>
        <p:nvSpPr>
          <p:cNvPr id="18" name="Text 16"/>
          <p:cNvSpPr/>
          <p:nvPr/>
        </p:nvSpPr>
        <p:spPr>
          <a:xfrm>
            <a:off x="1124712" y="3776472"/>
            <a:ext cx="6821424" cy="182880"/>
          </a:xfrm>
          <a:prstGeom prst="rect">
            <a:avLst/>
          </a:prstGeom>
          <a:noFill/>
          <a:ln/>
        </p:spPr>
        <p:txBody>
          <a:bodyPr wrap="square" lIns="0" tIns="0" rIns="0" bIns="0" rtlCol="0" anchor="ctr"/>
          <a:lstStyle/>
          <a:p>
            <a:pPr marL="0" indent="0">
              <a:buNone/>
            </a:pPr>
            <a:r>
              <a:rPr lang="en-US" sz="1700" b="1" dirty="0">
                <a:solidFill>
                  <a:srgbClr val="F7F5F1"/>
                </a:solidFill>
                <a:latin typeface="Times New Roman" pitchFamily="34" charset="0"/>
                <a:ea typeface="Times New Roman" pitchFamily="34" charset="-122"/>
                <a:cs typeface="Times New Roman" pitchFamily="34" charset="-120"/>
              </a:rPr>
              <a:t>Reading rule</a:t>
            </a:r>
            <a:endParaRPr lang="en-US" sz="1700" dirty="0"/>
          </a:p>
        </p:txBody>
      </p:sp>
      <p:sp>
        <p:nvSpPr>
          <p:cNvPr id="19" name="Text 17"/>
          <p:cNvSpPr/>
          <p:nvPr/>
        </p:nvSpPr>
        <p:spPr>
          <a:xfrm>
            <a:off x="1124712" y="4023360"/>
            <a:ext cx="6821424" cy="411480"/>
          </a:xfrm>
          <a:prstGeom prst="rect">
            <a:avLst/>
          </a:prstGeom>
          <a:noFill/>
          <a:ln/>
        </p:spPr>
        <p:txBody>
          <a:bodyPr wrap="square" lIns="0" tIns="0" rIns="0" bIns="0" rtlCol="0" anchor="ctr">
            <a:normAutofit fontScale="92500"/>
          </a:bodyPr>
          <a:lstStyle/>
          <a:p>
            <a:pPr marL="0" indent="0">
              <a:buNone/>
            </a:pPr>
            <a:r>
              <a:rPr lang="en-US" sz="1220" dirty="0">
                <a:solidFill>
                  <a:srgbClr val="FFFFFF"/>
                </a:solidFill>
                <a:latin typeface="Times New Roman" pitchFamily="34" charset="0"/>
                <a:ea typeface="Times New Roman" pitchFamily="34" charset="-122"/>
                <a:cs typeface="Times New Roman" pitchFamily="34" charset="-120"/>
              </a:rPr>
              <a:t>First trigger each method with a tiny random deletion, k=5, and use that post-unlearning F1 as the reference point. Then compare stronger attacks against that baseline; retrain_gap and collateral metrics explain why the utility changes appear.</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223A5E"/>
          </a:solidFill>
          <a:ln w="12700">
            <a:solidFill>
              <a:srgbClr val="223A5E">
                <a:alpha val="0"/>
              </a:srgbClr>
            </a:solidFill>
            <a:prstDash val="solid"/>
          </a:ln>
        </p:spPr>
        <p:txBody>
          <a:bodyPr/>
          <a:lstStyle/>
          <a:p>
            <a:endParaRPr lang="zh-CN" altLang="en-US"/>
          </a:p>
        </p:txBody>
      </p:sp>
      <p:sp>
        <p:nvSpPr>
          <p:cNvPr id="3" name="Text 1"/>
          <p:cNvSpPr/>
          <p:nvPr/>
        </p:nvSpPr>
        <p:spPr>
          <a:xfrm>
            <a:off x="502920" y="100584"/>
            <a:ext cx="6583680" cy="219456"/>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Main Finding: Family Spectrum</a:t>
            </a:r>
            <a:endParaRPr lang="en-US" sz="2400" dirty="0"/>
          </a:p>
        </p:txBody>
      </p:sp>
      <p:sp>
        <p:nvSpPr>
          <p:cNvPr id="4" name="Text 2"/>
          <p:cNvSpPr/>
          <p:nvPr/>
        </p:nvSpPr>
        <p:spPr>
          <a:xfrm>
            <a:off x="7955280" y="118872"/>
            <a:ext cx="640080" cy="137160"/>
          </a:xfrm>
          <a:prstGeom prst="rect">
            <a:avLst/>
          </a:prstGeom>
          <a:noFill/>
          <a:ln/>
        </p:spPr>
        <p:txBody>
          <a:bodyPr wrap="square" lIns="0" tIns="0" rIns="0" bIns="0" rtlCol="0" anchor="ctr"/>
          <a:lstStyle/>
          <a:p>
            <a:pPr marL="0" indent="0" algn="r">
              <a:buNone/>
            </a:pPr>
            <a:r>
              <a:rPr lang="en-US" sz="1000" dirty="0">
                <a:solidFill>
                  <a:srgbClr val="F7F5F1"/>
                </a:solidFill>
                <a:latin typeface="Times New Roman" pitchFamily="34" charset="0"/>
                <a:ea typeface="Times New Roman" pitchFamily="34" charset="-122"/>
                <a:cs typeface="Times New Roman" pitchFamily="34" charset="-120"/>
              </a:rPr>
              <a:t>08 / 15</a:t>
            </a:r>
            <a:endParaRPr lang="en-US" sz="1000" dirty="0"/>
          </a:p>
        </p:txBody>
      </p:sp>
      <p:sp>
        <p:nvSpPr>
          <p:cNvPr id="5" name="Text 3"/>
          <p:cNvSpPr/>
          <p:nvPr/>
        </p:nvSpPr>
        <p:spPr>
          <a:xfrm>
            <a:off x="502920" y="4736592"/>
            <a:ext cx="2743200" cy="137160"/>
          </a:xfrm>
          <a:prstGeom prst="rect">
            <a:avLst/>
          </a:prstGeom>
          <a:noFill/>
          <a:ln/>
        </p:spPr>
        <p:txBody>
          <a:bodyPr wrap="square" lIns="0" tIns="0" rIns="0" bIns="0" rtlCol="0" anchor="ctr"/>
          <a:lstStyle/>
          <a:p>
            <a:pPr marL="0" indent="0">
              <a:buNone/>
            </a:pPr>
            <a:r>
              <a:rPr lang="en-US" sz="900" dirty="0">
                <a:solidFill>
                  <a:srgbClr val="667085"/>
                </a:solidFill>
                <a:latin typeface="Times New Roman" pitchFamily="34" charset="0"/>
                <a:ea typeface="Times New Roman" pitchFamily="34" charset="-122"/>
                <a:cs typeface="Times New Roman" pitchFamily="34" charset="-120"/>
              </a:rPr>
              <a:t>EE5003 MSc Project | Liu Chengyu</a:t>
            </a:r>
            <a:endParaRPr lang="en-US" sz="900" dirty="0"/>
          </a:p>
        </p:txBody>
      </p:sp>
      <p:sp>
        <p:nvSpPr>
          <p:cNvPr id="6" name="Text 4"/>
          <p:cNvSpPr/>
          <p:nvPr/>
        </p:nvSpPr>
        <p:spPr>
          <a:xfrm>
            <a:off x="5577840" y="4736592"/>
            <a:ext cx="3017520" cy="137160"/>
          </a:xfrm>
          <a:prstGeom prst="rect">
            <a:avLst/>
          </a:prstGeom>
          <a:noFill/>
          <a:ln/>
        </p:spPr>
        <p:txBody>
          <a:bodyPr wrap="square" lIns="0" tIns="0" rIns="0" bIns="0" rtlCol="0" anchor="ctr"/>
          <a:lstStyle/>
          <a:p>
            <a:pPr marL="0" indent="0" algn="r">
              <a:buNone/>
            </a:pPr>
            <a:r>
              <a:rPr lang="en-US" sz="900" dirty="0">
                <a:solidFill>
                  <a:srgbClr val="667085"/>
                </a:solidFill>
                <a:latin typeface="Times New Roman" pitchFamily="34" charset="0"/>
                <a:ea typeface="Times New Roman" pitchFamily="34" charset="-122"/>
                <a:cs typeface="Times New Roman" pitchFamily="34" charset="-120"/>
              </a:rPr>
              <a:t>Approximate Graph Unlearning Audit</a:t>
            </a:r>
            <a:endParaRPr lang="en-US" sz="900" dirty="0"/>
          </a:p>
        </p:txBody>
      </p:sp>
      <p:pic>
        <p:nvPicPr>
          <p:cNvPr id="7" name="Image 0" descr="H:\project\OpenGU\GULib-master\report\0417_5003report\figures\paper_figures\FIG-1_Generalization.png"/>
          <p:cNvPicPr>
            <a:picLocks noChangeAspect="1"/>
          </p:cNvPicPr>
          <p:nvPr/>
        </p:nvPicPr>
        <p:blipFill>
          <a:blip r:embed="rId3"/>
          <a:stretch>
            <a:fillRect/>
          </a:stretch>
        </p:blipFill>
        <p:spPr>
          <a:xfrm>
            <a:off x="548640" y="914400"/>
            <a:ext cx="4983480" cy="3154680"/>
          </a:xfrm>
          <a:prstGeom prst="rect">
            <a:avLst/>
          </a:prstGeom>
        </p:spPr>
      </p:pic>
      <p:sp>
        <p:nvSpPr>
          <p:cNvPr id="8" name="Text 5"/>
          <p:cNvSpPr/>
          <p:nvPr/>
        </p:nvSpPr>
        <p:spPr>
          <a:xfrm>
            <a:off x="566928" y="4187952"/>
            <a:ext cx="4937760" cy="146304"/>
          </a:xfrm>
          <a:prstGeom prst="rect">
            <a:avLst/>
          </a:prstGeom>
          <a:noFill/>
          <a:ln/>
        </p:spPr>
        <p:txBody>
          <a:bodyPr wrap="square" lIns="0" tIns="0" rIns="0" bIns="0" rtlCol="0" anchor="ctr"/>
          <a:lstStyle/>
          <a:p>
            <a:pPr marL="0" indent="0">
              <a:buNone/>
            </a:pPr>
            <a:r>
              <a:rPr lang="en-US" sz="900" i="1" dirty="0">
                <a:solidFill>
                  <a:srgbClr val="667085"/>
                </a:solidFill>
                <a:latin typeface="Times New Roman" pitchFamily="34" charset="0"/>
                <a:ea typeface="Times New Roman" pitchFamily="34" charset="-122"/>
                <a:cs typeface="Times New Roman" pitchFamily="34" charset="-120"/>
              </a:rPr>
              <a:t>Figure 1. Family-level spectrum using relative F1 drop at ratio = 0.05.</a:t>
            </a:r>
            <a:endParaRPr lang="en-US" sz="900" dirty="0"/>
          </a:p>
        </p:txBody>
      </p:sp>
      <p:sp>
        <p:nvSpPr>
          <p:cNvPr id="9" name="Shape 6"/>
          <p:cNvSpPr/>
          <p:nvPr/>
        </p:nvSpPr>
        <p:spPr>
          <a:xfrm>
            <a:off x="5650992" y="1504188"/>
            <a:ext cx="2788920" cy="914400"/>
          </a:xfrm>
          <a:prstGeom prst="roundRect">
            <a:avLst>
              <a:gd name="adj" fmla="val 5000"/>
            </a:avLst>
          </a:prstGeom>
          <a:solidFill>
            <a:srgbClr val="223A5E"/>
          </a:solidFill>
          <a:ln w="13970">
            <a:solidFill>
              <a:srgbClr val="223A5E"/>
            </a:solidFill>
            <a:prstDash val="solid"/>
          </a:ln>
        </p:spPr>
        <p:txBody>
          <a:bodyPr/>
          <a:lstStyle/>
          <a:p>
            <a:endParaRPr lang="zh-CN" altLang="en-US"/>
          </a:p>
        </p:txBody>
      </p:sp>
      <p:sp>
        <p:nvSpPr>
          <p:cNvPr id="10" name="Text 7"/>
          <p:cNvSpPr/>
          <p:nvPr/>
        </p:nvSpPr>
        <p:spPr>
          <a:xfrm>
            <a:off x="5788152" y="1668780"/>
            <a:ext cx="2514600" cy="182880"/>
          </a:xfrm>
          <a:prstGeom prst="rect">
            <a:avLst/>
          </a:prstGeom>
          <a:noFill/>
          <a:ln/>
        </p:spPr>
        <p:txBody>
          <a:bodyPr wrap="square" lIns="0" tIns="0" rIns="0" bIns="0" rtlCol="0" anchor="ctr"/>
          <a:lstStyle/>
          <a:p>
            <a:pPr marL="0" indent="0">
              <a:buNone/>
            </a:pPr>
            <a:r>
              <a:rPr lang="en-US" sz="1700" b="1" dirty="0">
                <a:solidFill>
                  <a:srgbClr val="F7F5F1"/>
                </a:solidFill>
                <a:latin typeface="Times New Roman" pitchFamily="34" charset="0"/>
                <a:ea typeface="Times New Roman" pitchFamily="34" charset="-122"/>
                <a:cs typeface="Times New Roman" pitchFamily="34" charset="-120"/>
              </a:rPr>
              <a:t>Core read</a:t>
            </a:r>
            <a:endParaRPr lang="en-US" sz="1700" dirty="0"/>
          </a:p>
        </p:txBody>
      </p:sp>
      <p:sp>
        <p:nvSpPr>
          <p:cNvPr id="11" name="Text 8"/>
          <p:cNvSpPr/>
          <p:nvPr/>
        </p:nvSpPr>
        <p:spPr>
          <a:xfrm>
            <a:off x="5788152" y="1915668"/>
            <a:ext cx="2514600" cy="411480"/>
          </a:xfrm>
          <a:prstGeom prst="rect">
            <a:avLst/>
          </a:prstGeom>
          <a:noFill/>
          <a:ln/>
        </p:spPr>
        <p:txBody>
          <a:bodyPr wrap="square" lIns="0" tIns="0" rIns="0" bIns="0" rtlCol="0" anchor="ctr">
            <a:normAutofit fontScale="92500" lnSpcReduction="20000"/>
          </a:bodyPr>
          <a:lstStyle/>
          <a:p>
            <a:pPr marL="0" indent="0">
              <a:buNone/>
            </a:pPr>
            <a:r>
              <a:rPr lang="en-US" sz="1220" dirty="0">
                <a:solidFill>
                  <a:srgbClr val="FFFFFF"/>
                </a:solidFill>
                <a:latin typeface="Times New Roman" pitchFamily="34" charset="0"/>
                <a:ea typeface="Times New Roman" pitchFamily="34" charset="-122"/>
                <a:cs typeface="Times New Roman" pitchFamily="34" charset="-120"/>
              </a:rPr>
              <a:t>Relative_f1_drop reveals a family-level vulnerability spectrum rather than one shared failure pattern.</a:t>
            </a:r>
            <a:endParaRPr lang="en-US" sz="1220" dirty="0"/>
          </a:p>
        </p:txBody>
      </p:sp>
      <p:sp>
        <p:nvSpPr>
          <p:cNvPr id="12" name="Shape 9"/>
          <p:cNvSpPr/>
          <p:nvPr/>
        </p:nvSpPr>
        <p:spPr>
          <a:xfrm>
            <a:off x="5650992" y="2958084"/>
            <a:ext cx="2788920" cy="960120"/>
          </a:xfrm>
          <a:prstGeom prst="roundRect">
            <a:avLst>
              <a:gd name="adj" fmla="val 4762"/>
            </a:avLst>
          </a:prstGeom>
          <a:solidFill>
            <a:srgbClr val="FFFFFF"/>
          </a:solidFill>
          <a:ln w="13970">
            <a:solidFill>
              <a:srgbClr val="D9DEE7"/>
            </a:solidFill>
            <a:prstDash val="solid"/>
          </a:ln>
        </p:spPr>
        <p:txBody>
          <a:bodyPr/>
          <a:lstStyle/>
          <a:p>
            <a:endParaRPr lang="zh-CN" altLang="en-US"/>
          </a:p>
        </p:txBody>
      </p:sp>
      <p:sp>
        <p:nvSpPr>
          <p:cNvPr id="13" name="Text 10"/>
          <p:cNvSpPr/>
          <p:nvPr/>
        </p:nvSpPr>
        <p:spPr>
          <a:xfrm>
            <a:off x="5788152" y="3122676"/>
            <a:ext cx="2514600" cy="182880"/>
          </a:xfrm>
          <a:prstGeom prst="rect">
            <a:avLst/>
          </a:prstGeom>
          <a:noFill/>
          <a:ln/>
        </p:spPr>
        <p:txBody>
          <a:bodyPr wrap="square" lIns="0" tIns="0" rIns="0" bIns="0" rtlCol="0" anchor="ctr"/>
          <a:lstStyle/>
          <a:p>
            <a:pPr marL="0" indent="0">
              <a:buNone/>
            </a:pPr>
            <a:r>
              <a:rPr lang="en-US" sz="1700" b="1" dirty="0">
                <a:solidFill>
                  <a:srgbClr val="A6404B"/>
                </a:solidFill>
                <a:latin typeface="Times New Roman" pitchFamily="34" charset="0"/>
                <a:ea typeface="Times New Roman" pitchFamily="34" charset="-122"/>
                <a:cs typeface="Times New Roman" pitchFamily="34" charset="-120"/>
              </a:rPr>
              <a:t>Family readout</a:t>
            </a:r>
            <a:endParaRPr lang="en-US" sz="1700" dirty="0"/>
          </a:p>
        </p:txBody>
      </p:sp>
      <p:sp>
        <p:nvSpPr>
          <p:cNvPr id="14" name="Text 11"/>
          <p:cNvSpPr/>
          <p:nvPr/>
        </p:nvSpPr>
        <p:spPr>
          <a:xfrm>
            <a:off x="5788152" y="3369564"/>
            <a:ext cx="2514600" cy="457200"/>
          </a:xfrm>
          <a:prstGeom prst="rect">
            <a:avLst/>
          </a:prstGeom>
          <a:noFill/>
          <a:ln/>
        </p:spPr>
        <p:txBody>
          <a:bodyPr wrap="square" lIns="0" tIns="0" rIns="0" bIns="0" rtlCol="0" anchor="ctr">
            <a:normAutofit fontScale="92500" lnSpcReduction="10000"/>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GNNDelete highest.</a:t>
            </a: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GIF comparatively stable.</a:t>
            </a:r>
            <a:endParaRPr lang="en-US" sz="1220" dirty="0"/>
          </a:p>
          <a:p>
            <a:pPr marL="0" indent="0">
              <a:buNone/>
            </a:pPr>
            <a:r>
              <a:rPr lang="en-US" sz="1220" dirty="0">
                <a:solidFill>
                  <a:srgbClr val="1E2630"/>
                </a:solidFill>
                <a:latin typeface="Times New Roman" pitchFamily="34" charset="0"/>
                <a:ea typeface="Times New Roman" pitchFamily="34" charset="-122"/>
                <a:cs typeface="Times New Roman" pitchFamily="34" charset="-120"/>
              </a:rPr>
              <a:t>GraphEraser shows shard protection.</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223A5E"/>
          </a:solidFill>
          <a:ln w="12700">
            <a:solidFill>
              <a:srgbClr val="223A5E">
                <a:alpha val="0"/>
              </a:srgbClr>
            </a:solidFill>
            <a:prstDash val="solid"/>
          </a:ln>
        </p:spPr>
        <p:txBody>
          <a:bodyPr/>
          <a:lstStyle/>
          <a:p>
            <a:endParaRPr lang="zh-CN" altLang="en-US"/>
          </a:p>
        </p:txBody>
      </p:sp>
      <p:sp>
        <p:nvSpPr>
          <p:cNvPr id="3" name="Text 1"/>
          <p:cNvSpPr/>
          <p:nvPr/>
        </p:nvSpPr>
        <p:spPr>
          <a:xfrm>
            <a:off x="502920" y="100584"/>
            <a:ext cx="6583680" cy="219456"/>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Main Finding: Strategy Spectrum</a:t>
            </a:r>
            <a:endParaRPr lang="en-US" sz="2400" dirty="0"/>
          </a:p>
        </p:txBody>
      </p:sp>
      <p:sp>
        <p:nvSpPr>
          <p:cNvPr id="4" name="Text 2"/>
          <p:cNvSpPr/>
          <p:nvPr/>
        </p:nvSpPr>
        <p:spPr>
          <a:xfrm>
            <a:off x="7955280" y="118872"/>
            <a:ext cx="640080" cy="137160"/>
          </a:xfrm>
          <a:prstGeom prst="rect">
            <a:avLst/>
          </a:prstGeom>
          <a:noFill/>
          <a:ln/>
        </p:spPr>
        <p:txBody>
          <a:bodyPr wrap="square" lIns="0" tIns="0" rIns="0" bIns="0" rtlCol="0" anchor="ctr"/>
          <a:lstStyle/>
          <a:p>
            <a:pPr marL="0" indent="0" algn="r">
              <a:buNone/>
            </a:pPr>
            <a:r>
              <a:rPr lang="en-US" sz="1000" dirty="0">
                <a:solidFill>
                  <a:srgbClr val="F7F5F1"/>
                </a:solidFill>
                <a:latin typeface="Times New Roman" pitchFamily="34" charset="0"/>
                <a:ea typeface="Times New Roman" pitchFamily="34" charset="-122"/>
                <a:cs typeface="Times New Roman" pitchFamily="34" charset="-120"/>
              </a:rPr>
              <a:t>09 / 15</a:t>
            </a:r>
            <a:endParaRPr lang="en-US" sz="1000" dirty="0"/>
          </a:p>
        </p:txBody>
      </p:sp>
      <p:sp>
        <p:nvSpPr>
          <p:cNvPr id="5" name="Text 3"/>
          <p:cNvSpPr/>
          <p:nvPr/>
        </p:nvSpPr>
        <p:spPr>
          <a:xfrm>
            <a:off x="502920" y="4736592"/>
            <a:ext cx="2743200" cy="137160"/>
          </a:xfrm>
          <a:prstGeom prst="rect">
            <a:avLst/>
          </a:prstGeom>
          <a:noFill/>
          <a:ln/>
        </p:spPr>
        <p:txBody>
          <a:bodyPr wrap="square" lIns="0" tIns="0" rIns="0" bIns="0" rtlCol="0" anchor="ctr"/>
          <a:lstStyle/>
          <a:p>
            <a:pPr marL="0" indent="0">
              <a:buNone/>
            </a:pPr>
            <a:r>
              <a:rPr lang="en-US" sz="900" dirty="0">
                <a:solidFill>
                  <a:srgbClr val="667085"/>
                </a:solidFill>
                <a:latin typeface="Times New Roman" pitchFamily="34" charset="0"/>
                <a:ea typeface="Times New Roman" pitchFamily="34" charset="-122"/>
                <a:cs typeface="Times New Roman" pitchFamily="34" charset="-120"/>
              </a:rPr>
              <a:t>EE5003 MSc Project | Liu Chengyu</a:t>
            </a:r>
            <a:endParaRPr lang="en-US" sz="900" dirty="0"/>
          </a:p>
        </p:txBody>
      </p:sp>
      <p:sp>
        <p:nvSpPr>
          <p:cNvPr id="6" name="Text 4"/>
          <p:cNvSpPr/>
          <p:nvPr/>
        </p:nvSpPr>
        <p:spPr>
          <a:xfrm>
            <a:off x="5577840" y="4736592"/>
            <a:ext cx="3017520" cy="137160"/>
          </a:xfrm>
          <a:prstGeom prst="rect">
            <a:avLst/>
          </a:prstGeom>
          <a:noFill/>
          <a:ln/>
        </p:spPr>
        <p:txBody>
          <a:bodyPr wrap="square" lIns="0" tIns="0" rIns="0" bIns="0" rtlCol="0" anchor="ctr"/>
          <a:lstStyle/>
          <a:p>
            <a:pPr marL="0" indent="0" algn="r">
              <a:buNone/>
            </a:pPr>
            <a:r>
              <a:rPr lang="en-US" sz="900" dirty="0">
                <a:solidFill>
                  <a:srgbClr val="667085"/>
                </a:solidFill>
                <a:latin typeface="Times New Roman" pitchFamily="34" charset="0"/>
                <a:ea typeface="Times New Roman" pitchFamily="34" charset="-122"/>
                <a:cs typeface="Times New Roman" pitchFamily="34" charset="-120"/>
              </a:rPr>
              <a:t>Approximate Graph Unlearning Audit</a:t>
            </a:r>
            <a:endParaRPr lang="en-US" sz="900" dirty="0"/>
          </a:p>
        </p:txBody>
      </p:sp>
      <p:pic>
        <p:nvPicPr>
          <p:cNvPr id="7" name="Image 0" descr="H:\project\OpenGU\GULib-master\report\0417_5003report\figures\paper_figures\FIG-3_Spectrum.png"/>
          <p:cNvPicPr>
            <a:picLocks noChangeAspect="1"/>
          </p:cNvPicPr>
          <p:nvPr/>
        </p:nvPicPr>
        <p:blipFill>
          <a:blip r:embed="rId3"/>
          <a:stretch>
            <a:fillRect/>
          </a:stretch>
        </p:blipFill>
        <p:spPr>
          <a:xfrm>
            <a:off x="658368" y="932688"/>
            <a:ext cx="7818120" cy="3566160"/>
          </a:xfrm>
          <a:prstGeom prst="rect">
            <a:avLst/>
          </a:prstGeom>
        </p:spPr>
      </p:pic>
      <p:sp>
        <p:nvSpPr>
          <p:cNvPr id="8" name="Text 5"/>
          <p:cNvSpPr/>
          <p:nvPr/>
        </p:nvSpPr>
        <p:spPr>
          <a:xfrm>
            <a:off x="713232" y="4590288"/>
            <a:ext cx="7543800" cy="146304"/>
          </a:xfrm>
          <a:prstGeom prst="rect">
            <a:avLst/>
          </a:prstGeom>
          <a:noFill/>
          <a:ln/>
        </p:spPr>
        <p:txBody>
          <a:bodyPr wrap="square" lIns="0" tIns="0" rIns="0" bIns="0" rtlCol="0" anchor="ctr"/>
          <a:lstStyle/>
          <a:p>
            <a:pPr marL="0" indent="0">
              <a:buNone/>
            </a:pPr>
            <a:r>
              <a:rPr lang="en-US" sz="900" i="1" dirty="0">
                <a:solidFill>
                  <a:srgbClr val="667085"/>
                </a:solidFill>
                <a:latin typeface="Times New Roman" pitchFamily="34" charset="0"/>
                <a:ea typeface="Times New Roman" pitchFamily="34" charset="-122"/>
                <a:cs typeface="Times New Roman" pitchFamily="34" charset="-120"/>
              </a:rPr>
              <a:t>Full Figure 3. Strategy comparison in relative_f1_drop at ratio = 0.05 using the k=5 baseline.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223A5E"/>
          </a:solidFill>
          <a:ln w="12700">
            <a:solidFill>
              <a:srgbClr val="223A5E">
                <a:alpha val="0"/>
              </a:srgbClr>
            </a:solidFill>
            <a:prstDash val="solid"/>
          </a:ln>
        </p:spPr>
        <p:txBody>
          <a:bodyPr/>
          <a:lstStyle/>
          <a:p>
            <a:endParaRPr lang="zh-CN" altLang="en-US"/>
          </a:p>
        </p:txBody>
      </p:sp>
      <p:sp>
        <p:nvSpPr>
          <p:cNvPr id="3" name="Text 1"/>
          <p:cNvSpPr/>
          <p:nvPr/>
        </p:nvSpPr>
        <p:spPr>
          <a:xfrm>
            <a:off x="502920" y="100584"/>
            <a:ext cx="6583680" cy="219456"/>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Ratio Sensitivity And Ablation</a:t>
            </a:r>
            <a:endParaRPr lang="en-US" sz="2400" dirty="0"/>
          </a:p>
        </p:txBody>
      </p:sp>
      <p:sp>
        <p:nvSpPr>
          <p:cNvPr id="4" name="Text 2"/>
          <p:cNvSpPr/>
          <p:nvPr/>
        </p:nvSpPr>
        <p:spPr>
          <a:xfrm>
            <a:off x="7955280" y="118872"/>
            <a:ext cx="640080" cy="137160"/>
          </a:xfrm>
          <a:prstGeom prst="rect">
            <a:avLst/>
          </a:prstGeom>
          <a:noFill/>
          <a:ln/>
        </p:spPr>
        <p:txBody>
          <a:bodyPr wrap="square" lIns="0" tIns="0" rIns="0" bIns="0" rtlCol="0" anchor="ctr"/>
          <a:lstStyle/>
          <a:p>
            <a:pPr marL="0" indent="0" algn="r">
              <a:buNone/>
            </a:pPr>
            <a:r>
              <a:rPr lang="en-US" sz="1000" dirty="0">
                <a:solidFill>
                  <a:srgbClr val="F7F5F1"/>
                </a:solidFill>
                <a:latin typeface="Times New Roman" pitchFamily="34" charset="0"/>
                <a:ea typeface="Times New Roman" pitchFamily="34" charset="-122"/>
                <a:cs typeface="Times New Roman" pitchFamily="34" charset="-120"/>
              </a:rPr>
              <a:t>10 / 15</a:t>
            </a:r>
            <a:endParaRPr lang="en-US" sz="1000" dirty="0"/>
          </a:p>
        </p:txBody>
      </p:sp>
      <p:sp>
        <p:nvSpPr>
          <p:cNvPr id="5" name="Text 3"/>
          <p:cNvSpPr/>
          <p:nvPr/>
        </p:nvSpPr>
        <p:spPr>
          <a:xfrm>
            <a:off x="502920" y="4736592"/>
            <a:ext cx="2743200" cy="137160"/>
          </a:xfrm>
          <a:prstGeom prst="rect">
            <a:avLst/>
          </a:prstGeom>
          <a:noFill/>
          <a:ln/>
        </p:spPr>
        <p:txBody>
          <a:bodyPr wrap="square" lIns="0" tIns="0" rIns="0" bIns="0" rtlCol="0" anchor="ctr"/>
          <a:lstStyle/>
          <a:p>
            <a:pPr marL="0" indent="0">
              <a:buNone/>
            </a:pPr>
            <a:r>
              <a:rPr lang="en-US" sz="900" dirty="0">
                <a:solidFill>
                  <a:srgbClr val="667085"/>
                </a:solidFill>
                <a:latin typeface="Times New Roman" pitchFamily="34" charset="0"/>
                <a:ea typeface="Times New Roman" pitchFamily="34" charset="-122"/>
                <a:cs typeface="Times New Roman" pitchFamily="34" charset="-120"/>
              </a:rPr>
              <a:t>EE5003 MSc Project | Liu Chengyu</a:t>
            </a:r>
            <a:endParaRPr lang="en-US" sz="900" dirty="0"/>
          </a:p>
        </p:txBody>
      </p:sp>
      <p:sp>
        <p:nvSpPr>
          <p:cNvPr id="6" name="Text 4"/>
          <p:cNvSpPr/>
          <p:nvPr/>
        </p:nvSpPr>
        <p:spPr>
          <a:xfrm>
            <a:off x="5577840" y="4736592"/>
            <a:ext cx="3017520" cy="137160"/>
          </a:xfrm>
          <a:prstGeom prst="rect">
            <a:avLst/>
          </a:prstGeom>
          <a:noFill/>
          <a:ln/>
        </p:spPr>
        <p:txBody>
          <a:bodyPr wrap="square" lIns="0" tIns="0" rIns="0" bIns="0" rtlCol="0" anchor="ctr"/>
          <a:lstStyle/>
          <a:p>
            <a:pPr marL="0" indent="0" algn="r">
              <a:buNone/>
            </a:pPr>
            <a:r>
              <a:rPr lang="en-US" sz="900" dirty="0">
                <a:solidFill>
                  <a:srgbClr val="667085"/>
                </a:solidFill>
                <a:latin typeface="Times New Roman" pitchFamily="34" charset="0"/>
                <a:ea typeface="Times New Roman" pitchFamily="34" charset="-122"/>
                <a:cs typeface="Times New Roman" pitchFamily="34" charset="-120"/>
              </a:rPr>
              <a:t>Approximate Graph Unlearning Audit</a:t>
            </a:r>
            <a:endParaRPr lang="en-US" sz="900" dirty="0"/>
          </a:p>
        </p:txBody>
      </p:sp>
      <p:pic>
        <p:nvPicPr>
          <p:cNvPr id="7" name="Image 0" descr="H:\project\OpenGU\GULib-master\report\0417_5003report\figures\paper_figures\FIG-2_Scaling.png"/>
          <p:cNvPicPr>
            <a:picLocks noChangeAspect="1"/>
          </p:cNvPicPr>
          <p:nvPr/>
        </p:nvPicPr>
        <p:blipFill>
          <a:blip r:embed="rId3"/>
          <a:stretch>
            <a:fillRect/>
          </a:stretch>
        </p:blipFill>
        <p:spPr>
          <a:xfrm>
            <a:off x="566928" y="914400"/>
            <a:ext cx="5257800" cy="3291840"/>
          </a:xfrm>
          <a:prstGeom prst="rect">
            <a:avLst/>
          </a:prstGeom>
        </p:spPr>
      </p:pic>
      <p:sp>
        <p:nvSpPr>
          <p:cNvPr id="8" name="Text 5"/>
          <p:cNvSpPr/>
          <p:nvPr/>
        </p:nvSpPr>
        <p:spPr>
          <a:xfrm>
            <a:off x="585216" y="4297680"/>
            <a:ext cx="5212080" cy="146304"/>
          </a:xfrm>
          <a:prstGeom prst="rect">
            <a:avLst/>
          </a:prstGeom>
          <a:noFill/>
          <a:ln/>
        </p:spPr>
        <p:txBody>
          <a:bodyPr wrap="square" lIns="0" tIns="0" rIns="0" bIns="0" rtlCol="0" anchor="ctr"/>
          <a:lstStyle/>
          <a:p>
            <a:pPr marL="0" indent="0">
              <a:buNone/>
            </a:pPr>
            <a:r>
              <a:rPr lang="en-US" sz="900" i="1" dirty="0">
                <a:solidFill>
                  <a:srgbClr val="667085"/>
                </a:solidFill>
                <a:latin typeface="Times New Roman" pitchFamily="34" charset="0"/>
                <a:ea typeface="Times New Roman" pitchFamily="34" charset="-122"/>
                <a:cs typeface="Times New Roman" pitchFamily="34" charset="-120"/>
              </a:rPr>
              <a:t>Figure 2. Ratio-sensitivity view for GIF and GNNDelete on Cora/GCN.</a:t>
            </a:r>
            <a:endParaRPr lang="en-US" sz="900" dirty="0"/>
          </a:p>
        </p:txBody>
      </p:sp>
      <p:sp>
        <p:nvSpPr>
          <p:cNvPr id="9" name="Shape 6"/>
          <p:cNvSpPr/>
          <p:nvPr/>
        </p:nvSpPr>
        <p:spPr>
          <a:xfrm>
            <a:off x="6016752" y="960120"/>
            <a:ext cx="2359152" cy="1005840"/>
          </a:xfrm>
          <a:prstGeom prst="roundRect">
            <a:avLst>
              <a:gd name="adj" fmla="val 4545"/>
            </a:avLst>
          </a:prstGeom>
          <a:solidFill>
            <a:srgbClr val="FFFFFF"/>
          </a:solidFill>
          <a:ln w="13970">
            <a:solidFill>
              <a:srgbClr val="D9DEE7"/>
            </a:solidFill>
            <a:prstDash val="solid"/>
          </a:ln>
        </p:spPr>
        <p:txBody>
          <a:bodyPr/>
          <a:lstStyle/>
          <a:p>
            <a:endParaRPr lang="zh-CN" altLang="en-US"/>
          </a:p>
        </p:txBody>
      </p:sp>
      <p:sp>
        <p:nvSpPr>
          <p:cNvPr id="10" name="Text 7"/>
          <p:cNvSpPr/>
          <p:nvPr/>
        </p:nvSpPr>
        <p:spPr>
          <a:xfrm>
            <a:off x="6153912" y="1124712"/>
            <a:ext cx="2084832"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Ablation read</a:t>
            </a:r>
            <a:endParaRPr lang="en-US" sz="1700" dirty="0"/>
          </a:p>
        </p:txBody>
      </p:sp>
      <p:sp>
        <p:nvSpPr>
          <p:cNvPr id="11" name="Text 8"/>
          <p:cNvSpPr/>
          <p:nvPr/>
        </p:nvSpPr>
        <p:spPr>
          <a:xfrm>
            <a:off x="6153912" y="1371600"/>
            <a:ext cx="2084832" cy="502920"/>
          </a:xfrm>
          <a:prstGeom prst="rect">
            <a:avLst/>
          </a:prstGeom>
          <a:noFill/>
          <a:ln/>
        </p:spPr>
        <p:txBody>
          <a:bodyPr wrap="square" lIns="0" tIns="0" rIns="0" bIns="0" rtlCol="0" anchor="ctr">
            <a:normAutofit fontScale="85000" lnSpcReduction="10000"/>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This page asks how attack strength changes as the deletion ratio increases, not only who wins at one fixed point.</a:t>
            </a:r>
            <a:endParaRPr lang="en-US" sz="1220" dirty="0"/>
          </a:p>
        </p:txBody>
      </p:sp>
      <p:sp>
        <p:nvSpPr>
          <p:cNvPr id="12" name="Shape 9"/>
          <p:cNvSpPr/>
          <p:nvPr/>
        </p:nvSpPr>
        <p:spPr>
          <a:xfrm>
            <a:off x="6016752" y="2057400"/>
            <a:ext cx="2359152" cy="1051560"/>
          </a:xfrm>
          <a:prstGeom prst="roundRect">
            <a:avLst>
              <a:gd name="adj" fmla="val 4348"/>
            </a:avLst>
          </a:prstGeom>
          <a:solidFill>
            <a:srgbClr val="E8EEF5"/>
          </a:solidFill>
          <a:ln w="13970">
            <a:solidFill>
              <a:srgbClr val="E8EEF5"/>
            </a:solidFill>
            <a:prstDash val="solid"/>
          </a:ln>
        </p:spPr>
        <p:txBody>
          <a:bodyPr/>
          <a:lstStyle/>
          <a:p>
            <a:endParaRPr lang="zh-CN" altLang="en-US"/>
          </a:p>
        </p:txBody>
      </p:sp>
      <p:sp>
        <p:nvSpPr>
          <p:cNvPr id="13" name="Text 10"/>
          <p:cNvSpPr/>
          <p:nvPr/>
        </p:nvSpPr>
        <p:spPr>
          <a:xfrm>
            <a:off x="6153912" y="2221992"/>
            <a:ext cx="2084832"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Observed pattern</a:t>
            </a:r>
            <a:endParaRPr lang="en-US" sz="1700" dirty="0"/>
          </a:p>
        </p:txBody>
      </p:sp>
      <p:sp>
        <p:nvSpPr>
          <p:cNvPr id="14" name="Text 11"/>
          <p:cNvSpPr/>
          <p:nvPr/>
        </p:nvSpPr>
        <p:spPr>
          <a:xfrm>
            <a:off x="6153912" y="2468880"/>
            <a:ext cx="2084832" cy="548640"/>
          </a:xfrm>
          <a:prstGeom prst="rect">
            <a:avLst/>
          </a:prstGeom>
          <a:noFill/>
          <a:ln/>
        </p:spPr>
        <p:txBody>
          <a:bodyPr wrap="square" lIns="0" tIns="0" rIns="0" bIns="0" rtlCol="0" anchor="ctr">
            <a:normAutofit fontScale="92500"/>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GNNDelete stays sensitive even at small ratios, while GIF remains much flatter across the same range.</a:t>
            </a:r>
            <a:endParaRPr lang="en-US" sz="1220" dirty="0"/>
          </a:p>
        </p:txBody>
      </p:sp>
      <p:sp>
        <p:nvSpPr>
          <p:cNvPr id="15" name="Shape 12"/>
          <p:cNvSpPr/>
          <p:nvPr/>
        </p:nvSpPr>
        <p:spPr>
          <a:xfrm>
            <a:off x="6016752" y="3200400"/>
            <a:ext cx="2359152" cy="1051560"/>
          </a:xfrm>
          <a:prstGeom prst="roundRect">
            <a:avLst>
              <a:gd name="adj" fmla="val 4348"/>
            </a:avLst>
          </a:prstGeom>
          <a:solidFill>
            <a:srgbClr val="223A5E"/>
          </a:solidFill>
          <a:ln w="13970">
            <a:solidFill>
              <a:srgbClr val="223A5E"/>
            </a:solidFill>
            <a:prstDash val="solid"/>
          </a:ln>
        </p:spPr>
        <p:txBody>
          <a:bodyPr/>
          <a:lstStyle/>
          <a:p>
            <a:endParaRPr lang="zh-CN" altLang="en-US"/>
          </a:p>
        </p:txBody>
      </p:sp>
      <p:sp>
        <p:nvSpPr>
          <p:cNvPr id="16" name="Text 13"/>
          <p:cNvSpPr/>
          <p:nvPr/>
        </p:nvSpPr>
        <p:spPr>
          <a:xfrm>
            <a:off x="6153912" y="3364992"/>
            <a:ext cx="2084832" cy="182880"/>
          </a:xfrm>
          <a:prstGeom prst="rect">
            <a:avLst/>
          </a:prstGeom>
          <a:noFill/>
          <a:ln/>
        </p:spPr>
        <p:txBody>
          <a:bodyPr wrap="square" lIns="0" tIns="0" rIns="0" bIns="0" rtlCol="0" anchor="ctr"/>
          <a:lstStyle/>
          <a:p>
            <a:pPr marL="0" indent="0">
              <a:buNone/>
            </a:pPr>
            <a:r>
              <a:rPr lang="en-US" sz="1700" b="1" dirty="0">
                <a:solidFill>
                  <a:srgbClr val="F7F5F1"/>
                </a:solidFill>
                <a:latin typeface="Times New Roman" pitchFamily="34" charset="0"/>
                <a:ea typeface="Times New Roman" pitchFamily="34" charset="-122"/>
                <a:cs typeface="Times New Roman" pitchFamily="34" charset="-120"/>
              </a:rPr>
              <a:t>Takeaway</a:t>
            </a:r>
            <a:endParaRPr lang="en-US" sz="1700" dirty="0"/>
          </a:p>
        </p:txBody>
      </p:sp>
      <p:sp>
        <p:nvSpPr>
          <p:cNvPr id="17" name="Text 14"/>
          <p:cNvSpPr/>
          <p:nvPr/>
        </p:nvSpPr>
        <p:spPr>
          <a:xfrm>
            <a:off x="6153912" y="3611880"/>
            <a:ext cx="2084832" cy="548640"/>
          </a:xfrm>
          <a:prstGeom prst="rect">
            <a:avLst/>
          </a:prstGeom>
          <a:noFill/>
          <a:ln/>
        </p:spPr>
        <p:txBody>
          <a:bodyPr wrap="square" lIns="0" tIns="0" rIns="0" bIns="0" rtlCol="0" anchor="ctr">
            <a:normAutofit lnSpcReduction="10000"/>
          </a:bodyPr>
          <a:lstStyle/>
          <a:p>
            <a:pPr marL="0" indent="0">
              <a:buNone/>
            </a:pPr>
            <a:r>
              <a:rPr lang="en-US" sz="1220" dirty="0">
                <a:solidFill>
                  <a:srgbClr val="FFFFFF"/>
                </a:solidFill>
                <a:latin typeface="Times New Roman" pitchFamily="34" charset="0"/>
                <a:ea typeface="Times New Roman" pitchFamily="34" charset="-122"/>
                <a:cs typeface="Times New Roman" pitchFamily="34" charset="-120"/>
              </a:rPr>
              <a:t>The family difference is structural rather than a one-point artifact of the chosen ratio.</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223A5E"/>
          </a:solidFill>
          <a:ln w="12700">
            <a:solidFill>
              <a:srgbClr val="223A5E">
                <a:alpha val="0"/>
              </a:srgbClr>
            </a:solidFill>
            <a:prstDash val="solid"/>
          </a:ln>
        </p:spPr>
        <p:txBody>
          <a:bodyPr/>
          <a:lstStyle/>
          <a:p>
            <a:endParaRPr lang="zh-CN" altLang="en-US"/>
          </a:p>
        </p:txBody>
      </p:sp>
      <p:sp>
        <p:nvSpPr>
          <p:cNvPr id="3" name="Text 1"/>
          <p:cNvSpPr/>
          <p:nvPr/>
        </p:nvSpPr>
        <p:spPr>
          <a:xfrm>
            <a:off x="502920" y="100584"/>
            <a:ext cx="6583680" cy="219456"/>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Attribution And Collateral Damage</a:t>
            </a:r>
            <a:endParaRPr lang="en-US" sz="2400" dirty="0"/>
          </a:p>
        </p:txBody>
      </p:sp>
      <p:sp>
        <p:nvSpPr>
          <p:cNvPr id="4" name="Text 2"/>
          <p:cNvSpPr/>
          <p:nvPr/>
        </p:nvSpPr>
        <p:spPr>
          <a:xfrm>
            <a:off x="7955280" y="118872"/>
            <a:ext cx="640080" cy="137160"/>
          </a:xfrm>
          <a:prstGeom prst="rect">
            <a:avLst/>
          </a:prstGeom>
          <a:noFill/>
          <a:ln/>
        </p:spPr>
        <p:txBody>
          <a:bodyPr wrap="square" lIns="0" tIns="0" rIns="0" bIns="0" rtlCol="0" anchor="ctr"/>
          <a:lstStyle/>
          <a:p>
            <a:pPr marL="0" indent="0" algn="r">
              <a:buNone/>
            </a:pPr>
            <a:r>
              <a:rPr lang="en-US" sz="1000" dirty="0">
                <a:solidFill>
                  <a:srgbClr val="F7F5F1"/>
                </a:solidFill>
                <a:latin typeface="Times New Roman" pitchFamily="34" charset="0"/>
                <a:ea typeface="Times New Roman" pitchFamily="34" charset="-122"/>
                <a:cs typeface="Times New Roman" pitchFamily="34" charset="-120"/>
              </a:rPr>
              <a:t>11 / 15</a:t>
            </a:r>
            <a:endParaRPr lang="en-US" sz="1000" dirty="0"/>
          </a:p>
        </p:txBody>
      </p:sp>
      <p:sp>
        <p:nvSpPr>
          <p:cNvPr id="5" name="Text 3"/>
          <p:cNvSpPr/>
          <p:nvPr/>
        </p:nvSpPr>
        <p:spPr>
          <a:xfrm>
            <a:off x="502920" y="4736592"/>
            <a:ext cx="2743200" cy="137160"/>
          </a:xfrm>
          <a:prstGeom prst="rect">
            <a:avLst/>
          </a:prstGeom>
          <a:noFill/>
          <a:ln/>
        </p:spPr>
        <p:txBody>
          <a:bodyPr wrap="square" lIns="0" tIns="0" rIns="0" bIns="0" rtlCol="0" anchor="ctr"/>
          <a:lstStyle/>
          <a:p>
            <a:pPr marL="0" indent="0">
              <a:buNone/>
            </a:pPr>
            <a:r>
              <a:rPr lang="en-US" sz="900" dirty="0">
                <a:solidFill>
                  <a:srgbClr val="667085"/>
                </a:solidFill>
                <a:latin typeface="Times New Roman" pitchFamily="34" charset="0"/>
                <a:ea typeface="Times New Roman" pitchFamily="34" charset="-122"/>
                <a:cs typeface="Times New Roman" pitchFamily="34" charset="-120"/>
              </a:rPr>
              <a:t>EE5003 MSc Project | Liu Chengyu</a:t>
            </a:r>
            <a:endParaRPr lang="en-US" sz="900" dirty="0"/>
          </a:p>
        </p:txBody>
      </p:sp>
      <p:sp>
        <p:nvSpPr>
          <p:cNvPr id="6" name="Text 4"/>
          <p:cNvSpPr/>
          <p:nvPr/>
        </p:nvSpPr>
        <p:spPr>
          <a:xfrm>
            <a:off x="5577840" y="4736592"/>
            <a:ext cx="3017520" cy="137160"/>
          </a:xfrm>
          <a:prstGeom prst="rect">
            <a:avLst/>
          </a:prstGeom>
          <a:noFill/>
          <a:ln/>
        </p:spPr>
        <p:txBody>
          <a:bodyPr wrap="square" lIns="0" tIns="0" rIns="0" bIns="0" rtlCol="0" anchor="ctr"/>
          <a:lstStyle/>
          <a:p>
            <a:pPr marL="0" indent="0" algn="r">
              <a:buNone/>
            </a:pPr>
            <a:r>
              <a:rPr lang="en-US" sz="900" dirty="0">
                <a:solidFill>
                  <a:srgbClr val="667085"/>
                </a:solidFill>
                <a:latin typeface="Times New Roman" pitchFamily="34" charset="0"/>
                <a:ea typeface="Times New Roman" pitchFamily="34" charset="-122"/>
                <a:cs typeface="Times New Roman" pitchFamily="34" charset="-120"/>
              </a:rPr>
              <a:t>Approximate Graph Unlearning Audit</a:t>
            </a:r>
            <a:endParaRPr lang="en-US" sz="900" dirty="0"/>
          </a:p>
        </p:txBody>
      </p:sp>
      <p:sp>
        <p:nvSpPr>
          <p:cNvPr id="7" name="Text 5"/>
          <p:cNvSpPr/>
          <p:nvPr/>
        </p:nvSpPr>
        <p:spPr>
          <a:xfrm>
            <a:off x="621792" y="768096"/>
            <a:ext cx="7498080" cy="228600"/>
          </a:xfrm>
          <a:prstGeom prst="rect">
            <a:avLst/>
          </a:prstGeom>
          <a:noFill/>
          <a:ln/>
        </p:spPr>
        <p:txBody>
          <a:bodyPr wrap="square" lIns="0" tIns="0" rIns="0" bIns="0" rtlCol="0" anchor="ctr"/>
          <a:lstStyle/>
          <a:p>
            <a:pPr marL="0" indent="0">
              <a:buNone/>
            </a:pPr>
            <a:r>
              <a:rPr lang="en-US" sz="1670" b="1" dirty="0">
                <a:solidFill>
                  <a:srgbClr val="223A5E"/>
                </a:solidFill>
                <a:latin typeface="Times New Roman" pitchFamily="34" charset="0"/>
                <a:ea typeface="Times New Roman" pitchFamily="34" charset="-122"/>
                <a:cs typeface="Times New Roman" pitchFamily="34" charset="-120"/>
              </a:rPr>
              <a:t>relative_f1_drop says the attack beats the k=5 method baseline; retrain_gap and collateral metrics explain where the extra damage comes from.</a:t>
            </a:r>
            <a:endParaRPr lang="en-US" sz="1670" dirty="0"/>
          </a:p>
        </p:txBody>
      </p:sp>
      <p:sp>
        <p:nvSpPr>
          <p:cNvPr id="8" name="Shape 6"/>
          <p:cNvSpPr/>
          <p:nvPr/>
        </p:nvSpPr>
        <p:spPr>
          <a:xfrm>
            <a:off x="713232" y="1371600"/>
            <a:ext cx="2487168" cy="2542032"/>
          </a:xfrm>
          <a:prstGeom prst="roundRect">
            <a:avLst>
              <a:gd name="adj" fmla="val 1838"/>
            </a:avLst>
          </a:prstGeom>
          <a:solidFill>
            <a:srgbClr val="FFFFFF"/>
          </a:solidFill>
          <a:ln w="13970">
            <a:solidFill>
              <a:srgbClr val="D9DEE7"/>
            </a:solidFill>
            <a:prstDash val="solid"/>
          </a:ln>
        </p:spPr>
        <p:txBody>
          <a:bodyPr/>
          <a:lstStyle/>
          <a:p>
            <a:endParaRPr lang="zh-CN" altLang="en-US"/>
          </a:p>
        </p:txBody>
      </p:sp>
      <p:sp>
        <p:nvSpPr>
          <p:cNvPr id="9" name="Text 7"/>
          <p:cNvSpPr/>
          <p:nvPr/>
        </p:nvSpPr>
        <p:spPr>
          <a:xfrm>
            <a:off x="850392" y="1536192"/>
            <a:ext cx="2212848"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Attack success</a:t>
            </a:r>
            <a:endParaRPr lang="en-US" sz="1700" dirty="0"/>
          </a:p>
        </p:txBody>
      </p:sp>
      <p:sp>
        <p:nvSpPr>
          <p:cNvPr id="10" name="Text 8"/>
          <p:cNvSpPr/>
          <p:nvPr/>
        </p:nvSpPr>
        <p:spPr>
          <a:xfrm>
            <a:off x="850392" y="1783080"/>
            <a:ext cx="2212848" cy="2039112"/>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relative_f1_drop tells us whether a structured attack causes more loss than the small random-trigger baseline.</a:t>
            </a:r>
            <a:endParaRPr lang="en-US" sz="1220" dirty="0"/>
          </a:p>
        </p:txBody>
      </p:sp>
      <p:sp>
        <p:nvSpPr>
          <p:cNvPr id="11" name="Shape 9"/>
          <p:cNvSpPr/>
          <p:nvPr/>
        </p:nvSpPr>
        <p:spPr>
          <a:xfrm>
            <a:off x="3337560" y="1371600"/>
            <a:ext cx="2487168" cy="2542032"/>
          </a:xfrm>
          <a:prstGeom prst="roundRect">
            <a:avLst>
              <a:gd name="adj" fmla="val 1838"/>
            </a:avLst>
          </a:prstGeom>
          <a:solidFill>
            <a:srgbClr val="E8EEF5"/>
          </a:solidFill>
          <a:ln w="13970">
            <a:solidFill>
              <a:srgbClr val="E8EEF5"/>
            </a:solidFill>
            <a:prstDash val="solid"/>
          </a:ln>
        </p:spPr>
        <p:txBody>
          <a:bodyPr/>
          <a:lstStyle/>
          <a:p>
            <a:endParaRPr lang="zh-CN" altLang="en-US"/>
          </a:p>
        </p:txBody>
      </p:sp>
      <p:sp>
        <p:nvSpPr>
          <p:cNvPr id="12" name="Text 10"/>
          <p:cNvSpPr/>
          <p:nvPr/>
        </p:nvSpPr>
        <p:spPr>
          <a:xfrm>
            <a:off x="3474720" y="1536192"/>
            <a:ext cx="2212848"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Attribution</a:t>
            </a:r>
            <a:endParaRPr lang="en-US" sz="1700" dirty="0"/>
          </a:p>
        </p:txBody>
      </p:sp>
      <p:sp>
        <p:nvSpPr>
          <p:cNvPr id="13" name="Text 11"/>
          <p:cNvSpPr/>
          <p:nvPr/>
        </p:nvSpPr>
        <p:spPr>
          <a:xfrm>
            <a:off x="3474720" y="1783080"/>
            <a:ext cx="2212848" cy="2039112"/>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retrain_gap isolates the additional approximation error by comparing approximate unlearning with exact retraining on the same deletion set.</a:t>
            </a:r>
            <a:endParaRPr lang="en-US" sz="1220" dirty="0"/>
          </a:p>
        </p:txBody>
      </p:sp>
      <p:sp>
        <p:nvSpPr>
          <p:cNvPr id="14" name="Shape 12"/>
          <p:cNvSpPr/>
          <p:nvPr/>
        </p:nvSpPr>
        <p:spPr>
          <a:xfrm>
            <a:off x="5961888" y="1371600"/>
            <a:ext cx="2487168" cy="2542032"/>
          </a:xfrm>
          <a:prstGeom prst="roundRect">
            <a:avLst>
              <a:gd name="adj" fmla="val 1838"/>
            </a:avLst>
          </a:prstGeom>
          <a:solidFill>
            <a:srgbClr val="FFFFFF"/>
          </a:solidFill>
          <a:ln w="13970">
            <a:solidFill>
              <a:srgbClr val="D9DEE7"/>
            </a:solidFill>
            <a:prstDash val="solid"/>
          </a:ln>
        </p:spPr>
        <p:txBody>
          <a:bodyPr/>
          <a:lstStyle/>
          <a:p>
            <a:endParaRPr lang="zh-CN" altLang="en-US"/>
          </a:p>
        </p:txBody>
      </p:sp>
      <p:sp>
        <p:nvSpPr>
          <p:cNvPr id="15" name="Text 13"/>
          <p:cNvSpPr/>
          <p:nvPr/>
        </p:nvSpPr>
        <p:spPr>
          <a:xfrm>
            <a:off x="6099048" y="1536192"/>
            <a:ext cx="2212848"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Spillover</a:t>
            </a:r>
            <a:endParaRPr lang="en-US" sz="1700" dirty="0"/>
          </a:p>
        </p:txBody>
      </p:sp>
      <p:sp>
        <p:nvSpPr>
          <p:cNvPr id="16" name="Text 14"/>
          <p:cNvSpPr/>
          <p:nvPr/>
        </p:nvSpPr>
        <p:spPr>
          <a:xfrm>
            <a:off x="6099048" y="1783080"/>
            <a:ext cx="2212848" cy="2039112"/>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fraction_flipped and mean_pred_shift show how strongly retained non-target nodes are disturbed.</a:t>
            </a:r>
            <a:endParaRPr lang="en-US" sz="1220" dirty="0"/>
          </a:p>
        </p:txBody>
      </p:sp>
      <p:sp>
        <p:nvSpPr>
          <p:cNvPr id="17" name="Shape 15"/>
          <p:cNvSpPr/>
          <p:nvPr/>
        </p:nvSpPr>
        <p:spPr>
          <a:xfrm>
            <a:off x="1353312" y="3950208"/>
            <a:ext cx="6419088" cy="768096"/>
          </a:xfrm>
          <a:prstGeom prst="roundRect">
            <a:avLst>
              <a:gd name="adj" fmla="val 5952"/>
            </a:avLst>
          </a:prstGeom>
          <a:solidFill>
            <a:srgbClr val="223A5E"/>
          </a:solidFill>
          <a:ln w="12700">
            <a:solidFill>
              <a:srgbClr val="223A5E">
                <a:alpha val="0"/>
              </a:srgbClr>
            </a:solidFill>
            <a:prstDash val="solid"/>
          </a:ln>
        </p:spPr>
        <p:txBody>
          <a:bodyPr/>
          <a:lstStyle/>
          <a:p>
            <a:endParaRPr lang="zh-CN" altLang="en-US"/>
          </a:p>
        </p:txBody>
      </p:sp>
      <p:sp>
        <p:nvSpPr>
          <p:cNvPr id="18" name="Text 16"/>
          <p:cNvSpPr/>
          <p:nvPr/>
        </p:nvSpPr>
        <p:spPr>
          <a:xfrm>
            <a:off x="1517904" y="4069080"/>
            <a:ext cx="1234440" cy="164592"/>
          </a:xfrm>
          <a:prstGeom prst="rect">
            <a:avLst/>
          </a:prstGeom>
          <a:noFill/>
          <a:ln/>
        </p:spPr>
        <p:txBody>
          <a:bodyPr wrap="square" lIns="0" tIns="0" rIns="0" bIns="0" rtlCol="0" anchor="ctr"/>
          <a:lstStyle/>
          <a:p>
            <a:pPr marL="0" indent="0">
              <a:buNone/>
            </a:pPr>
            <a:r>
              <a:rPr lang="en-US" sz="1380" b="1" dirty="0">
                <a:solidFill>
                  <a:srgbClr val="F7F5F1"/>
                </a:solidFill>
                <a:latin typeface="Times New Roman" pitchFamily="34" charset="0"/>
                <a:ea typeface="Times New Roman" pitchFamily="34" charset="-122"/>
                <a:cs typeface="Times New Roman" pitchFamily="34" charset="-120"/>
              </a:rPr>
              <a:t>Bottom line</a:t>
            </a:r>
            <a:endParaRPr lang="en-US" sz="1380" dirty="0"/>
          </a:p>
        </p:txBody>
      </p:sp>
      <p:sp>
        <p:nvSpPr>
          <p:cNvPr id="19" name="Text 17"/>
          <p:cNvSpPr/>
          <p:nvPr/>
        </p:nvSpPr>
        <p:spPr>
          <a:xfrm>
            <a:off x="1517904" y="4315968"/>
            <a:ext cx="6053328" cy="256032"/>
          </a:xfrm>
          <a:prstGeom prst="rect">
            <a:avLst/>
          </a:prstGeom>
          <a:noFill/>
          <a:ln/>
        </p:spPr>
        <p:txBody>
          <a:bodyPr wrap="square" lIns="0" tIns="0" rIns="0" bIns="0" rtlCol="0" anchor="ctr">
            <a:normAutofit fontScale="92500" lnSpcReduction="20000"/>
          </a:bodyPr>
          <a:lstStyle/>
          <a:p>
            <a:pPr marL="0" indent="0">
              <a:buNone/>
            </a:pPr>
            <a:r>
              <a:rPr lang="en-US" sz="1100" dirty="0">
                <a:solidFill>
                  <a:srgbClr val="F7F5F1"/>
                </a:solidFill>
                <a:latin typeface="Times New Roman" pitchFamily="34" charset="0"/>
                <a:ea typeface="Times New Roman" pitchFamily="34" charset="-122"/>
                <a:cs typeface="Times New Roman" pitchFamily="34" charset="-120"/>
              </a:rPr>
              <a:t>If total_drop = drop_retrain + retrain_gap, then large retrain gaps and large retained-node shifts indicate mechanism-induced spillover rather than only intrinsic node importance.</a:t>
            </a:r>
            <a:endParaRPr lang="en-US" sz="1100" dirty="0"/>
          </a:p>
        </p:txBody>
      </p:sp>
      <p:sp>
        <p:nvSpPr>
          <p:cNvPr id="22" name="Shape 16">
            <a:extLst>
              <a:ext uri="{FF2B5EF4-FFF2-40B4-BE49-F238E27FC236}">
                <a16:creationId xmlns:a16="http://schemas.microsoft.com/office/drawing/2014/main" id="{7ED064F0-DBE4-9C76-5566-CBB4100C5535}"/>
              </a:ext>
            </a:extLst>
          </p:cNvPr>
          <p:cNvSpPr/>
          <p:nvPr/>
        </p:nvSpPr>
        <p:spPr>
          <a:xfrm>
            <a:off x="1847088" y="3658138"/>
            <a:ext cx="6565392" cy="877824"/>
          </a:xfrm>
          <a:prstGeom prst="roundRect">
            <a:avLst>
              <a:gd name="adj" fmla="val 4167"/>
            </a:avLst>
          </a:prstGeom>
          <a:solidFill>
            <a:srgbClr val="223A5E"/>
          </a:solidFill>
          <a:ln w="12700">
            <a:solidFill>
              <a:srgbClr val="223A5E">
                <a:alpha val="0"/>
              </a:srgbClr>
            </a:solidFill>
            <a:prstDash val="solid"/>
          </a:ln>
        </p:spPr>
        <p:txBody>
          <a:bodyPr/>
          <a:lstStyle/>
          <a:p>
            <a:endParaRPr lang="zh-CN" altLang="en-US"/>
          </a:p>
        </p:txBody>
      </p:sp>
      <p:sp>
        <p:nvSpPr>
          <p:cNvPr id="23" name="Text 17">
            <a:extLst>
              <a:ext uri="{FF2B5EF4-FFF2-40B4-BE49-F238E27FC236}">
                <a16:creationId xmlns:a16="http://schemas.microsoft.com/office/drawing/2014/main" id="{B9B0184B-42B2-1D10-7628-7E5CA8D04B1B}"/>
              </a:ext>
            </a:extLst>
          </p:cNvPr>
          <p:cNvSpPr/>
          <p:nvPr/>
        </p:nvSpPr>
        <p:spPr>
          <a:xfrm>
            <a:off x="1993392" y="3767328"/>
            <a:ext cx="6272784" cy="109728"/>
          </a:xfrm>
          <a:prstGeom prst="rect">
            <a:avLst/>
          </a:prstGeom>
          <a:noFill/>
          <a:ln/>
        </p:spPr>
        <p:txBody>
          <a:bodyPr wrap="square" lIns="0" tIns="0" rIns="0" bIns="0" rtlCol="0" anchor="ctr"/>
          <a:lstStyle/>
          <a:p>
            <a:pPr marL="0" indent="0">
              <a:buNone/>
            </a:pPr>
            <a:r>
              <a:rPr lang="en-US" sz="960" b="1" dirty="0">
                <a:solidFill>
                  <a:srgbClr val="F7F5F1"/>
                </a:solidFill>
                <a:latin typeface="Times New Roman" pitchFamily="34" charset="0"/>
                <a:ea typeface="Times New Roman" pitchFamily="34" charset="-122"/>
                <a:cs typeface="Times New Roman" pitchFamily="34" charset="-120"/>
              </a:rPr>
              <a:t>Method | Avg Gap | Pred Shift / Flip</a:t>
            </a:r>
            <a:endParaRPr lang="en-US" sz="960" dirty="0"/>
          </a:p>
        </p:txBody>
      </p:sp>
      <p:sp>
        <p:nvSpPr>
          <p:cNvPr id="24" name="Text 18">
            <a:extLst>
              <a:ext uri="{FF2B5EF4-FFF2-40B4-BE49-F238E27FC236}">
                <a16:creationId xmlns:a16="http://schemas.microsoft.com/office/drawing/2014/main" id="{B249BEDD-ADF2-C3ED-C441-54846FED2F2E}"/>
              </a:ext>
            </a:extLst>
          </p:cNvPr>
          <p:cNvSpPr/>
          <p:nvPr/>
        </p:nvSpPr>
        <p:spPr>
          <a:xfrm>
            <a:off x="1993392" y="3941064"/>
            <a:ext cx="6272784" cy="100584"/>
          </a:xfrm>
          <a:prstGeom prst="rect">
            <a:avLst/>
          </a:prstGeom>
          <a:noFill/>
          <a:ln/>
        </p:spPr>
        <p:txBody>
          <a:bodyPr wrap="square" lIns="0" tIns="0" rIns="0" bIns="0" rtlCol="0" anchor="ctr"/>
          <a:lstStyle/>
          <a:p>
            <a:pPr marL="0" indent="0">
              <a:buNone/>
            </a:pPr>
            <a:r>
              <a:rPr lang="en-US" sz="890" dirty="0">
                <a:solidFill>
                  <a:srgbClr val="F7F5F1"/>
                </a:solidFill>
                <a:latin typeface="Times New Roman" pitchFamily="34" charset="0"/>
                <a:ea typeface="Times New Roman" pitchFamily="34" charset="-122"/>
                <a:cs typeface="Times New Roman" pitchFamily="34" charset="-120"/>
              </a:rPr>
              <a:t>GNNDelete | 9.74% | 0.245 / 26.2%</a:t>
            </a:r>
            <a:endParaRPr lang="en-US" sz="890" dirty="0"/>
          </a:p>
        </p:txBody>
      </p:sp>
      <p:sp>
        <p:nvSpPr>
          <p:cNvPr id="25" name="Text 19">
            <a:extLst>
              <a:ext uri="{FF2B5EF4-FFF2-40B4-BE49-F238E27FC236}">
                <a16:creationId xmlns:a16="http://schemas.microsoft.com/office/drawing/2014/main" id="{F5701C5F-1145-0D50-C277-31300EFD9ECE}"/>
              </a:ext>
            </a:extLst>
          </p:cNvPr>
          <p:cNvSpPr/>
          <p:nvPr/>
        </p:nvSpPr>
        <p:spPr>
          <a:xfrm>
            <a:off x="1993392" y="4105656"/>
            <a:ext cx="6272784" cy="100584"/>
          </a:xfrm>
          <a:prstGeom prst="rect">
            <a:avLst/>
          </a:prstGeom>
          <a:noFill/>
          <a:ln/>
        </p:spPr>
        <p:txBody>
          <a:bodyPr wrap="square" lIns="0" tIns="0" rIns="0" bIns="0" rtlCol="0" anchor="ctr"/>
          <a:lstStyle/>
          <a:p>
            <a:pPr marL="0" indent="0">
              <a:buNone/>
            </a:pPr>
            <a:r>
              <a:rPr lang="en-US" sz="890" dirty="0">
                <a:solidFill>
                  <a:srgbClr val="F7F5F1"/>
                </a:solidFill>
                <a:latin typeface="Times New Roman" pitchFamily="34" charset="0"/>
                <a:ea typeface="Times New Roman" pitchFamily="34" charset="-122"/>
                <a:cs typeface="Times New Roman" pitchFamily="34" charset="-120"/>
              </a:rPr>
              <a:t>GraphEraser | 0.13% | 0.265 / 18.4%</a:t>
            </a:r>
            <a:endParaRPr lang="en-US" sz="890" dirty="0"/>
          </a:p>
        </p:txBody>
      </p:sp>
      <p:sp>
        <p:nvSpPr>
          <p:cNvPr id="26" name="Text 20">
            <a:extLst>
              <a:ext uri="{FF2B5EF4-FFF2-40B4-BE49-F238E27FC236}">
                <a16:creationId xmlns:a16="http://schemas.microsoft.com/office/drawing/2014/main" id="{D276B2F5-CB4B-5D85-9019-239CB64CA9AC}"/>
              </a:ext>
            </a:extLst>
          </p:cNvPr>
          <p:cNvSpPr/>
          <p:nvPr/>
        </p:nvSpPr>
        <p:spPr>
          <a:xfrm>
            <a:off x="1993392" y="4270248"/>
            <a:ext cx="6272784" cy="100584"/>
          </a:xfrm>
          <a:prstGeom prst="rect">
            <a:avLst/>
          </a:prstGeom>
          <a:noFill/>
          <a:ln/>
        </p:spPr>
        <p:txBody>
          <a:bodyPr wrap="square" lIns="0" tIns="0" rIns="0" bIns="0" rtlCol="0" anchor="ctr"/>
          <a:lstStyle/>
          <a:p>
            <a:pPr marL="0" indent="0">
              <a:buNone/>
            </a:pPr>
            <a:r>
              <a:rPr lang="en-US" sz="890" dirty="0">
                <a:solidFill>
                  <a:srgbClr val="F7F5F1"/>
                </a:solidFill>
                <a:latin typeface="Times New Roman" pitchFamily="34" charset="0"/>
                <a:ea typeface="Times New Roman" pitchFamily="34" charset="-122"/>
                <a:cs typeface="Times New Roman" pitchFamily="34" charset="-120"/>
              </a:rPr>
              <a:t>GIF | -0.34% | 0.024 / 3.1%</a:t>
            </a:r>
            <a:endParaRPr lang="en-US" sz="89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223A5E"/>
          </a:solidFill>
          <a:ln w="12700">
            <a:solidFill>
              <a:srgbClr val="223A5E">
                <a:alpha val="0"/>
              </a:srgbClr>
            </a:solidFill>
            <a:prstDash val="solid"/>
          </a:ln>
        </p:spPr>
        <p:txBody>
          <a:bodyPr/>
          <a:lstStyle/>
          <a:p>
            <a:endParaRPr lang="zh-CN" altLang="en-US"/>
          </a:p>
        </p:txBody>
      </p:sp>
      <p:sp>
        <p:nvSpPr>
          <p:cNvPr id="3" name="Text 1"/>
          <p:cNvSpPr/>
          <p:nvPr/>
        </p:nvSpPr>
        <p:spPr>
          <a:xfrm>
            <a:off x="502920" y="100584"/>
            <a:ext cx="6583680" cy="219456"/>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GraphEraser And Shard Protection</a:t>
            </a:r>
            <a:endParaRPr lang="en-US" sz="2400" dirty="0"/>
          </a:p>
        </p:txBody>
      </p:sp>
      <p:sp>
        <p:nvSpPr>
          <p:cNvPr id="4" name="Text 2"/>
          <p:cNvSpPr/>
          <p:nvPr/>
        </p:nvSpPr>
        <p:spPr>
          <a:xfrm>
            <a:off x="7955280" y="118872"/>
            <a:ext cx="640080" cy="137160"/>
          </a:xfrm>
          <a:prstGeom prst="rect">
            <a:avLst/>
          </a:prstGeom>
          <a:noFill/>
          <a:ln/>
        </p:spPr>
        <p:txBody>
          <a:bodyPr wrap="square" lIns="0" tIns="0" rIns="0" bIns="0" rtlCol="0" anchor="ctr"/>
          <a:lstStyle/>
          <a:p>
            <a:pPr marL="0" indent="0" algn="r">
              <a:buNone/>
            </a:pPr>
            <a:r>
              <a:rPr lang="en-US" sz="1000" dirty="0">
                <a:solidFill>
                  <a:srgbClr val="F7F5F1"/>
                </a:solidFill>
                <a:latin typeface="Times New Roman" pitchFamily="34" charset="0"/>
                <a:ea typeface="Times New Roman" pitchFamily="34" charset="-122"/>
                <a:cs typeface="Times New Roman" pitchFamily="34" charset="-120"/>
              </a:rPr>
              <a:t>12 / 15</a:t>
            </a:r>
            <a:endParaRPr lang="en-US" sz="1000" dirty="0"/>
          </a:p>
        </p:txBody>
      </p:sp>
      <p:sp>
        <p:nvSpPr>
          <p:cNvPr id="5" name="Text 3"/>
          <p:cNvSpPr/>
          <p:nvPr/>
        </p:nvSpPr>
        <p:spPr>
          <a:xfrm>
            <a:off x="502920" y="4736592"/>
            <a:ext cx="2743200" cy="137160"/>
          </a:xfrm>
          <a:prstGeom prst="rect">
            <a:avLst/>
          </a:prstGeom>
          <a:noFill/>
          <a:ln/>
        </p:spPr>
        <p:txBody>
          <a:bodyPr wrap="square" lIns="0" tIns="0" rIns="0" bIns="0" rtlCol="0" anchor="ctr"/>
          <a:lstStyle/>
          <a:p>
            <a:pPr marL="0" indent="0">
              <a:buNone/>
            </a:pPr>
            <a:r>
              <a:rPr lang="en-US" sz="900" dirty="0">
                <a:solidFill>
                  <a:srgbClr val="667085"/>
                </a:solidFill>
                <a:latin typeface="Times New Roman" pitchFamily="34" charset="0"/>
                <a:ea typeface="Times New Roman" pitchFamily="34" charset="-122"/>
                <a:cs typeface="Times New Roman" pitchFamily="34" charset="-120"/>
              </a:rPr>
              <a:t>EE5003 MSc Project | Liu Chengyu</a:t>
            </a:r>
            <a:endParaRPr lang="en-US" sz="900" dirty="0"/>
          </a:p>
        </p:txBody>
      </p:sp>
      <p:sp>
        <p:nvSpPr>
          <p:cNvPr id="6" name="Text 4"/>
          <p:cNvSpPr/>
          <p:nvPr/>
        </p:nvSpPr>
        <p:spPr>
          <a:xfrm>
            <a:off x="5577840" y="4736592"/>
            <a:ext cx="3017520" cy="137160"/>
          </a:xfrm>
          <a:prstGeom prst="rect">
            <a:avLst/>
          </a:prstGeom>
          <a:noFill/>
          <a:ln/>
        </p:spPr>
        <p:txBody>
          <a:bodyPr wrap="square" lIns="0" tIns="0" rIns="0" bIns="0" rtlCol="0" anchor="ctr"/>
          <a:lstStyle/>
          <a:p>
            <a:pPr marL="0" indent="0" algn="r">
              <a:buNone/>
            </a:pPr>
            <a:r>
              <a:rPr lang="en-US" sz="900" dirty="0">
                <a:solidFill>
                  <a:srgbClr val="667085"/>
                </a:solidFill>
                <a:latin typeface="Times New Roman" pitchFamily="34" charset="0"/>
                <a:ea typeface="Times New Roman" pitchFamily="34" charset="-122"/>
                <a:cs typeface="Times New Roman" pitchFamily="34" charset="-120"/>
              </a:rPr>
              <a:t>Approximate Graph Unlearning Audit</a:t>
            </a:r>
            <a:endParaRPr lang="en-US" sz="900" dirty="0"/>
          </a:p>
        </p:txBody>
      </p:sp>
      <p:pic>
        <p:nvPicPr>
          <p:cNvPr id="7" name="Image 0" descr="H:\project\OpenGU\GULib-master\report\0417_5003report\figures\report_figures\fig2_grapheraser_shard.png"/>
          <p:cNvPicPr>
            <a:picLocks noChangeAspect="1"/>
          </p:cNvPicPr>
          <p:nvPr/>
        </p:nvPicPr>
        <p:blipFill>
          <a:blip r:embed="rId3"/>
          <a:stretch>
            <a:fillRect/>
          </a:stretch>
        </p:blipFill>
        <p:spPr>
          <a:xfrm>
            <a:off x="621792" y="1024128"/>
            <a:ext cx="4800600" cy="3401568"/>
          </a:xfrm>
          <a:prstGeom prst="rect">
            <a:avLst/>
          </a:prstGeom>
        </p:spPr>
      </p:pic>
      <p:sp>
        <p:nvSpPr>
          <p:cNvPr id="8" name="Text 5"/>
          <p:cNvSpPr/>
          <p:nvPr/>
        </p:nvSpPr>
        <p:spPr>
          <a:xfrm>
            <a:off x="658368" y="4462272"/>
            <a:ext cx="4709160" cy="146304"/>
          </a:xfrm>
          <a:prstGeom prst="rect">
            <a:avLst/>
          </a:prstGeom>
          <a:noFill/>
          <a:ln/>
        </p:spPr>
        <p:txBody>
          <a:bodyPr wrap="square" lIns="0" tIns="0" rIns="0" bIns="0" rtlCol="0" anchor="ctr"/>
          <a:lstStyle/>
          <a:p>
            <a:pPr marL="0" indent="0">
              <a:buNone/>
            </a:pPr>
            <a:r>
              <a:rPr lang="en-US" sz="900" i="1" dirty="0">
                <a:solidFill>
                  <a:srgbClr val="667085"/>
                </a:solidFill>
                <a:latin typeface="Times New Roman" pitchFamily="34" charset="0"/>
                <a:ea typeface="Times New Roman" pitchFamily="34" charset="-122"/>
                <a:cs typeface="Times New Roman" pitchFamily="34" charset="-120"/>
              </a:rPr>
              <a:t>Observed shard-level score shift for GraphEraser on Cora/GCN.</a:t>
            </a:r>
            <a:endParaRPr lang="en-US" sz="900" dirty="0"/>
          </a:p>
        </p:txBody>
      </p:sp>
      <p:sp>
        <p:nvSpPr>
          <p:cNvPr id="9" name="Shape 6"/>
          <p:cNvSpPr/>
          <p:nvPr/>
        </p:nvSpPr>
        <p:spPr>
          <a:xfrm>
            <a:off x="5669280" y="1005840"/>
            <a:ext cx="2697480" cy="1051560"/>
          </a:xfrm>
          <a:prstGeom prst="roundRect">
            <a:avLst>
              <a:gd name="adj" fmla="val 4348"/>
            </a:avLst>
          </a:prstGeom>
          <a:solidFill>
            <a:srgbClr val="E8EEF5"/>
          </a:solidFill>
          <a:ln w="13970">
            <a:solidFill>
              <a:srgbClr val="E8EEF5"/>
            </a:solidFill>
            <a:prstDash val="solid"/>
          </a:ln>
        </p:spPr>
        <p:txBody>
          <a:bodyPr/>
          <a:lstStyle/>
          <a:p>
            <a:endParaRPr lang="zh-CN" altLang="en-US"/>
          </a:p>
        </p:txBody>
      </p:sp>
      <p:sp>
        <p:nvSpPr>
          <p:cNvPr id="10" name="Text 7"/>
          <p:cNvSpPr/>
          <p:nvPr/>
        </p:nvSpPr>
        <p:spPr>
          <a:xfrm>
            <a:off x="5806440" y="1170432"/>
            <a:ext cx="242316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Observed pattern</a:t>
            </a:r>
            <a:endParaRPr lang="en-US" sz="1700" dirty="0"/>
          </a:p>
        </p:txBody>
      </p:sp>
      <p:sp>
        <p:nvSpPr>
          <p:cNvPr id="11" name="Text 8"/>
          <p:cNvSpPr/>
          <p:nvPr/>
        </p:nvSpPr>
        <p:spPr>
          <a:xfrm>
            <a:off x="5806440" y="1417320"/>
            <a:ext cx="2423160" cy="548640"/>
          </a:xfrm>
          <a:prstGeom prst="rect">
            <a:avLst/>
          </a:prstGeom>
          <a:noFill/>
          <a:ln/>
        </p:spPr>
        <p:txBody>
          <a:bodyPr wrap="square" lIns="0" tIns="0" rIns="0" bIns="0" rtlCol="0" anchor="ctr">
            <a:normAutofit fontScale="92500" lnSpcReduction="20000"/>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After-unlearning scores shift upward across the tested strategies, which is evidence for a shard protection effect in these settings.</a:t>
            </a:r>
            <a:endParaRPr lang="en-US" sz="1220" dirty="0"/>
          </a:p>
        </p:txBody>
      </p:sp>
      <p:sp>
        <p:nvSpPr>
          <p:cNvPr id="12" name="Shape 9"/>
          <p:cNvSpPr/>
          <p:nvPr/>
        </p:nvSpPr>
        <p:spPr>
          <a:xfrm>
            <a:off x="5669280" y="2148840"/>
            <a:ext cx="2697480" cy="1051560"/>
          </a:xfrm>
          <a:prstGeom prst="roundRect">
            <a:avLst>
              <a:gd name="adj" fmla="val 4348"/>
            </a:avLst>
          </a:prstGeom>
          <a:solidFill>
            <a:srgbClr val="FFFFFF"/>
          </a:solidFill>
          <a:ln w="13970">
            <a:solidFill>
              <a:srgbClr val="D9DEE7"/>
            </a:solidFill>
            <a:prstDash val="solid"/>
          </a:ln>
        </p:spPr>
        <p:txBody>
          <a:bodyPr/>
          <a:lstStyle/>
          <a:p>
            <a:endParaRPr lang="zh-CN" altLang="en-US"/>
          </a:p>
        </p:txBody>
      </p:sp>
      <p:sp>
        <p:nvSpPr>
          <p:cNvPr id="13" name="Text 10"/>
          <p:cNvSpPr/>
          <p:nvPr/>
        </p:nvSpPr>
        <p:spPr>
          <a:xfrm>
            <a:off x="5806440" y="2313432"/>
            <a:ext cx="242316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Why it matters</a:t>
            </a:r>
            <a:endParaRPr lang="en-US" sz="1700" dirty="0"/>
          </a:p>
        </p:txBody>
      </p:sp>
      <p:sp>
        <p:nvSpPr>
          <p:cNvPr id="14" name="Text 11"/>
          <p:cNvSpPr/>
          <p:nvPr/>
        </p:nvSpPr>
        <p:spPr>
          <a:xfrm>
            <a:off x="5806440" y="2560320"/>
            <a:ext cx="2423160" cy="548640"/>
          </a:xfrm>
          <a:prstGeom prst="rect">
            <a:avLst/>
          </a:prstGeom>
          <a:noFill/>
          <a:ln/>
        </p:spPr>
        <p:txBody>
          <a:bodyPr wrap="square" lIns="0" tIns="0" rIns="0" bIns="0" rtlCol="0" anchor="ctr">
            <a:normAutofit fontScale="92500" lnSpcReduction="20000"/>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This is why raw utility drop alone is not the right cross-family metric here; the k=5 relative baseline is the cleaner comparison lens.</a:t>
            </a:r>
            <a:endParaRPr lang="en-US" sz="1220" dirty="0"/>
          </a:p>
        </p:txBody>
      </p:sp>
      <p:sp>
        <p:nvSpPr>
          <p:cNvPr id="15" name="Shape 12"/>
          <p:cNvSpPr/>
          <p:nvPr/>
        </p:nvSpPr>
        <p:spPr>
          <a:xfrm>
            <a:off x="5669280" y="3291840"/>
            <a:ext cx="2697480" cy="960120"/>
          </a:xfrm>
          <a:prstGeom prst="roundRect">
            <a:avLst>
              <a:gd name="adj" fmla="val 4762"/>
            </a:avLst>
          </a:prstGeom>
          <a:solidFill>
            <a:srgbClr val="A6404B"/>
          </a:solidFill>
          <a:ln w="13970">
            <a:solidFill>
              <a:srgbClr val="A6404B"/>
            </a:solidFill>
            <a:prstDash val="solid"/>
          </a:ln>
        </p:spPr>
        <p:txBody>
          <a:bodyPr/>
          <a:lstStyle/>
          <a:p>
            <a:endParaRPr lang="zh-CN" altLang="en-US"/>
          </a:p>
        </p:txBody>
      </p:sp>
      <p:sp>
        <p:nvSpPr>
          <p:cNvPr id="16" name="Text 13"/>
          <p:cNvSpPr/>
          <p:nvPr/>
        </p:nvSpPr>
        <p:spPr>
          <a:xfrm>
            <a:off x="5806440" y="3456432"/>
            <a:ext cx="2423160" cy="182880"/>
          </a:xfrm>
          <a:prstGeom prst="rect">
            <a:avLst/>
          </a:prstGeom>
          <a:noFill/>
          <a:ln/>
        </p:spPr>
        <p:txBody>
          <a:bodyPr wrap="square" lIns="0" tIns="0" rIns="0" bIns="0" rtlCol="0" anchor="ctr"/>
          <a:lstStyle/>
          <a:p>
            <a:pPr marL="0" indent="0">
              <a:buNone/>
            </a:pPr>
            <a:r>
              <a:rPr lang="en-US" sz="1700" b="1" dirty="0">
                <a:solidFill>
                  <a:srgbClr val="FFFFFF"/>
                </a:solidFill>
                <a:latin typeface="Times New Roman" pitchFamily="34" charset="0"/>
                <a:ea typeface="Times New Roman" pitchFamily="34" charset="-122"/>
                <a:cs typeface="Times New Roman" pitchFamily="34" charset="-120"/>
              </a:rPr>
              <a:t>Caution</a:t>
            </a:r>
            <a:endParaRPr lang="en-US" sz="1700" dirty="0"/>
          </a:p>
        </p:txBody>
      </p:sp>
      <p:sp>
        <p:nvSpPr>
          <p:cNvPr id="17" name="Text 14"/>
          <p:cNvSpPr/>
          <p:nvPr/>
        </p:nvSpPr>
        <p:spPr>
          <a:xfrm>
            <a:off x="5806440" y="3703320"/>
            <a:ext cx="2423160" cy="457200"/>
          </a:xfrm>
          <a:prstGeom prst="rect">
            <a:avLst/>
          </a:prstGeom>
          <a:noFill/>
          <a:ln/>
        </p:spPr>
        <p:txBody>
          <a:bodyPr wrap="square" lIns="0" tIns="0" rIns="0" bIns="0" rtlCol="0" anchor="ctr">
            <a:normAutofit/>
          </a:bodyPr>
          <a:lstStyle/>
          <a:p>
            <a:pPr marL="0" indent="0">
              <a:buNone/>
            </a:pPr>
            <a:r>
              <a:rPr lang="en-US" sz="1220" dirty="0">
                <a:solidFill>
                  <a:srgbClr val="FFFFFF"/>
                </a:solidFill>
                <a:latin typeface="Times New Roman" pitchFamily="34" charset="0"/>
                <a:ea typeface="Times New Roman" pitchFamily="34" charset="-122"/>
                <a:cs typeface="Times New Roman" pitchFamily="34" charset="-120"/>
              </a:rPr>
              <a:t>This remains setting-specific evidence, not a claim of universal robustness.</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223A5E"/>
          </a:solidFill>
          <a:ln w="12700">
            <a:solidFill>
              <a:srgbClr val="223A5E">
                <a:alpha val="0"/>
              </a:srgbClr>
            </a:solidFill>
            <a:prstDash val="solid"/>
          </a:ln>
        </p:spPr>
        <p:txBody>
          <a:bodyPr/>
          <a:lstStyle/>
          <a:p>
            <a:endParaRPr lang="zh-CN" altLang="en-US"/>
          </a:p>
        </p:txBody>
      </p:sp>
      <p:sp>
        <p:nvSpPr>
          <p:cNvPr id="3" name="Text 1"/>
          <p:cNvSpPr/>
          <p:nvPr/>
        </p:nvSpPr>
        <p:spPr>
          <a:xfrm>
            <a:off x="502920" y="100584"/>
            <a:ext cx="6583680" cy="219456"/>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Statistical Support And Effect Size</a:t>
            </a:r>
            <a:endParaRPr lang="en-US" sz="2400" dirty="0"/>
          </a:p>
        </p:txBody>
      </p:sp>
      <p:sp>
        <p:nvSpPr>
          <p:cNvPr id="4" name="Text 2"/>
          <p:cNvSpPr/>
          <p:nvPr/>
        </p:nvSpPr>
        <p:spPr>
          <a:xfrm>
            <a:off x="7955280" y="118872"/>
            <a:ext cx="640080" cy="137160"/>
          </a:xfrm>
          <a:prstGeom prst="rect">
            <a:avLst/>
          </a:prstGeom>
          <a:noFill/>
          <a:ln/>
        </p:spPr>
        <p:txBody>
          <a:bodyPr wrap="square" lIns="0" tIns="0" rIns="0" bIns="0" rtlCol="0" anchor="ctr"/>
          <a:lstStyle/>
          <a:p>
            <a:pPr marL="0" indent="0" algn="r">
              <a:buNone/>
            </a:pPr>
            <a:r>
              <a:rPr lang="en-US" sz="1000" dirty="0">
                <a:solidFill>
                  <a:srgbClr val="F7F5F1"/>
                </a:solidFill>
                <a:latin typeface="Times New Roman" pitchFamily="34" charset="0"/>
                <a:ea typeface="Times New Roman" pitchFamily="34" charset="-122"/>
                <a:cs typeface="Times New Roman" pitchFamily="34" charset="-120"/>
              </a:rPr>
              <a:t>13 / 15</a:t>
            </a:r>
            <a:endParaRPr lang="en-US" sz="1000" dirty="0"/>
          </a:p>
        </p:txBody>
      </p:sp>
      <p:sp>
        <p:nvSpPr>
          <p:cNvPr id="5" name="Text 3"/>
          <p:cNvSpPr/>
          <p:nvPr/>
        </p:nvSpPr>
        <p:spPr>
          <a:xfrm>
            <a:off x="502920" y="4736592"/>
            <a:ext cx="2743200" cy="137160"/>
          </a:xfrm>
          <a:prstGeom prst="rect">
            <a:avLst/>
          </a:prstGeom>
          <a:noFill/>
          <a:ln/>
        </p:spPr>
        <p:txBody>
          <a:bodyPr wrap="square" lIns="0" tIns="0" rIns="0" bIns="0" rtlCol="0" anchor="ctr"/>
          <a:lstStyle/>
          <a:p>
            <a:pPr marL="0" indent="0">
              <a:buNone/>
            </a:pPr>
            <a:r>
              <a:rPr lang="en-US" sz="900" dirty="0">
                <a:solidFill>
                  <a:srgbClr val="667085"/>
                </a:solidFill>
                <a:latin typeface="Times New Roman" pitchFamily="34" charset="0"/>
                <a:ea typeface="Times New Roman" pitchFamily="34" charset="-122"/>
                <a:cs typeface="Times New Roman" pitchFamily="34" charset="-120"/>
              </a:rPr>
              <a:t>EE5003 MSc Project | Liu Chengyu</a:t>
            </a:r>
            <a:endParaRPr lang="en-US" sz="900" dirty="0"/>
          </a:p>
        </p:txBody>
      </p:sp>
      <p:sp>
        <p:nvSpPr>
          <p:cNvPr id="6" name="Text 4"/>
          <p:cNvSpPr/>
          <p:nvPr/>
        </p:nvSpPr>
        <p:spPr>
          <a:xfrm>
            <a:off x="5577840" y="4736592"/>
            <a:ext cx="3017520" cy="137160"/>
          </a:xfrm>
          <a:prstGeom prst="rect">
            <a:avLst/>
          </a:prstGeom>
          <a:noFill/>
          <a:ln/>
        </p:spPr>
        <p:txBody>
          <a:bodyPr wrap="square" lIns="0" tIns="0" rIns="0" bIns="0" rtlCol="0" anchor="ctr"/>
          <a:lstStyle/>
          <a:p>
            <a:pPr marL="0" indent="0" algn="r">
              <a:buNone/>
            </a:pPr>
            <a:r>
              <a:rPr lang="en-US" sz="900" dirty="0">
                <a:solidFill>
                  <a:srgbClr val="667085"/>
                </a:solidFill>
                <a:latin typeface="Times New Roman" pitchFamily="34" charset="0"/>
                <a:ea typeface="Times New Roman" pitchFamily="34" charset="-122"/>
                <a:cs typeface="Times New Roman" pitchFamily="34" charset="-120"/>
              </a:rPr>
              <a:t>Approximate Graph Unlearning Audit</a:t>
            </a:r>
            <a:endParaRPr lang="en-US" sz="900" dirty="0"/>
          </a:p>
        </p:txBody>
      </p:sp>
      <p:pic>
        <p:nvPicPr>
          <p:cNvPr id="7" name="Image 0" descr="H:\project\OpenGU\GULib-master\report\0417_5003report\figures\paper_figures\FIG-4a_Significance.png"/>
          <p:cNvPicPr>
            <a:picLocks noChangeAspect="1"/>
          </p:cNvPicPr>
          <p:nvPr/>
        </p:nvPicPr>
        <p:blipFill>
          <a:blip r:embed="rId3"/>
          <a:stretch>
            <a:fillRect/>
          </a:stretch>
        </p:blipFill>
        <p:spPr>
          <a:xfrm>
            <a:off x="530352" y="932688"/>
            <a:ext cx="3794760" cy="2788920"/>
          </a:xfrm>
          <a:prstGeom prst="rect">
            <a:avLst/>
          </a:prstGeom>
        </p:spPr>
      </p:pic>
      <p:pic>
        <p:nvPicPr>
          <p:cNvPr id="8" name="Image 1" descr="H:\project\OpenGU\GULib-master\report\0417_5003report\figures\paper_figures\FIG-4b_Effect.png"/>
          <p:cNvPicPr>
            <a:picLocks noChangeAspect="1"/>
          </p:cNvPicPr>
          <p:nvPr/>
        </p:nvPicPr>
        <p:blipFill>
          <a:blip r:embed="rId4"/>
          <a:stretch>
            <a:fillRect/>
          </a:stretch>
        </p:blipFill>
        <p:spPr>
          <a:xfrm>
            <a:off x="4754880" y="932688"/>
            <a:ext cx="3794760" cy="2788920"/>
          </a:xfrm>
          <a:prstGeom prst="rect">
            <a:avLst/>
          </a:prstGeom>
        </p:spPr>
      </p:pic>
      <p:sp>
        <p:nvSpPr>
          <p:cNvPr id="9" name="Text 5"/>
          <p:cNvSpPr/>
          <p:nvPr/>
        </p:nvSpPr>
        <p:spPr>
          <a:xfrm>
            <a:off x="548640" y="3794760"/>
            <a:ext cx="3730752" cy="146304"/>
          </a:xfrm>
          <a:prstGeom prst="rect">
            <a:avLst/>
          </a:prstGeom>
          <a:noFill/>
          <a:ln/>
        </p:spPr>
        <p:txBody>
          <a:bodyPr wrap="square" lIns="0" tIns="0" rIns="0" bIns="0" rtlCol="0" anchor="ctr"/>
          <a:lstStyle/>
          <a:p>
            <a:pPr marL="0" indent="0">
              <a:buNone/>
            </a:pPr>
            <a:r>
              <a:rPr lang="en-US" sz="900" i="1" dirty="0">
                <a:solidFill>
                  <a:srgbClr val="667085"/>
                </a:solidFill>
                <a:latin typeface="Times New Roman" pitchFamily="34" charset="0"/>
                <a:ea typeface="Times New Roman" pitchFamily="34" charset="-122"/>
                <a:cs typeface="Times New Roman" pitchFamily="34" charset="-120"/>
              </a:rPr>
              <a:t>Figure 4a. Statistical support against random deletion.</a:t>
            </a:r>
            <a:endParaRPr lang="en-US" sz="900" dirty="0"/>
          </a:p>
        </p:txBody>
      </p:sp>
      <p:sp>
        <p:nvSpPr>
          <p:cNvPr id="10" name="Text 6"/>
          <p:cNvSpPr/>
          <p:nvPr/>
        </p:nvSpPr>
        <p:spPr>
          <a:xfrm>
            <a:off x="4773168" y="3794760"/>
            <a:ext cx="3730752" cy="146304"/>
          </a:xfrm>
          <a:prstGeom prst="rect">
            <a:avLst/>
          </a:prstGeom>
          <a:noFill/>
          <a:ln/>
        </p:spPr>
        <p:txBody>
          <a:bodyPr wrap="square" lIns="0" tIns="0" rIns="0" bIns="0" rtlCol="0" anchor="ctr"/>
          <a:lstStyle/>
          <a:p>
            <a:pPr marL="0" indent="0">
              <a:buNone/>
            </a:pPr>
            <a:r>
              <a:rPr lang="en-US" sz="900" i="1" dirty="0">
                <a:solidFill>
                  <a:srgbClr val="667085"/>
                </a:solidFill>
                <a:latin typeface="Times New Roman" pitchFamily="34" charset="0"/>
                <a:ea typeface="Times New Roman" pitchFamily="34" charset="-122"/>
                <a:cs typeface="Times New Roman" pitchFamily="34" charset="-120"/>
              </a:rPr>
              <a:t>Figure 4b. Effect size beyond random deletion.</a:t>
            </a:r>
            <a:endParaRPr lang="en-US" sz="900" dirty="0"/>
          </a:p>
        </p:txBody>
      </p:sp>
      <p:sp>
        <p:nvSpPr>
          <p:cNvPr id="11" name="Shape 7"/>
          <p:cNvSpPr/>
          <p:nvPr/>
        </p:nvSpPr>
        <p:spPr>
          <a:xfrm>
            <a:off x="822960" y="4023360"/>
            <a:ext cx="3246120" cy="685800"/>
          </a:xfrm>
          <a:prstGeom prst="roundRect">
            <a:avLst>
              <a:gd name="adj" fmla="val 6667"/>
            </a:avLst>
          </a:prstGeom>
          <a:solidFill>
            <a:srgbClr val="FFFFFF"/>
          </a:solidFill>
          <a:ln w="13970">
            <a:solidFill>
              <a:srgbClr val="D9DEE7"/>
            </a:solidFill>
            <a:prstDash val="solid"/>
          </a:ln>
        </p:spPr>
        <p:txBody>
          <a:bodyPr/>
          <a:lstStyle/>
          <a:p>
            <a:endParaRPr lang="zh-CN" altLang="en-US"/>
          </a:p>
        </p:txBody>
      </p:sp>
      <p:sp>
        <p:nvSpPr>
          <p:cNvPr id="12" name="Text 8"/>
          <p:cNvSpPr/>
          <p:nvPr/>
        </p:nvSpPr>
        <p:spPr>
          <a:xfrm>
            <a:off x="960120" y="4187952"/>
            <a:ext cx="297180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Support</a:t>
            </a:r>
            <a:endParaRPr lang="en-US" sz="1700" dirty="0"/>
          </a:p>
        </p:txBody>
      </p:sp>
      <p:sp>
        <p:nvSpPr>
          <p:cNvPr id="13" name="Text 9"/>
          <p:cNvSpPr/>
          <p:nvPr/>
        </p:nvSpPr>
        <p:spPr>
          <a:xfrm>
            <a:off x="960120" y="4434840"/>
            <a:ext cx="2971800" cy="182880"/>
          </a:xfrm>
          <a:prstGeom prst="rect">
            <a:avLst/>
          </a:prstGeom>
          <a:noFill/>
          <a:ln/>
        </p:spPr>
        <p:txBody>
          <a:bodyPr wrap="square" lIns="0" tIns="0" rIns="0" bIns="0" rtlCol="0" anchor="ctr">
            <a:normAutofit fontScale="55000" lnSpcReduction="20000"/>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Figure 4a asks how strongly the attack-over-random difference is supported.</a:t>
            </a:r>
            <a:endParaRPr lang="en-US" sz="1220" dirty="0"/>
          </a:p>
        </p:txBody>
      </p:sp>
      <p:sp>
        <p:nvSpPr>
          <p:cNvPr id="14" name="Shape 10"/>
          <p:cNvSpPr/>
          <p:nvPr/>
        </p:nvSpPr>
        <p:spPr>
          <a:xfrm>
            <a:off x="4983480" y="4023360"/>
            <a:ext cx="3246120" cy="685800"/>
          </a:xfrm>
          <a:prstGeom prst="roundRect">
            <a:avLst>
              <a:gd name="adj" fmla="val 6667"/>
            </a:avLst>
          </a:prstGeom>
          <a:solidFill>
            <a:srgbClr val="E8EEF5"/>
          </a:solidFill>
          <a:ln w="13970">
            <a:solidFill>
              <a:srgbClr val="E8EEF5"/>
            </a:solidFill>
            <a:prstDash val="solid"/>
          </a:ln>
        </p:spPr>
        <p:txBody>
          <a:bodyPr/>
          <a:lstStyle/>
          <a:p>
            <a:endParaRPr lang="zh-CN" altLang="en-US"/>
          </a:p>
        </p:txBody>
      </p:sp>
      <p:sp>
        <p:nvSpPr>
          <p:cNvPr id="15" name="Text 11"/>
          <p:cNvSpPr/>
          <p:nvPr/>
        </p:nvSpPr>
        <p:spPr>
          <a:xfrm>
            <a:off x="5120640" y="4187952"/>
            <a:ext cx="297180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Effect</a:t>
            </a:r>
            <a:endParaRPr lang="en-US" sz="1700" dirty="0"/>
          </a:p>
        </p:txBody>
      </p:sp>
      <p:sp>
        <p:nvSpPr>
          <p:cNvPr id="16" name="Text 12"/>
          <p:cNvSpPr/>
          <p:nvPr/>
        </p:nvSpPr>
        <p:spPr>
          <a:xfrm>
            <a:off x="5120640" y="4434840"/>
            <a:ext cx="2971800" cy="182880"/>
          </a:xfrm>
          <a:prstGeom prst="rect">
            <a:avLst/>
          </a:prstGeom>
          <a:noFill/>
          <a:ln/>
        </p:spPr>
        <p:txBody>
          <a:bodyPr wrap="square" lIns="0" tIns="0" rIns="0" bIns="0" rtlCol="0" anchor="ctr">
            <a:normAutofit fontScale="55000" lnSpcReduction="20000"/>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Figure 4b asks how large that extra damage is once support is established.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1"/>
        </a:solidFill>
        <a:effectLst/>
      </p:bgPr>
    </p:bg>
    <p:spTree>
      <p:nvGrpSpPr>
        <p:cNvPr id="1" name=""/>
        <p:cNvGrpSpPr/>
        <p:nvPr/>
      </p:nvGrpSpPr>
      <p:grpSpPr>
        <a:xfrm>
          <a:off x="0" y="0"/>
          <a:ext cx="0" cy="0"/>
          <a:chOff x="0" y="0"/>
          <a:chExt cx="0" cy="0"/>
        </a:xfrm>
      </p:grpSpPr>
      <p:sp>
        <p:nvSpPr>
          <p:cNvPr id="2" name="Shape 0"/>
          <p:cNvSpPr/>
          <p:nvPr/>
        </p:nvSpPr>
        <p:spPr>
          <a:xfrm>
            <a:off x="0" y="0"/>
            <a:ext cx="9144000" cy="530352"/>
          </a:xfrm>
          <a:prstGeom prst="rect">
            <a:avLst/>
          </a:prstGeom>
          <a:solidFill>
            <a:srgbClr val="223A5E"/>
          </a:solidFill>
          <a:ln w="12700">
            <a:solidFill>
              <a:srgbClr val="223A5E">
                <a:alpha val="0"/>
              </a:srgbClr>
            </a:solidFill>
            <a:prstDash val="solid"/>
          </a:ln>
        </p:spPr>
        <p:txBody>
          <a:bodyPr/>
          <a:lstStyle/>
          <a:p>
            <a:endParaRPr lang="zh-CN" altLang="en-US"/>
          </a:p>
        </p:txBody>
      </p:sp>
      <p:sp>
        <p:nvSpPr>
          <p:cNvPr id="3" name="Text 1"/>
          <p:cNvSpPr/>
          <p:nvPr/>
        </p:nvSpPr>
        <p:spPr>
          <a:xfrm>
            <a:off x="502920" y="100584"/>
            <a:ext cx="6583680" cy="219456"/>
          </a:xfrm>
          <a:prstGeom prst="rect">
            <a:avLst/>
          </a:prstGeom>
          <a:noFill/>
          <a:ln/>
        </p:spPr>
        <p:txBody>
          <a:bodyPr wrap="square" lIns="0" tIns="0" rIns="0" bIns="0" rtlCol="0" anchor="ctr"/>
          <a:lstStyle/>
          <a:p>
            <a:pPr marL="0" indent="0">
              <a:buNone/>
            </a:pPr>
            <a:r>
              <a:rPr lang="en-US" sz="2400" b="1" dirty="0">
                <a:solidFill>
                  <a:srgbClr val="FFFFFF"/>
                </a:solidFill>
                <a:latin typeface="Times New Roman" pitchFamily="34" charset="0"/>
                <a:ea typeface="Times New Roman" pitchFamily="34" charset="-122"/>
                <a:cs typeface="Times New Roman" pitchFamily="34" charset="-120"/>
              </a:rPr>
              <a:t>Limitations And Future Work</a:t>
            </a:r>
            <a:endParaRPr lang="en-US" sz="2400" dirty="0"/>
          </a:p>
        </p:txBody>
      </p:sp>
      <p:sp>
        <p:nvSpPr>
          <p:cNvPr id="4" name="Text 2"/>
          <p:cNvSpPr/>
          <p:nvPr/>
        </p:nvSpPr>
        <p:spPr>
          <a:xfrm>
            <a:off x="7955280" y="118872"/>
            <a:ext cx="640080" cy="137160"/>
          </a:xfrm>
          <a:prstGeom prst="rect">
            <a:avLst/>
          </a:prstGeom>
          <a:noFill/>
          <a:ln/>
        </p:spPr>
        <p:txBody>
          <a:bodyPr wrap="square" lIns="0" tIns="0" rIns="0" bIns="0" rtlCol="0" anchor="ctr"/>
          <a:lstStyle/>
          <a:p>
            <a:pPr marL="0" indent="0" algn="r">
              <a:buNone/>
            </a:pPr>
            <a:r>
              <a:rPr lang="en-US" sz="1000" dirty="0">
                <a:solidFill>
                  <a:srgbClr val="F7F5F1"/>
                </a:solidFill>
                <a:latin typeface="Times New Roman" pitchFamily="34" charset="0"/>
                <a:ea typeface="Times New Roman" pitchFamily="34" charset="-122"/>
                <a:cs typeface="Times New Roman" pitchFamily="34" charset="-120"/>
              </a:rPr>
              <a:t>14 / 15</a:t>
            </a:r>
            <a:endParaRPr lang="en-US" sz="1000" dirty="0"/>
          </a:p>
        </p:txBody>
      </p:sp>
      <p:sp>
        <p:nvSpPr>
          <p:cNvPr id="5" name="Text 3"/>
          <p:cNvSpPr/>
          <p:nvPr/>
        </p:nvSpPr>
        <p:spPr>
          <a:xfrm>
            <a:off x="502920" y="4736592"/>
            <a:ext cx="2743200" cy="137160"/>
          </a:xfrm>
          <a:prstGeom prst="rect">
            <a:avLst/>
          </a:prstGeom>
          <a:noFill/>
          <a:ln/>
        </p:spPr>
        <p:txBody>
          <a:bodyPr wrap="square" lIns="0" tIns="0" rIns="0" bIns="0" rtlCol="0" anchor="ctr"/>
          <a:lstStyle/>
          <a:p>
            <a:pPr marL="0" indent="0">
              <a:buNone/>
            </a:pPr>
            <a:r>
              <a:rPr lang="en-US" sz="900" dirty="0">
                <a:solidFill>
                  <a:srgbClr val="667085"/>
                </a:solidFill>
                <a:latin typeface="Times New Roman" pitchFamily="34" charset="0"/>
                <a:ea typeface="Times New Roman" pitchFamily="34" charset="-122"/>
                <a:cs typeface="Times New Roman" pitchFamily="34" charset="-120"/>
              </a:rPr>
              <a:t>EE5003 MSc Project | Liu Chengyu</a:t>
            </a:r>
            <a:endParaRPr lang="en-US" sz="900" dirty="0"/>
          </a:p>
        </p:txBody>
      </p:sp>
      <p:sp>
        <p:nvSpPr>
          <p:cNvPr id="6" name="Text 4"/>
          <p:cNvSpPr/>
          <p:nvPr/>
        </p:nvSpPr>
        <p:spPr>
          <a:xfrm>
            <a:off x="5577840" y="4736592"/>
            <a:ext cx="3017520" cy="137160"/>
          </a:xfrm>
          <a:prstGeom prst="rect">
            <a:avLst/>
          </a:prstGeom>
          <a:noFill/>
          <a:ln/>
        </p:spPr>
        <p:txBody>
          <a:bodyPr wrap="square" lIns="0" tIns="0" rIns="0" bIns="0" rtlCol="0" anchor="ctr"/>
          <a:lstStyle/>
          <a:p>
            <a:pPr marL="0" indent="0" algn="r">
              <a:buNone/>
            </a:pPr>
            <a:r>
              <a:rPr lang="en-US" sz="900" dirty="0">
                <a:solidFill>
                  <a:srgbClr val="667085"/>
                </a:solidFill>
                <a:latin typeface="Times New Roman" pitchFamily="34" charset="0"/>
                <a:ea typeface="Times New Roman" pitchFamily="34" charset="-122"/>
                <a:cs typeface="Times New Roman" pitchFamily="34" charset="-120"/>
              </a:rPr>
              <a:t>Approximate Graph Unlearning Audit</a:t>
            </a:r>
            <a:endParaRPr lang="en-US" sz="900" dirty="0"/>
          </a:p>
        </p:txBody>
      </p:sp>
      <p:sp>
        <p:nvSpPr>
          <p:cNvPr id="7" name="Text 5"/>
          <p:cNvSpPr/>
          <p:nvPr/>
        </p:nvSpPr>
        <p:spPr>
          <a:xfrm>
            <a:off x="621792" y="768096"/>
            <a:ext cx="7498080" cy="228600"/>
          </a:xfrm>
          <a:prstGeom prst="rect">
            <a:avLst/>
          </a:prstGeom>
          <a:noFill/>
          <a:ln/>
        </p:spPr>
        <p:txBody>
          <a:bodyPr wrap="square" lIns="0" tIns="0" rIns="0" bIns="0" rtlCol="0" anchor="ctr"/>
          <a:lstStyle/>
          <a:p>
            <a:pPr marL="0" indent="0">
              <a:buNone/>
            </a:pPr>
            <a:r>
              <a:rPr lang="en-US" sz="1750" b="1" dirty="0">
                <a:solidFill>
                  <a:srgbClr val="223A5E"/>
                </a:solidFill>
                <a:latin typeface="Times New Roman" pitchFamily="34" charset="0"/>
                <a:ea typeface="Times New Roman" pitchFamily="34" charset="-122"/>
                <a:cs typeface="Times New Roman" pitchFamily="34" charset="-120"/>
              </a:rPr>
              <a:t>The project is complete; these scope limits and follow-up directions define what this report does and does not claim.</a:t>
            </a:r>
            <a:endParaRPr lang="en-US" sz="1750" dirty="0"/>
          </a:p>
        </p:txBody>
      </p:sp>
      <p:sp>
        <p:nvSpPr>
          <p:cNvPr id="8" name="Shape 6"/>
          <p:cNvSpPr/>
          <p:nvPr/>
        </p:nvSpPr>
        <p:spPr>
          <a:xfrm>
            <a:off x="749808" y="1389888"/>
            <a:ext cx="2697480" cy="1024128"/>
          </a:xfrm>
          <a:prstGeom prst="roundRect">
            <a:avLst>
              <a:gd name="adj" fmla="val 4464"/>
            </a:avLst>
          </a:prstGeom>
          <a:solidFill>
            <a:srgbClr val="FFFFFF"/>
          </a:solidFill>
          <a:ln w="13970">
            <a:solidFill>
              <a:srgbClr val="D9DEE7"/>
            </a:solidFill>
            <a:prstDash val="solid"/>
          </a:ln>
        </p:spPr>
        <p:txBody>
          <a:bodyPr/>
          <a:lstStyle/>
          <a:p>
            <a:endParaRPr lang="zh-CN" altLang="en-US"/>
          </a:p>
        </p:txBody>
      </p:sp>
      <p:sp>
        <p:nvSpPr>
          <p:cNvPr id="9" name="Text 7"/>
          <p:cNvSpPr/>
          <p:nvPr/>
        </p:nvSpPr>
        <p:spPr>
          <a:xfrm>
            <a:off x="886968" y="1554480"/>
            <a:ext cx="242316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Limitation 1</a:t>
            </a:r>
            <a:endParaRPr lang="en-US" sz="1700" dirty="0"/>
          </a:p>
        </p:txBody>
      </p:sp>
      <p:sp>
        <p:nvSpPr>
          <p:cNvPr id="10" name="Text 8"/>
          <p:cNvSpPr/>
          <p:nvPr/>
        </p:nvSpPr>
        <p:spPr>
          <a:xfrm>
            <a:off x="886968" y="1801368"/>
            <a:ext cx="2423160" cy="521208"/>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Evidence is concentrated on the tested citation benchmarks and backbones.</a:t>
            </a:r>
            <a:endParaRPr lang="en-US" sz="1220" dirty="0"/>
          </a:p>
        </p:txBody>
      </p:sp>
      <p:sp>
        <p:nvSpPr>
          <p:cNvPr id="11" name="Shape 9"/>
          <p:cNvSpPr/>
          <p:nvPr/>
        </p:nvSpPr>
        <p:spPr>
          <a:xfrm>
            <a:off x="749808" y="2688336"/>
            <a:ext cx="2697480" cy="1024128"/>
          </a:xfrm>
          <a:prstGeom prst="roundRect">
            <a:avLst>
              <a:gd name="adj" fmla="val 4464"/>
            </a:avLst>
          </a:prstGeom>
          <a:solidFill>
            <a:srgbClr val="FFFFFF"/>
          </a:solidFill>
          <a:ln w="13970">
            <a:solidFill>
              <a:srgbClr val="D9DEE7"/>
            </a:solidFill>
            <a:prstDash val="solid"/>
          </a:ln>
        </p:spPr>
        <p:txBody>
          <a:bodyPr/>
          <a:lstStyle/>
          <a:p>
            <a:endParaRPr lang="zh-CN" altLang="en-US"/>
          </a:p>
        </p:txBody>
      </p:sp>
      <p:sp>
        <p:nvSpPr>
          <p:cNvPr id="12" name="Text 10"/>
          <p:cNvSpPr/>
          <p:nvPr/>
        </p:nvSpPr>
        <p:spPr>
          <a:xfrm>
            <a:off x="886968" y="2852928"/>
            <a:ext cx="242316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Limitation 2</a:t>
            </a:r>
            <a:endParaRPr lang="en-US" sz="1700" dirty="0"/>
          </a:p>
        </p:txBody>
      </p:sp>
      <p:sp>
        <p:nvSpPr>
          <p:cNvPr id="13" name="Text 11"/>
          <p:cNvSpPr/>
          <p:nvPr/>
        </p:nvSpPr>
        <p:spPr>
          <a:xfrm>
            <a:off x="886968" y="3099816"/>
            <a:ext cx="2423160" cy="521208"/>
          </a:xfrm>
          <a:prstGeom prst="rect">
            <a:avLst/>
          </a:prstGeom>
          <a:noFill/>
          <a:ln/>
        </p:spPr>
        <p:txBody>
          <a:bodyPr wrap="square" lIns="0" tIns="0" rIns="0" bIns="0" rtlCol="0" anchor="ctr">
            <a:normAutofit lnSpcReduction="10000"/>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The mechanism-level explanation for GNNDelete fragility is still incomplete.</a:t>
            </a:r>
            <a:endParaRPr lang="en-US" sz="1220" dirty="0"/>
          </a:p>
        </p:txBody>
      </p:sp>
      <p:sp>
        <p:nvSpPr>
          <p:cNvPr id="14" name="Shape 12"/>
          <p:cNvSpPr/>
          <p:nvPr/>
        </p:nvSpPr>
        <p:spPr>
          <a:xfrm>
            <a:off x="3703320" y="1389888"/>
            <a:ext cx="2697480" cy="1024128"/>
          </a:xfrm>
          <a:prstGeom prst="roundRect">
            <a:avLst>
              <a:gd name="adj" fmla="val 4464"/>
            </a:avLst>
          </a:prstGeom>
          <a:solidFill>
            <a:srgbClr val="FFFFFF"/>
          </a:solidFill>
          <a:ln w="13970">
            <a:solidFill>
              <a:srgbClr val="D9DEE7"/>
            </a:solidFill>
            <a:prstDash val="solid"/>
          </a:ln>
        </p:spPr>
        <p:txBody>
          <a:bodyPr/>
          <a:lstStyle/>
          <a:p>
            <a:endParaRPr lang="zh-CN" altLang="en-US"/>
          </a:p>
        </p:txBody>
      </p:sp>
      <p:sp>
        <p:nvSpPr>
          <p:cNvPr id="15" name="Text 13"/>
          <p:cNvSpPr/>
          <p:nvPr/>
        </p:nvSpPr>
        <p:spPr>
          <a:xfrm>
            <a:off x="3840480" y="1554480"/>
            <a:ext cx="242316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Future work 1</a:t>
            </a:r>
            <a:endParaRPr lang="en-US" sz="1700" dirty="0"/>
          </a:p>
        </p:txBody>
      </p:sp>
      <p:sp>
        <p:nvSpPr>
          <p:cNvPr id="16" name="Text 14"/>
          <p:cNvSpPr/>
          <p:nvPr/>
        </p:nvSpPr>
        <p:spPr>
          <a:xfrm>
            <a:off x="3840480" y="1801368"/>
            <a:ext cx="2423160" cy="521208"/>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Validate the same pattern on larger graph benchmarks such as PubMed.</a:t>
            </a:r>
            <a:endParaRPr lang="en-US" sz="1220" dirty="0"/>
          </a:p>
        </p:txBody>
      </p:sp>
      <p:sp>
        <p:nvSpPr>
          <p:cNvPr id="17" name="Shape 15"/>
          <p:cNvSpPr/>
          <p:nvPr/>
        </p:nvSpPr>
        <p:spPr>
          <a:xfrm>
            <a:off x="3703320" y="2688336"/>
            <a:ext cx="2697480" cy="1024128"/>
          </a:xfrm>
          <a:prstGeom prst="roundRect">
            <a:avLst>
              <a:gd name="adj" fmla="val 4464"/>
            </a:avLst>
          </a:prstGeom>
          <a:solidFill>
            <a:srgbClr val="FFFFFF"/>
          </a:solidFill>
          <a:ln w="13970">
            <a:solidFill>
              <a:srgbClr val="D9DEE7"/>
            </a:solidFill>
            <a:prstDash val="solid"/>
          </a:ln>
        </p:spPr>
        <p:txBody>
          <a:bodyPr/>
          <a:lstStyle/>
          <a:p>
            <a:endParaRPr lang="zh-CN" altLang="en-US"/>
          </a:p>
        </p:txBody>
      </p:sp>
      <p:sp>
        <p:nvSpPr>
          <p:cNvPr id="18" name="Text 16"/>
          <p:cNvSpPr/>
          <p:nvPr/>
        </p:nvSpPr>
        <p:spPr>
          <a:xfrm>
            <a:off x="3840480" y="2852928"/>
            <a:ext cx="242316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Future work 2</a:t>
            </a:r>
            <a:endParaRPr lang="en-US" sz="1700" dirty="0"/>
          </a:p>
        </p:txBody>
      </p:sp>
      <p:sp>
        <p:nvSpPr>
          <p:cNvPr id="19" name="Text 17"/>
          <p:cNvSpPr/>
          <p:nvPr/>
        </p:nvSpPr>
        <p:spPr>
          <a:xfrm>
            <a:off x="3840480" y="3099816"/>
            <a:ext cx="2423160" cy="521208"/>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Add targeted ablations that explain when and why GNNDelete fails.</a:t>
            </a:r>
            <a:endParaRPr lang="en-US" sz="1220" dirty="0"/>
          </a:p>
        </p:txBody>
      </p:sp>
      <p:sp>
        <p:nvSpPr>
          <p:cNvPr id="20" name="Shape 18"/>
          <p:cNvSpPr/>
          <p:nvPr/>
        </p:nvSpPr>
        <p:spPr>
          <a:xfrm>
            <a:off x="6510528" y="1792224"/>
            <a:ext cx="1783080" cy="1417320"/>
          </a:xfrm>
          <a:prstGeom prst="roundRect">
            <a:avLst>
              <a:gd name="adj" fmla="val 3226"/>
            </a:avLst>
          </a:prstGeom>
          <a:solidFill>
            <a:srgbClr val="223A5E"/>
          </a:solidFill>
          <a:ln w="12700">
            <a:solidFill>
              <a:srgbClr val="223A5E">
                <a:alpha val="0"/>
              </a:srgbClr>
            </a:solidFill>
            <a:prstDash val="solid"/>
          </a:ln>
        </p:spPr>
        <p:txBody>
          <a:bodyPr/>
          <a:lstStyle/>
          <a:p>
            <a:endParaRPr lang="zh-CN" altLang="en-US"/>
          </a:p>
        </p:txBody>
      </p:sp>
      <p:sp>
        <p:nvSpPr>
          <p:cNvPr id="21" name="Text 19"/>
          <p:cNvSpPr/>
          <p:nvPr/>
        </p:nvSpPr>
        <p:spPr>
          <a:xfrm>
            <a:off x="6656832" y="1901952"/>
            <a:ext cx="1481328" cy="164592"/>
          </a:xfrm>
          <a:prstGeom prst="rect">
            <a:avLst/>
          </a:prstGeom>
          <a:noFill/>
          <a:ln/>
        </p:spPr>
        <p:txBody>
          <a:bodyPr wrap="square" lIns="0" tIns="0" rIns="0" bIns="0" rtlCol="0" anchor="ctr"/>
          <a:lstStyle/>
          <a:p>
            <a:pPr marL="0" indent="0">
              <a:buNone/>
            </a:pPr>
            <a:r>
              <a:rPr lang="en-US" sz="1380" b="1" dirty="0">
                <a:solidFill>
                  <a:srgbClr val="F7F5F1"/>
                </a:solidFill>
                <a:latin typeface="Times New Roman" pitchFamily="34" charset="0"/>
                <a:ea typeface="Times New Roman" pitchFamily="34" charset="-122"/>
                <a:cs typeface="Times New Roman" pitchFamily="34" charset="-120"/>
              </a:rPr>
              <a:t>Project status</a:t>
            </a:r>
            <a:endParaRPr lang="en-US" sz="1380" dirty="0"/>
          </a:p>
        </p:txBody>
      </p:sp>
      <p:sp>
        <p:nvSpPr>
          <p:cNvPr id="22" name="Text 20"/>
          <p:cNvSpPr/>
          <p:nvPr/>
        </p:nvSpPr>
        <p:spPr>
          <a:xfrm>
            <a:off x="6656832" y="2157984"/>
            <a:ext cx="1481328" cy="868680"/>
          </a:xfrm>
          <a:prstGeom prst="rect">
            <a:avLst/>
          </a:prstGeom>
          <a:noFill/>
          <a:ln/>
        </p:spPr>
        <p:txBody>
          <a:bodyPr wrap="square" lIns="0" tIns="0" rIns="0" bIns="0" rtlCol="0" anchor="ctr">
            <a:normAutofit/>
          </a:bodyPr>
          <a:lstStyle/>
          <a:p>
            <a:pPr marL="0" indent="0">
              <a:buNone/>
            </a:pPr>
            <a:r>
              <a:rPr lang="en-US" sz="1040" dirty="0">
                <a:solidFill>
                  <a:srgbClr val="F7F5F1"/>
                </a:solidFill>
                <a:latin typeface="Times New Roman" pitchFamily="34" charset="0"/>
                <a:ea typeface="Times New Roman" pitchFamily="34" charset="-122"/>
                <a:cs typeface="Times New Roman" pitchFamily="34" charset="-120"/>
              </a:rPr>
              <a:t>Completed MSc project</a:t>
            </a:r>
            <a:endParaRPr lang="en-US" sz="1040" dirty="0"/>
          </a:p>
          <a:p>
            <a:pPr marL="0" indent="0">
              <a:buNone/>
            </a:pPr>
            <a:r>
              <a:rPr lang="en-US" sz="1040" dirty="0">
                <a:solidFill>
                  <a:srgbClr val="F7F5F1"/>
                </a:solidFill>
                <a:latin typeface="Times New Roman" pitchFamily="34" charset="0"/>
                <a:ea typeface="Times New Roman" pitchFamily="34" charset="-122"/>
                <a:cs typeface="Times New Roman" pitchFamily="34" charset="-120"/>
              </a:rPr>
              <a:t>Final course submission with a reusable audit workflow.</a:t>
            </a:r>
            <a:endParaRPr lang="en-US" sz="10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63F"/>
        </a:solidFill>
        <a:effectLst/>
      </p:bgPr>
    </p:bg>
    <p:spTree>
      <p:nvGrpSpPr>
        <p:cNvPr id="1" name=""/>
        <p:cNvGrpSpPr/>
        <p:nvPr/>
      </p:nvGrpSpPr>
      <p:grpSpPr>
        <a:xfrm>
          <a:off x="0" y="0"/>
          <a:ext cx="0" cy="0"/>
          <a:chOff x="0" y="0"/>
          <a:chExt cx="0" cy="0"/>
        </a:xfrm>
      </p:grpSpPr>
      <p:sp>
        <p:nvSpPr>
          <p:cNvPr id="2" name="Text 0"/>
          <p:cNvSpPr/>
          <p:nvPr/>
        </p:nvSpPr>
        <p:spPr>
          <a:xfrm>
            <a:off x="640080" y="658368"/>
            <a:ext cx="2011680" cy="274320"/>
          </a:xfrm>
          <a:prstGeom prst="rect">
            <a:avLst/>
          </a:prstGeom>
          <a:noFill/>
          <a:ln/>
        </p:spPr>
        <p:txBody>
          <a:bodyPr wrap="square" lIns="0" tIns="0" rIns="0" bIns="0" rtlCol="0" anchor="ctr"/>
          <a:lstStyle/>
          <a:p>
            <a:pPr marL="0" indent="0">
              <a:buNone/>
            </a:pPr>
            <a:r>
              <a:rPr lang="en-US" sz="2800" b="1" dirty="0">
                <a:solidFill>
                  <a:srgbClr val="FFFFFF"/>
                </a:solidFill>
                <a:latin typeface="Times New Roman" pitchFamily="34" charset="0"/>
                <a:ea typeface="Times New Roman" pitchFamily="34" charset="-122"/>
                <a:cs typeface="Times New Roman" pitchFamily="34" charset="-120"/>
              </a:rPr>
              <a:t>Conclusion</a:t>
            </a:r>
            <a:endParaRPr lang="en-US" sz="2800" dirty="0"/>
          </a:p>
        </p:txBody>
      </p:sp>
      <p:sp>
        <p:nvSpPr>
          <p:cNvPr id="3" name="Shape 1"/>
          <p:cNvSpPr/>
          <p:nvPr/>
        </p:nvSpPr>
        <p:spPr>
          <a:xfrm>
            <a:off x="777240" y="1234440"/>
            <a:ext cx="2331720" cy="2194560"/>
          </a:xfrm>
          <a:prstGeom prst="roundRect">
            <a:avLst>
              <a:gd name="adj" fmla="val 2083"/>
            </a:avLst>
          </a:prstGeom>
          <a:solidFill>
            <a:srgbClr val="FFFFFF"/>
          </a:solidFill>
          <a:ln w="13970">
            <a:solidFill>
              <a:srgbClr val="D9DEE7"/>
            </a:solidFill>
            <a:prstDash val="solid"/>
          </a:ln>
        </p:spPr>
        <p:txBody>
          <a:bodyPr/>
          <a:lstStyle/>
          <a:p>
            <a:endParaRPr lang="zh-CN" altLang="en-US"/>
          </a:p>
        </p:txBody>
      </p:sp>
      <p:sp>
        <p:nvSpPr>
          <p:cNvPr id="4" name="Text 2"/>
          <p:cNvSpPr/>
          <p:nvPr/>
        </p:nvSpPr>
        <p:spPr>
          <a:xfrm>
            <a:off x="914400" y="1399032"/>
            <a:ext cx="205740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1. Auditability matters</a:t>
            </a:r>
            <a:endParaRPr lang="en-US" sz="1700" dirty="0"/>
          </a:p>
        </p:txBody>
      </p:sp>
      <p:sp>
        <p:nvSpPr>
          <p:cNvPr id="5" name="Text 3"/>
          <p:cNvSpPr/>
          <p:nvPr/>
        </p:nvSpPr>
        <p:spPr>
          <a:xfrm>
            <a:off x="914400" y="1645920"/>
            <a:ext cx="2057400" cy="1691640"/>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Approximate graph unlearning should be evaluated not only for accuracy but also for adversarial deletion robustness.</a:t>
            </a:r>
            <a:endParaRPr lang="en-US" sz="1220" dirty="0"/>
          </a:p>
        </p:txBody>
      </p:sp>
      <p:sp>
        <p:nvSpPr>
          <p:cNvPr id="6" name="Shape 4"/>
          <p:cNvSpPr/>
          <p:nvPr/>
        </p:nvSpPr>
        <p:spPr>
          <a:xfrm>
            <a:off x="3401568" y="1234440"/>
            <a:ext cx="2331720" cy="2194560"/>
          </a:xfrm>
          <a:prstGeom prst="roundRect">
            <a:avLst>
              <a:gd name="adj" fmla="val 2083"/>
            </a:avLst>
          </a:prstGeom>
          <a:solidFill>
            <a:srgbClr val="FFFFFF"/>
          </a:solidFill>
          <a:ln w="13970">
            <a:solidFill>
              <a:srgbClr val="D9DEE7"/>
            </a:solidFill>
            <a:prstDash val="solid"/>
          </a:ln>
        </p:spPr>
        <p:txBody>
          <a:bodyPr/>
          <a:lstStyle/>
          <a:p>
            <a:endParaRPr lang="zh-CN" altLang="en-US"/>
          </a:p>
        </p:txBody>
      </p:sp>
      <p:sp>
        <p:nvSpPr>
          <p:cNvPr id="7" name="Text 5"/>
          <p:cNvSpPr/>
          <p:nvPr/>
        </p:nvSpPr>
        <p:spPr>
          <a:xfrm>
            <a:off x="3538728" y="1399032"/>
            <a:ext cx="205740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2. Family behavior differs</a:t>
            </a:r>
            <a:endParaRPr lang="en-US" sz="1700" dirty="0"/>
          </a:p>
        </p:txBody>
      </p:sp>
      <p:sp>
        <p:nvSpPr>
          <p:cNvPr id="8" name="Text 6"/>
          <p:cNvSpPr/>
          <p:nvPr/>
        </p:nvSpPr>
        <p:spPr>
          <a:xfrm>
            <a:off x="3538728" y="1645920"/>
            <a:ext cx="2057400" cy="1691640"/>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In the tested settings, GNNDelete is most fragile, GIF is comparatively stable, and GraphEraser exhibits shard protection.</a:t>
            </a:r>
            <a:endParaRPr lang="en-US" sz="1220" dirty="0"/>
          </a:p>
        </p:txBody>
      </p:sp>
      <p:sp>
        <p:nvSpPr>
          <p:cNvPr id="9" name="Shape 7"/>
          <p:cNvSpPr/>
          <p:nvPr/>
        </p:nvSpPr>
        <p:spPr>
          <a:xfrm>
            <a:off x="6025896" y="1234440"/>
            <a:ext cx="2331720" cy="2194560"/>
          </a:xfrm>
          <a:prstGeom prst="roundRect">
            <a:avLst>
              <a:gd name="adj" fmla="val 2083"/>
            </a:avLst>
          </a:prstGeom>
          <a:solidFill>
            <a:srgbClr val="FFFFFF"/>
          </a:solidFill>
          <a:ln w="13970">
            <a:solidFill>
              <a:srgbClr val="D9DEE7"/>
            </a:solidFill>
            <a:prstDash val="solid"/>
          </a:ln>
        </p:spPr>
        <p:txBody>
          <a:bodyPr/>
          <a:lstStyle/>
          <a:p>
            <a:endParaRPr lang="zh-CN" altLang="en-US"/>
          </a:p>
        </p:txBody>
      </p:sp>
      <p:sp>
        <p:nvSpPr>
          <p:cNvPr id="10" name="Text 8"/>
          <p:cNvSpPr/>
          <p:nvPr/>
        </p:nvSpPr>
        <p:spPr>
          <a:xfrm>
            <a:off x="6163056" y="1399032"/>
            <a:ext cx="2057400" cy="182880"/>
          </a:xfrm>
          <a:prstGeom prst="rect">
            <a:avLst/>
          </a:prstGeom>
          <a:noFill/>
          <a:ln/>
        </p:spPr>
        <p:txBody>
          <a:bodyPr wrap="square" lIns="0" tIns="0" rIns="0" bIns="0" rtlCol="0" anchor="ctr"/>
          <a:lstStyle/>
          <a:p>
            <a:pPr marL="0" indent="0">
              <a:buNone/>
            </a:pPr>
            <a:r>
              <a:rPr lang="en-US" sz="1700" b="1" dirty="0">
                <a:solidFill>
                  <a:srgbClr val="223A5E"/>
                </a:solidFill>
                <a:latin typeface="Times New Roman" pitchFamily="34" charset="0"/>
                <a:ea typeface="Times New Roman" pitchFamily="34" charset="-122"/>
                <a:cs typeface="Times New Roman" pitchFamily="34" charset="-120"/>
              </a:rPr>
              <a:t>3. Workflow contribution</a:t>
            </a:r>
            <a:endParaRPr lang="en-US" sz="1700" dirty="0"/>
          </a:p>
        </p:txBody>
      </p:sp>
      <p:sp>
        <p:nvSpPr>
          <p:cNvPr id="11" name="Text 9"/>
          <p:cNvSpPr/>
          <p:nvPr/>
        </p:nvSpPr>
        <p:spPr>
          <a:xfrm>
            <a:off x="6163056" y="1645920"/>
            <a:ext cx="2057400" cy="1691640"/>
          </a:xfrm>
          <a:prstGeom prst="rect">
            <a:avLst/>
          </a:prstGeom>
          <a:noFill/>
          <a:ln/>
        </p:spPr>
        <p:txBody>
          <a:bodyPr wrap="square" lIns="0" tIns="0" rIns="0" bIns="0" rtlCol="0" anchor="ctr">
            <a:normAutofit/>
          </a:bodyPr>
          <a:lstStyle/>
          <a:p>
            <a:pPr marL="0" indent="0">
              <a:buNone/>
            </a:pPr>
            <a:r>
              <a:rPr lang="en-US" sz="1220" dirty="0">
                <a:solidFill>
                  <a:srgbClr val="1E2630"/>
                </a:solidFill>
                <a:latin typeface="Times New Roman" pitchFamily="34" charset="0"/>
                <a:ea typeface="Times New Roman" pitchFamily="34" charset="-122"/>
                <a:cs typeface="Times New Roman" pitchFamily="34" charset="-120"/>
              </a:rPr>
              <a:t>The project contributes a reusable OpenGU-based audit pipeline alongside the findings themselves.</a:t>
            </a:r>
            <a:endParaRPr lang="en-US" sz="1220" dirty="0"/>
          </a:p>
        </p:txBody>
      </p:sp>
      <p:sp>
        <p:nvSpPr>
          <p:cNvPr id="12" name="Text 10"/>
          <p:cNvSpPr/>
          <p:nvPr/>
        </p:nvSpPr>
        <p:spPr>
          <a:xfrm>
            <a:off x="713232" y="3886200"/>
            <a:ext cx="7772400" cy="411480"/>
          </a:xfrm>
          <a:prstGeom prst="rect">
            <a:avLst/>
          </a:prstGeom>
          <a:noFill/>
          <a:ln/>
        </p:spPr>
        <p:txBody>
          <a:bodyPr wrap="square" lIns="0" tIns="0" rIns="0" bIns="0" rtlCol="0" anchor="ctr"/>
          <a:lstStyle/>
          <a:p>
            <a:pPr marL="0" indent="0" algn="ctr">
              <a:buNone/>
            </a:pPr>
            <a:r>
              <a:rPr lang="en-US" sz="3200" b="1" dirty="0">
                <a:solidFill>
                  <a:srgbClr val="FFFFFF"/>
                </a:solidFill>
                <a:latin typeface="Times New Roman" pitchFamily="34" charset="0"/>
                <a:ea typeface="Times New Roman" pitchFamily="34" charset="-122"/>
                <a:cs typeface="Times New Roman" pitchFamily="34" charset="-120"/>
              </a:rPr>
              <a:t>Thank you. Q&amp;A</a:t>
            </a:r>
            <a:endParaRPr lang="en-US" sz="3200" dirty="0"/>
          </a:p>
        </p:txBody>
      </p:sp>
      <p:sp>
        <p:nvSpPr>
          <p:cNvPr id="13" name="Text 11"/>
          <p:cNvSpPr/>
          <p:nvPr/>
        </p:nvSpPr>
        <p:spPr>
          <a:xfrm>
            <a:off x="658368" y="4681728"/>
            <a:ext cx="2286000" cy="137160"/>
          </a:xfrm>
          <a:prstGeom prst="rect">
            <a:avLst/>
          </a:prstGeom>
          <a:noFill/>
          <a:ln/>
        </p:spPr>
        <p:txBody>
          <a:bodyPr wrap="square" lIns="0" tIns="0" rIns="0" bIns="0" rtlCol="0" anchor="ctr"/>
          <a:lstStyle/>
          <a:p>
            <a:pPr marL="0" indent="0">
              <a:buNone/>
            </a:pPr>
            <a:r>
              <a:rPr lang="en-US" sz="900" dirty="0">
                <a:solidFill>
                  <a:srgbClr val="F7F5F1"/>
                </a:solidFill>
                <a:latin typeface="Times New Roman" pitchFamily="34" charset="0"/>
                <a:ea typeface="Times New Roman" pitchFamily="34" charset="-122"/>
                <a:cs typeface="Times New Roman" pitchFamily="34" charset="-120"/>
              </a:rPr>
              <a:t>EE5003 MSc Project | Liu Chengyu</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TotalTime>
  <Words>4144</Words>
  <Application>Microsoft Office PowerPoint</Application>
  <PresentationFormat>全屏显示(16:9)</PresentationFormat>
  <Paragraphs>344</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15</vt:i4>
      </vt:variant>
    </vt:vector>
  </HeadingPairs>
  <TitlesOfParts>
    <vt:vector size="18" baseType="lpstr">
      <vt:lpstr>Arial</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EE5003 Final Presentation</dc:title>
  <dc:subject>Adversarial Deletion Attacks on Approximate Graph Unlearning</dc:subject>
  <dc:creator>OpenAI Codex</dc:creator>
  <cp:lastModifiedBy>Liu Chengyu</cp:lastModifiedBy>
  <cp:revision>28</cp:revision>
  <dcterms:created xsi:type="dcterms:W3CDTF">2026-04-17T06:48:30Z</dcterms:created>
  <dcterms:modified xsi:type="dcterms:W3CDTF">2026-04-17T10:09:36Z</dcterms:modified>
</cp:coreProperties>
</file>