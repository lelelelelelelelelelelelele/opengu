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4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526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8EEF5">
              <a:alpha val="88000"/>
            </a:srgbClr>
          </a:solidFill>
          <a:ln w="12700">
            <a:solidFill>
              <a:srgbClr val="E8EE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Deletion Attacks on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inheritance of safety behavior within graph unlearning families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Report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National University of Singapore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Liu Chengyu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April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73952" y="1188720"/>
            <a:ext cx="196596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611112" y="13533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6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11112" y="160020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Deletion interfaces in approximate graph unlearning can be exploited to amplify approximation error, and fragility differs sharply across method families.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510528" y="3154680"/>
            <a:ext cx="87782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47104" y="322783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26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534656" y="3154680"/>
            <a:ext cx="877824" cy="310896"/>
          </a:xfrm>
          <a:prstGeom prst="roundRect">
            <a:avLst>
              <a:gd name="adj" fmla="val 11765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571232" y="322783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10528" y="3639312"/>
            <a:ext cx="877824" cy="310896"/>
          </a:xfrm>
          <a:prstGeom prst="roundRect">
            <a:avLst>
              <a:gd name="adj" fmla="val 11765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47104" y="3712464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534656" y="3639312"/>
            <a:ext cx="87782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571232" y="3712464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26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Graph Unlearning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76809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Deletion requests are operationally plausible, and approximation turns them into a security question.</a:t>
            </a:r>
            <a:endParaRPr lang="en-US" sz="1720" dirty="0"/>
          </a:p>
        </p:txBody>
      </p:sp>
      <p:sp>
        <p:nvSpPr>
          <p:cNvPr id="8" name="Shape 6"/>
          <p:cNvSpPr/>
          <p:nvPr/>
        </p:nvSpPr>
        <p:spPr>
          <a:xfrm>
            <a:off x="594360" y="1353312"/>
            <a:ext cx="2468880" cy="22677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deletion requests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21945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User-level or node-level removal is realistic in citation, social, and recommendation graphs.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3337560" y="1353312"/>
            <a:ext cx="2468880" cy="22677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74720" y="14630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</a:t>
            </a:r>
            <a:endParaRPr lang="en-US" sz="1580" dirty="0"/>
          </a:p>
          <a:p>
            <a:pPr marL="0" indent="0">
              <a:buNone/>
            </a:pPr>
            <a:r>
              <a:rPr lang="en-US" sz="158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unlearning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1945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Exact retraining is expensive, so practical systems use approximation.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080760" y="1353312"/>
            <a:ext cx="2468880" cy="22677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14630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surface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6217920" y="2377440"/>
            <a:ext cx="21945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malicious requester may exploit the deletion interface itself by choosing harmful targets.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565392" y="3822192"/>
            <a:ext cx="1938528" cy="749808"/>
          </a:xfrm>
          <a:prstGeom prst="roundRect">
            <a:avLst>
              <a:gd name="adj" fmla="val 6098"/>
            </a:avLst>
          </a:prstGeom>
          <a:solidFill>
            <a:srgbClr val="A6404B"/>
          </a:solidFill>
          <a:ln w="12700">
            <a:solidFill>
              <a:srgbClr val="A64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38544" y="39319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38544" y="420624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Compliance tool and attack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 And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7863840" cy="868680"/>
          </a:xfrm>
          <a:prstGeom prst="roundRect">
            <a:avLst>
              <a:gd name="adj" fmla="val 5263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77240" y="107899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malicious deletion requests amplify approximation error and degrade retained-model utility beyond ordinary deletion at the same budget?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14400" y="23134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an attack pipeline with multiple deletion strategies.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800600" y="23134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00600" y="2560320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vulnerability across method families, not just one algorithm.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77240" y="3291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14400" y="34564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3703320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attribution metrics for collateral and retrain gap.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800600" y="34564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00600" y="3703320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whether adversarial node selection is practically efficient.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Families And Threat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498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Families under test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" y="1051560"/>
            <a:ext cx="2880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95528" y="121615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Learning-based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5528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 a direct unlearning correction; GNNDelete is the fragile representative here.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58368" y="2148840"/>
            <a:ext cx="2880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95528" y="23134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IF-based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95528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deletion through local influence-style updates; GIF stays comparatively stable.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58368" y="3246120"/>
            <a:ext cx="2880360" cy="960120"/>
          </a:xfrm>
          <a:prstGeom prst="roundRect">
            <a:avLst>
              <a:gd name="adj" fmla="val 4762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95528" y="341071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Shard-based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95528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Partition the graph and retrain affected shards; GraphEraser behaves differently in the tested settings.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931920" y="1051560"/>
            <a:ext cx="4526280" cy="1920240"/>
          </a:xfrm>
          <a:prstGeom prst="roundRect">
            <a:avLst>
              <a:gd name="adj" fmla="val 2381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069080" y="1216152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Threat model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069080" y="1463040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Attacker capability: choose which nodes to delete through the normal interface.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 of scope: poisoning labels, features, or hidden training code.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Target: maximize post-unlearning utility loss beyond random deletion.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069080" y="3337560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142232" y="344728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ΔF1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142232" y="372160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attack-over-random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3337560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A6404B"/>
          </a:solidFill>
          <a:ln w="12700">
            <a:solidFill>
              <a:srgbClr val="A64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605272" y="344728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605272" y="372160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 exact retrain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3337560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E8EEF5"/>
          </a:solidFill>
          <a:ln w="12700">
            <a:solidFill>
              <a:srgbClr val="E8EE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068312" y="344728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26.2%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068312" y="372160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non-target changes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Pipeline And Experimental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workflow compares approximate unlearning against an exact-retrain control on the same deletion set.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22960" y="1490472"/>
            <a:ext cx="384048" cy="384048"/>
          </a:xfrm>
          <a:prstGeom prst="ellipse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22960" y="15453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344168" y="144475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nodes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44168" y="166420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random or structured attack targets.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85800" y="222199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22960" y="2359152"/>
            <a:ext cx="384048" cy="384048"/>
          </a:xfrm>
          <a:prstGeom prst="ellipse">
            <a:avLst/>
          </a:prstGeom>
          <a:solidFill>
            <a:srgbClr val="A6404B"/>
          </a:solidFill>
          <a:ln w="12700">
            <a:solidFill>
              <a:srgbClr val="A64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22960" y="24140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344168" y="231343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unlearning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44168" y="253288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the selected graph unlearning method.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85800" y="309067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22960" y="3227832"/>
            <a:ext cx="384048" cy="384048"/>
          </a:xfrm>
          <a:prstGeom prst="ellipse">
            <a:avLst/>
          </a:prstGeom>
          <a:solidFill>
            <a:srgbClr val="E8EEF5"/>
          </a:solidFill>
          <a:ln w="12700">
            <a:solidFill>
              <a:srgbClr val="E8EE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2960" y="32826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344168" y="318211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Exact retrain control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344168" y="340156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Retrain on the same deletions for the gold-standard reference.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85800" y="395935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22960" y="4096512"/>
            <a:ext cx="384048" cy="384048"/>
          </a:xfrm>
          <a:prstGeom prst="ellipse">
            <a:avLst/>
          </a:prstGeom>
          <a:solidFill>
            <a:srgbClr val="1E2630"/>
          </a:solidFill>
          <a:ln w="12700">
            <a:solidFill>
              <a:srgbClr val="1E263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2960" y="41513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1344168" y="40507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outcomes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344168" y="427024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utility loss, retrain gap, and collateral damage.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4800600" y="1371600"/>
            <a:ext cx="3611880" cy="3273552"/>
          </a:xfrm>
          <a:prstGeom prst="roundRect">
            <a:avLst>
              <a:gd name="adj" fmla="val 139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937760" y="153619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matrix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937760" y="1783080"/>
            <a:ext cx="3337560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Methods: 5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Datasets: 2 citation graphs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Backbones: 3 GNN architectures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Strategies: 6 node-selection methods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Runs: 950 experiment executions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Outputs: relative_f1_drop, retrain_gap, collateral damage, and efficiency.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Selection Logic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attack is not only about how many nodes are deleted, but about what logic is used to choose them.</a:t>
            </a:r>
            <a:endParaRPr lang="en-US" sz="1660" dirty="0"/>
          </a:p>
        </p:txBody>
      </p:sp>
      <p:sp>
        <p:nvSpPr>
          <p:cNvPr id="8" name="Shape 6"/>
          <p:cNvSpPr/>
          <p:nvPr/>
        </p:nvSpPr>
        <p:spPr>
          <a:xfrm>
            <a:off x="713232" y="1325880"/>
            <a:ext cx="2487168" cy="2029968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50392" y="149047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TracIn / IF-style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1737360"/>
            <a:ext cx="22128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Model-aware logic.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 nodes with high training influence on the learned model.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Shorthand: score(v) ≈ I_train(v)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328416" y="1325880"/>
            <a:ext cx="2487168" cy="2029968"/>
          </a:xfrm>
          <a:prstGeom prst="roundRect">
            <a:avLst>
              <a:gd name="adj" fmla="val 2252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65576" y="149047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65576" y="1737360"/>
            <a:ext cx="22128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Graph-structural logic.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 nodes that maximize spread or disruption in the graph.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Shorthand: score(S) = spread(S)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943600" y="1325880"/>
            <a:ext cx="2487168" cy="2029968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080760" y="149047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80760" y="1737360"/>
            <a:ext cx="22128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 model-side influence with topology-side spread to search for stronger targets.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Shorthand: score(v) = α·z_IF(v) + (1-α)·z_IM(v)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078992" y="3803904"/>
            <a:ext cx="6912864" cy="694944"/>
          </a:xfrm>
          <a:prstGeom prst="roundRect">
            <a:avLst>
              <a:gd name="adj" fmla="val 6579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216152" y="3968496"/>
            <a:ext cx="6638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rule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16152" y="4215384"/>
            <a:ext cx="66385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these formulas only as intuition. The benchmark compares attacker logics: model-aware selection, graph-structural selection, and a hybrid of the two.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Metrics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metrics answer three different questions: how much extra damage appears beyond a k=5 baseline, where it comes from, and how far it spreads.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713232" y="1325880"/>
            <a:ext cx="2542032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50392" y="149047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Utility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1737360"/>
            <a:ext cx="2267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relative_f1_drop = F1_after(k=5, random) - F1_after(attack)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 tiny random-trigger baseline because raw drop can mislead on shard-based methods.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328416" y="1325880"/>
            <a:ext cx="2542032" cy="2148840"/>
          </a:xfrm>
          <a:prstGeom prst="roundRect">
            <a:avLst>
              <a:gd name="adj" fmla="val 2128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65576" y="149047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Fidelity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65576" y="1737360"/>
            <a:ext cx="2267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retrain_gap = F1_retrain - F1_unlearn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total_drop = drop_retrain + retrain_gap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943600" y="1325880"/>
            <a:ext cx="2542032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080760" y="149047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Collateral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80760" y="1737360"/>
            <a:ext cx="2267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fraction_flipped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mean_pred_shift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show how strongly retained nodes are disturbed.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87552" y="3611880"/>
            <a:ext cx="7095744" cy="914400"/>
          </a:xfrm>
          <a:prstGeom prst="roundRect">
            <a:avLst>
              <a:gd name="adj" fmla="val 5000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24712" y="3776472"/>
            <a:ext cx="6821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rule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24712" y="4023360"/>
            <a:ext cx="6821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trigger each method with a tiny random deletion, k=5, and use that post-unlearning F1 as the reference point. Then compare stronger attacks against that baseline; retrain_gap and collateral metrics explain why the utility changes appear.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Finding: Family Spectrum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1_Gener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4983480" cy="3154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418795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1. Family-level spectrum using relative F1 drop at ratio = 0.05.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50992" y="914400"/>
            <a:ext cx="2788920" cy="914400"/>
          </a:xfrm>
          <a:prstGeom prst="roundRect">
            <a:avLst>
              <a:gd name="adj" fmla="val 5000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788152" y="10789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read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788152" y="1325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Relative_f1_drop reveals a family-level vulnerability spectrum rather than one shared failure pattern.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5650992" y="1965960"/>
            <a:ext cx="2788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788152" y="21305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640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Family readout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788152" y="2377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GNNDelete highest.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GIF comparatively stable.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GraphEraser shows shard protection.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5650992" y="3063240"/>
            <a:ext cx="2788920" cy="1280160"/>
          </a:xfrm>
          <a:prstGeom prst="roundRect">
            <a:avLst>
              <a:gd name="adj" fmla="val 3571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788152" y="32278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Strategy readout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788152" y="34747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Across the same figure family and the companion strategy view, the strongest extra damage still concentrates on GNNDelete rather than spreading evenly across methods.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Finding: Strategy Spectrum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3_Spect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932688"/>
            <a:ext cx="7818120" cy="3566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4590288"/>
            <a:ext cx="7543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Figure 3. Strategy comparison in relative_f1_drop at ratio = 0.05 using the k=5 baseline.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 Sensitivity And Ablation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2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914400"/>
            <a:ext cx="525780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429768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2. Ratio-sensitivity view for GIF and GNNDelete on Cora/GCN.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16752" y="960120"/>
            <a:ext cx="235915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153912" y="112471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Ablation read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153912" y="13716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page asks how attack strength changes as the deletion ratio increases, not only who wins at one fixed point.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6016752" y="2057400"/>
            <a:ext cx="2359152" cy="1051560"/>
          </a:xfrm>
          <a:prstGeom prst="roundRect">
            <a:avLst>
              <a:gd name="adj" fmla="val 4348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6153912" y="222199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 pattern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153912" y="24688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GNNDelete stays sensitive even at small ratios, while GIF remains much flatter across the same range.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016752" y="3200400"/>
            <a:ext cx="2359152" cy="1051560"/>
          </a:xfrm>
          <a:prstGeom prst="roundRect">
            <a:avLst>
              <a:gd name="adj" fmla="val 4348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153912" y="336499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153912" y="36118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family difference is structural rather than a one-point artifact of the chosen ratio.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Attribution And Collateral Damage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7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relative_f1_drop says the attack beats the k=5 method baseline; retrain_gap and collateral metrics explain where the extra damage comes from.</a:t>
            </a:r>
            <a:endParaRPr lang="en-US" sz="1670" dirty="0"/>
          </a:p>
        </p:txBody>
      </p:sp>
      <p:sp>
        <p:nvSpPr>
          <p:cNvPr id="8" name="Shape 6"/>
          <p:cNvSpPr/>
          <p:nvPr/>
        </p:nvSpPr>
        <p:spPr>
          <a:xfrm>
            <a:off x="713232" y="1371600"/>
            <a:ext cx="2487168" cy="22677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50392" y="153619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success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1783080"/>
            <a:ext cx="221284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relative_f1_drop tells us whether a structured attack causes more loss than the small random-trigger baseline.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487168" cy="2267712"/>
          </a:xfrm>
          <a:prstGeom prst="roundRect">
            <a:avLst>
              <a:gd name="adj" fmla="val 2016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74720" y="153619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Attribution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74720" y="1783080"/>
            <a:ext cx="221284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retrain_gap isolates the additional approximation error by comparing approximate unlearning with exact retraining on the same deletion set.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961888" y="1371600"/>
            <a:ext cx="2487168" cy="22677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099048" y="153619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Spillover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9048" y="1783080"/>
            <a:ext cx="221284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fraction_flipped and mean_pred_shift show how strongly retained non-target nodes are disturbed.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749808" y="374904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Collateral evidence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1847088" y="3658138"/>
            <a:ext cx="6565392" cy="877824"/>
          </a:xfrm>
          <a:prstGeom prst="roundRect">
            <a:avLst>
              <a:gd name="adj" fmla="val 4167"/>
            </a:avLst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993392" y="3767328"/>
            <a:ext cx="6272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| Avg Gap | Pred Shift / Flip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1993392" y="3941064"/>
            <a:ext cx="62727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GNNDelete | 9.74% | 0.245 / 26.2%</a:t>
            </a:r>
            <a:endParaRPr lang="en-US" sz="890" dirty="0"/>
          </a:p>
        </p:txBody>
      </p:sp>
      <p:sp>
        <p:nvSpPr>
          <p:cNvPr id="21" name="Text 19"/>
          <p:cNvSpPr/>
          <p:nvPr/>
        </p:nvSpPr>
        <p:spPr>
          <a:xfrm>
            <a:off x="1993392" y="4105656"/>
            <a:ext cx="62727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GraphEraser | 0.13% | 0.265 / 18.4%</a:t>
            </a:r>
            <a:endParaRPr lang="en-US" sz="890" dirty="0"/>
          </a:p>
        </p:txBody>
      </p:sp>
      <p:sp>
        <p:nvSpPr>
          <p:cNvPr id="22" name="Text 20"/>
          <p:cNvSpPr/>
          <p:nvPr/>
        </p:nvSpPr>
        <p:spPr>
          <a:xfrm>
            <a:off x="1993392" y="4270248"/>
            <a:ext cx="62727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GIF | -0.34% | 0.024 / 3.1%</a:t>
            </a:r>
            <a:endParaRPr lang="en-US" sz="890" dirty="0"/>
          </a:p>
        </p:txBody>
      </p:sp>
      <p:sp>
        <p:nvSpPr>
          <p:cNvPr id="23" name="Text 21"/>
          <p:cNvSpPr/>
          <p:nvPr/>
        </p:nvSpPr>
        <p:spPr>
          <a:xfrm>
            <a:off x="749808" y="4572000"/>
            <a:ext cx="7571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this as a compact anchor from the report-level collateral table: GNNDelete combines the largest retrain gap with the strongest retained-node disturbance.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GraphEraser And Shard Protection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report_figures\fig2_grapheraser_sh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24128"/>
            <a:ext cx="4800600" cy="34015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4462272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 shard-level score shift for GraphEraser on Cora/GCN.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0" y="1005840"/>
            <a:ext cx="2697480" cy="1051560"/>
          </a:xfrm>
          <a:prstGeom prst="roundRect">
            <a:avLst>
              <a:gd name="adj" fmla="val 4348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806440" y="11704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 pattern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806440" y="1417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After-unlearning scores shift upward across the tested strategies, which is evidence for a shard protection effect in these settings.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5669280" y="2148840"/>
            <a:ext cx="26974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806440" y="23134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806440" y="2560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why raw utility drop alone is not the right cross-family metric here; the k=5 relative baseline is the cleaner comparison lens.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5669280" y="3291840"/>
            <a:ext cx="2697480" cy="960120"/>
          </a:xfrm>
          <a:prstGeom prst="roundRect">
            <a:avLst>
              <a:gd name="adj" fmla="val 4762"/>
            </a:avLst>
          </a:prstGeom>
          <a:solidFill>
            <a:srgbClr val="A6404B"/>
          </a:solidFill>
          <a:ln w="13970">
            <a:solidFill>
              <a:srgbClr val="A640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806440" y="34564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806440" y="3703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remains setting-specific evidence, not a claim of universal robustness.</a:t>
            </a:r>
            <a:endParaRPr lang="en-US" sz="12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 Support And Effect Size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4a_Signific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932688"/>
            <a:ext cx="3794760" cy="2788920"/>
          </a:xfrm>
          <a:prstGeom prst="rect">
            <a:avLst/>
          </a:prstGeom>
        </p:spPr>
      </p:pic>
      <p:pic>
        <p:nvPicPr>
          <p:cNvPr id="8" name="Image 1" descr="H:\project\OpenGU\GULib-master\report\0417_5003report\figures\paper_figures\FIG-4b_Eff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32688"/>
            <a:ext cx="3794760" cy="2788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3794760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4a. Statistical support against random deletion.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773168" y="3794760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4b. Effect size beyond random deletion.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22960" y="4023360"/>
            <a:ext cx="32461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960120" y="41879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960120" y="443484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4a asks how strongly the attack-over-random difference is supported.</a:t>
            </a:r>
            <a:endParaRPr lang="en-US" sz="1220" dirty="0"/>
          </a:p>
        </p:txBody>
      </p:sp>
      <p:sp>
        <p:nvSpPr>
          <p:cNvPr id="14" name="Shape 10"/>
          <p:cNvSpPr/>
          <p:nvPr/>
        </p:nvSpPr>
        <p:spPr>
          <a:xfrm>
            <a:off x="4983480" y="4023360"/>
            <a:ext cx="3246120" cy="685800"/>
          </a:xfrm>
          <a:prstGeom prst="roundRect">
            <a:avLst>
              <a:gd name="adj" fmla="val 6667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5120640" y="41879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120640" y="443484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4b asks how large that extra damage is once support is established.</a:t>
            </a:r>
            <a:endParaRPr lang="en-US" sz="12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And Future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is complete; these scope limits and follow-up directions define what this report does and does not claim.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9808" y="1389888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86968" y="15544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 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1801368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is concentrated on the tested citation benchmarks and backbones.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2688336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86968" y="28529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 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6968" y="3099816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mechanism-level explanation for GNNDelete fragility is still incomplete.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3703320" y="1389888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840480" y="15544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 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40480" y="1801368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 the same pattern on larger graph benchmarks such as PubMed.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703320" y="2688336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840480" y="28529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 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840480" y="3099816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targeted ablations that explain when and why GNNDelete fails.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510528" y="1792224"/>
            <a:ext cx="1783080" cy="1417320"/>
          </a:xfrm>
          <a:prstGeom prst="roundRect">
            <a:avLst>
              <a:gd name="adj" fmla="val 3226"/>
            </a:avLst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656832" y="190195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status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6656832" y="2157984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 MSc project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course submission with a reusable audit workflow.</a:t>
            </a:r>
            <a:endParaRPr lang="en-US" sz="10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233172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14400" y="13990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Auditability matters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2057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should be evaluated not only for accuracy but also for adversarial deletion robustness.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3401568" y="1234440"/>
            <a:ext cx="233172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538728" y="13990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Family behavior differs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38728" y="1645920"/>
            <a:ext cx="2057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tested settings, GNNDelete is most fragile, GIF is comparatively stable, and GraphEraser exhibits shard protection.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025896" y="1234440"/>
            <a:ext cx="233172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163056" y="13990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Workflow contribution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63056" y="1645920"/>
            <a:ext cx="2057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contributes a reusable OpenGU-based audit pipeline alongside the findings themselves.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713232" y="3886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you. Q&amp;A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8368" y="468172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1546</Words>
  <Application>Microsoft Office PowerPoint</Application>
  <PresentationFormat>全屏显示(16:9)</PresentationFormat>
  <Paragraphs>237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EE5003 Final Presentation</dc:title>
  <dc:subject>Adversarial Deletion Attacks on Approximate Graph Unlearning</dc:subject>
  <dc:creator>OpenAI Codex</dc:creator>
  <cp:lastModifiedBy>Liu Chengyu</cp:lastModifiedBy>
  <cp:revision>2</cp:revision>
  <dcterms:created xsi:type="dcterms:W3CDTF">2026-04-17T07:48:16Z</dcterms:created>
  <dcterms:modified xsi:type="dcterms:W3CDTF">2026-04-17T08:04:27Z</dcterms:modified>
</cp:coreProperties>
</file>