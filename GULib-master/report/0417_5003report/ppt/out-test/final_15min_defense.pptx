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8EEF5">
              <a:alpha val="88000"/>
            </a:srgbClr>
          </a:solidFill>
          <a:ln w="12700">
            <a:solidFill>
              <a:srgbClr val="E8EEF5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74980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Adversarial Deletion Attacks on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13232" y="2103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inheritance of safety behavior within graph unlearning families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13232" y="2926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Report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National University of Singapore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13232" y="36576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Liu Chengyu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April 2026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73952" y="1188720"/>
            <a:ext cx="1965960" cy="164592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1112" y="128016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6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Thesis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11112" y="1527048"/>
            <a:ext cx="169164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Deletion interfaces in approximate graph unlearning can be exploited to amplify approximation error, and fragility differs sharply across method families.</a:t>
            </a:r>
            <a:endParaRPr lang="en-US" sz="1220" dirty="0"/>
          </a:p>
        </p:txBody>
      </p:sp>
      <p:sp>
        <p:nvSpPr>
          <p:cNvPr id="10" name="Shape 8"/>
          <p:cNvSpPr/>
          <p:nvPr/>
        </p:nvSpPr>
        <p:spPr>
          <a:xfrm>
            <a:off x="6510528" y="3154680"/>
            <a:ext cx="877824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47104" y="3227832"/>
            <a:ext cx="8046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626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7534656" y="3154680"/>
            <a:ext cx="877824" cy="310896"/>
          </a:xfrm>
          <a:prstGeom prst="roundRect">
            <a:avLst>
              <a:gd name="adj" fmla="val 11765"/>
            </a:avLst>
          </a:prstGeom>
          <a:solidFill>
            <a:srgbClr val="E8EEF5"/>
          </a:solidFill>
          <a:ln w="12700">
            <a:solidFill>
              <a:srgbClr val="E8EE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71232" y="3227832"/>
            <a:ext cx="8046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</a:t>
            </a:r>
            <a:endParaRPr lang="en-US" sz="1120" dirty="0"/>
          </a:p>
        </p:txBody>
      </p:sp>
      <p:sp>
        <p:nvSpPr>
          <p:cNvPr id="14" name="Shape 12"/>
          <p:cNvSpPr/>
          <p:nvPr/>
        </p:nvSpPr>
        <p:spPr>
          <a:xfrm>
            <a:off x="6510528" y="3639312"/>
            <a:ext cx="877824" cy="310896"/>
          </a:xfrm>
          <a:prstGeom prst="roundRect">
            <a:avLst>
              <a:gd name="adj" fmla="val 11765"/>
            </a:avLst>
          </a:prstGeom>
          <a:solidFill>
            <a:srgbClr val="E8EEF5"/>
          </a:solidFill>
          <a:ln w="12700">
            <a:solidFill>
              <a:srgbClr val="E8EE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47104" y="3712464"/>
            <a:ext cx="8046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Results</a:t>
            </a:r>
            <a:endParaRPr lang="en-US" sz="1120" dirty="0"/>
          </a:p>
        </p:txBody>
      </p:sp>
      <p:sp>
        <p:nvSpPr>
          <p:cNvPr id="16" name="Shape 14"/>
          <p:cNvSpPr/>
          <p:nvPr/>
        </p:nvSpPr>
        <p:spPr>
          <a:xfrm>
            <a:off x="7534656" y="3639312"/>
            <a:ext cx="877824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71232" y="3712464"/>
            <a:ext cx="8046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626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Takeaway</a:t>
            </a:r>
            <a:endParaRPr lang="en-US" sz="11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Graph Unlearning Matters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768096"/>
            <a:ext cx="5486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2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Deletion requests are operationally plausible, and approximation turns them into a security question.</a:t>
            </a:r>
            <a:endParaRPr lang="en-US" sz="1720" dirty="0"/>
          </a:p>
        </p:txBody>
      </p:sp>
      <p:sp>
        <p:nvSpPr>
          <p:cNvPr id="8" name="Shape 6"/>
          <p:cNvSpPr/>
          <p:nvPr/>
        </p:nvSpPr>
        <p:spPr>
          <a:xfrm>
            <a:off x="594360" y="1353312"/>
            <a:ext cx="2468880" cy="2267712"/>
          </a:xfrm>
          <a:prstGeom prst="roundRect">
            <a:avLst>
              <a:gd name="adj" fmla="val 2016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46304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8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 deletion requests</a:t>
            </a:r>
            <a:endParaRPr lang="en-US" sz="158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21945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User-level or node-level removal is realistic in citation, social, and recommendation graphs.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3337560" y="1353312"/>
            <a:ext cx="2468880" cy="2267712"/>
          </a:xfrm>
          <a:prstGeom prst="roundRect">
            <a:avLst>
              <a:gd name="adj" fmla="val 2016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4720" y="146304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8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</a:t>
            </a:r>
            <a:endParaRPr lang="en-US" sz="1580" dirty="0"/>
          </a:p>
          <a:p>
            <a:pPr indent="0" marL="0">
              <a:buNone/>
            </a:pPr>
            <a:r>
              <a:rPr lang="en-US" sz="158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unlearning</a:t>
            </a:r>
            <a:endParaRPr lang="en-US" sz="1580" dirty="0"/>
          </a:p>
        </p:txBody>
      </p:sp>
      <p:sp>
        <p:nvSpPr>
          <p:cNvPr id="13" name="Text 11"/>
          <p:cNvSpPr/>
          <p:nvPr/>
        </p:nvSpPr>
        <p:spPr>
          <a:xfrm>
            <a:off x="3474720" y="2377440"/>
            <a:ext cx="21945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Exact retraining is expensive, so practical systems use approximation.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6080760" y="1353312"/>
            <a:ext cx="2468880" cy="2267712"/>
          </a:xfrm>
          <a:prstGeom prst="roundRect">
            <a:avLst>
              <a:gd name="adj" fmla="val 2016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0" y="146304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8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Attack surface</a:t>
            </a:r>
            <a:endParaRPr lang="en-US" sz="1580" dirty="0"/>
          </a:p>
        </p:txBody>
      </p:sp>
      <p:sp>
        <p:nvSpPr>
          <p:cNvPr id="16" name="Text 14"/>
          <p:cNvSpPr/>
          <p:nvPr/>
        </p:nvSpPr>
        <p:spPr>
          <a:xfrm>
            <a:off x="6217920" y="2377440"/>
            <a:ext cx="21945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malicious requester may exploit the deletion interface itself by choosing harmful targets.</a:t>
            </a:r>
            <a:endParaRPr lang="en-US" sz="1180" dirty="0"/>
          </a:p>
        </p:txBody>
      </p:sp>
      <p:sp>
        <p:nvSpPr>
          <p:cNvPr id="17" name="Shape 15"/>
          <p:cNvSpPr/>
          <p:nvPr/>
        </p:nvSpPr>
        <p:spPr>
          <a:xfrm>
            <a:off x="6565392" y="3822192"/>
            <a:ext cx="1938528" cy="749808"/>
          </a:xfrm>
          <a:prstGeom prst="roundRect">
            <a:avLst>
              <a:gd name="adj" fmla="val 6098"/>
            </a:avLst>
          </a:prstGeom>
          <a:solidFill>
            <a:srgbClr val="A6404B"/>
          </a:solidFill>
          <a:ln w="12700">
            <a:solidFill>
              <a:srgbClr val="A6404B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38544" y="3931920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Delete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638544" y="4206240"/>
            <a:ext cx="1792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Compliance tool and attack interface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Question And Objectives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914400"/>
            <a:ext cx="7863840" cy="868680"/>
          </a:xfrm>
          <a:prstGeom prst="roundRect">
            <a:avLst>
              <a:gd name="adj" fmla="val 5263"/>
            </a:avLst>
          </a:prstGeom>
          <a:solidFill>
            <a:srgbClr val="223A5E"/>
          </a:solidFill>
          <a:ln w="13970">
            <a:solidFill>
              <a:srgbClr val="223A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005840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question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1252728"/>
            <a:ext cx="7589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Can malicious deletion requests amplify approximation error and degrade retained-model utility beyond ordinary deletion at the same budget?</a:t>
            </a:r>
            <a:endParaRPr lang="en-US" sz="1220" dirty="0"/>
          </a:p>
        </p:txBody>
      </p:sp>
      <p:sp>
        <p:nvSpPr>
          <p:cNvPr id="10" name="Shape 8"/>
          <p:cNvSpPr/>
          <p:nvPr/>
        </p:nvSpPr>
        <p:spPr>
          <a:xfrm>
            <a:off x="777240" y="2148840"/>
            <a:ext cx="3611880" cy="896112"/>
          </a:xfrm>
          <a:prstGeom prst="roundRect">
            <a:avLst>
              <a:gd name="adj" fmla="val 5102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240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Objective 1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14400" y="2487168"/>
            <a:ext cx="33375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Build an attack pipeline with multiple deletion strategies.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4663440" y="2148840"/>
            <a:ext cx="361188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2240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Objective 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800600" y="2487168"/>
            <a:ext cx="33375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vulnerability across method families, not just one algorithm.</a:t>
            </a:r>
            <a:endParaRPr lang="en-US" sz="1220" dirty="0"/>
          </a:p>
        </p:txBody>
      </p:sp>
      <p:sp>
        <p:nvSpPr>
          <p:cNvPr id="16" name="Shape 14"/>
          <p:cNvSpPr/>
          <p:nvPr/>
        </p:nvSpPr>
        <p:spPr>
          <a:xfrm>
            <a:off x="777240" y="3291840"/>
            <a:ext cx="361188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3383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Objective 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14400" y="3630168"/>
            <a:ext cx="33375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Add attribution metrics for collateral and retrain gap.</a:t>
            </a:r>
            <a:endParaRPr lang="en-US" sz="1220" dirty="0"/>
          </a:p>
        </p:txBody>
      </p:sp>
      <p:sp>
        <p:nvSpPr>
          <p:cNvPr id="19" name="Shape 17"/>
          <p:cNvSpPr/>
          <p:nvPr/>
        </p:nvSpPr>
        <p:spPr>
          <a:xfrm>
            <a:off x="4663440" y="3291840"/>
            <a:ext cx="361188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3383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Objective 4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4800600" y="3630168"/>
            <a:ext cx="33375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Measure whether adversarial node selection is practically efficient.</a:t>
            </a:r>
            <a:endParaRPr lang="en-US" sz="12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 Families And Threat Model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74980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Families under test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58368" y="1051560"/>
            <a:ext cx="28803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143000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Learning-based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95528" y="1389888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 a direct unlearning correction; GNNDelete is the fragile representative here.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658368" y="2148840"/>
            <a:ext cx="28803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2240280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IF-based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95528" y="2487168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deletion through local influence-style updates; GIF stays comparatively stable.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658368" y="3246120"/>
            <a:ext cx="2880360" cy="960120"/>
          </a:xfrm>
          <a:prstGeom prst="roundRect">
            <a:avLst>
              <a:gd name="adj" fmla="val 4762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5528" y="3337560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Shard-based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95528" y="3584448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Partition the graph and retrain affected shards; GraphEraser behaves differently in the tested settings.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3931920" y="1051560"/>
            <a:ext cx="4526280" cy="1920240"/>
          </a:xfrm>
          <a:prstGeom prst="roundRect">
            <a:avLst>
              <a:gd name="adj" fmla="val 2381"/>
            </a:avLst>
          </a:prstGeom>
          <a:solidFill>
            <a:srgbClr val="223A5E"/>
          </a:solidFill>
          <a:ln w="13970">
            <a:solidFill>
              <a:srgbClr val="223A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69080" y="1143000"/>
            <a:ext cx="4251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Threat model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069080" y="1389888"/>
            <a:ext cx="42519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Attacker capability: choose which nodes to delete through the normal interface.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 of scope: poisoning labels, features, or hidden training code.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Target: maximize post-unlearning utility loss beyond random deletion.</a:t>
            </a:r>
            <a:endParaRPr lang="en-US" sz="1220" dirty="0"/>
          </a:p>
        </p:txBody>
      </p:sp>
      <p:sp>
        <p:nvSpPr>
          <p:cNvPr id="20" name="Shape 18"/>
          <p:cNvSpPr/>
          <p:nvPr/>
        </p:nvSpPr>
        <p:spPr>
          <a:xfrm>
            <a:off x="4069080" y="3337560"/>
            <a:ext cx="1234440" cy="713232"/>
          </a:xfrm>
          <a:prstGeom prst="roundRect">
            <a:avLst>
              <a:gd name="adj" fmla="val 6410"/>
            </a:avLst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42232" y="3447288"/>
            <a:ext cx="1088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ΔF1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4142232" y="3721608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attack-over-random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32120" y="3337560"/>
            <a:ext cx="1234440" cy="713232"/>
          </a:xfrm>
          <a:prstGeom prst="roundRect">
            <a:avLst>
              <a:gd name="adj" fmla="val 6410"/>
            </a:avLst>
          </a:prstGeom>
          <a:solidFill>
            <a:srgbClr val="A6404B"/>
          </a:solidFill>
          <a:ln w="12700">
            <a:solidFill>
              <a:srgbClr val="A6404B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05272" y="3447288"/>
            <a:ext cx="1088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Gap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5605272" y="3721608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vs exact retrain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995160" y="3337560"/>
            <a:ext cx="1234440" cy="713232"/>
          </a:xfrm>
          <a:prstGeom prst="roundRect">
            <a:avLst>
              <a:gd name="adj" fmla="val 6410"/>
            </a:avLst>
          </a:prstGeom>
          <a:solidFill>
            <a:srgbClr val="E8EEF5"/>
          </a:solidFill>
          <a:ln w="12700">
            <a:solidFill>
              <a:srgbClr val="E8EEF5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68312" y="3447288"/>
            <a:ext cx="1088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26.2%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7068312" y="3721608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non-target changes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Attack Pipeline And Experimental Matrix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21792" y="768096"/>
            <a:ext cx="6675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workflow compares approximate unlearning against an exact-retrain control on the same deletion set.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85800" y="1353312"/>
            <a:ext cx="374904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490472"/>
            <a:ext cx="384048" cy="384048"/>
          </a:xfrm>
          <a:prstGeom prst="ellipse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54533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20" dirty="0"/>
          </a:p>
        </p:txBody>
      </p:sp>
      <p:sp>
        <p:nvSpPr>
          <p:cNvPr id="11" name="Text 9"/>
          <p:cNvSpPr/>
          <p:nvPr/>
        </p:nvSpPr>
        <p:spPr>
          <a:xfrm>
            <a:off x="1344168" y="1444752"/>
            <a:ext cx="2880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Select nodes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1344168" y="1664208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 random or structured attack targets.</a:t>
            </a:r>
            <a:endParaRPr lang="en-US" sz="1130" dirty="0"/>
          </a:p>
        </p:txBody>
      </p:sp>
      <p:sp>
        <p:nvSpPr>
          <p:cNvPr id="13" name="Shape 11"/>
          <p:cNvSpPr/>
          <p:nvPr/>
        </p:nvSpPr>
        <p:spPr>
          <a:xfrm>
            <a:off x="685800" y="2221992"/>
            <a:ext cx="374904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2359152"/>
            <a:ext cx="384048" cy="384048"/>
          </a:xfrm>
          <a:prstGeom prst="ellipse">
            <a:avLst/>
          </a:prstGeom>
          <a:solidFill>
            <a:srgbClr val="A6404B"/>
          </a:solidFill>
          <a:ln w="12700">
            <a:solidFill>
              <a:srgbClr val="A6404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41401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1344168" y="2313432"/>
            <a:ext cx="2880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Apply unlearning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1344168" y="2532888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Run the selected graph unlearning method.</a:t>
            </a:r>
            <a:endParaRPr lang="en-US" sz="1130" dirty="0"/>
          </a:p>
        </p:txBody>
      </p:sp>
      <p:sp>
        <p:nvSpPr>
          <p:cNvPr id="18" name="Shape 16"/>
          <p:cNvSpPr/>
          <p:nvPr/>
        </p:nvSpPr>
        <p:spPr>
          <a:xfrm>
            <a:off x="685800" y="3090672"/>
            <a:ext cx="374904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227832"/>
            <a:ext cx="384048" cy="384048"/>
          </a:xfrm>
          <a:prstGeom prst="ellipse">
            <a:avLst/>
          </a:prstGeom>
          <a:solidFill>
            <a:srgbClr val="E8EEF5"/>
          </a:solidFill>
          <a:ln w="12700">
            <a:solidFill>
              <a:srgbClr val="E8EEF5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28269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320" dirty="0"/>
          </a:p>
        </p:txBody>
      </p:sp>
      <p:sp>
        <p:nvSpPr>
          <p:cNvPr id="21" name="Text 19"/>
          <p:cNvSpPr/>
          <p:nvPr/>
        </p:nvSpPr>
        <p:spPr>
          <a:xfrm>
            <a:off x="1344168" y="3182112"/>
            <a:ext cx="2880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Exact retrain control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1344168" y="3401568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Retrain on the same deletions for the gold-standard reference.</a:t>
            </a:r>
            <a:endParaRPr lang="en-US" sz="1130" dirty="0"/>
          </a:p>
        </p:txBody>
      </p:sp>
      <p:sp>
        <p:nvSpPr>
          <p:cNvPr id="23" name="Shape 21"/>
          <p:cNvSpPr/>
          <p:nvPr/>
        </p:nvSpPr>
        <p:spPr>
          <a:xfrm>
            <a:off x="685800" y="3959352"/>
            <a:ext cx="374904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" y="4096512"/>
            <a:ext cx="384048" cy="384048"/>
          </a:xfrm>
          <a:prstGeom prst="ellipse">
            <a:avLst/>
          </a:prstGeom>
          <a:solidFill>
            <a:srgbClr val="1E2630"/>
          </a:solidFill>
          <a:ln w="12700">
            <a:solidFill>
              <a:srgbClr val="1E2630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15137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320" dirty="0"/>
          </a:p>
        </p:txBody>
      </p:sp>
      <p:sp>
        <p:nvSpPr>
          <p:cNvPr id="26" name="Text 24"/>
          <p:cNvSpPr/>
          <p:nvPr/>
        </p:nvSpPr>
        <p:spPr>
          <a:xfrm>
            <a:off x="1344168" y="4050792"/>
            <a:ext cx="2880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outcomes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1344168" y="4270248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 utility loss, retrain gap, and collateral damage.</a:t>
            </a:r>
            <a:endParaRPr lang="en-US" sz="1130" dirty="0"/>
          </a:p>
        </p:txBody>
      </p:sp>
      <p:sp>
        <p:nvSpPr>
          <p:cNvPr id="28" name="Shape 26"/>
          <p:cNvSpPr/>
          <p:nvPr/>
        </p:nvSpPr>
        <p:spPr>
          <a:xfrm>
            <a:off x="4800600" y="1371600"/>
            <a:ext cx="3611880" cy="3273552"/>
          </a:xfrm>
          <a:prstGeom prst="roundRect">
            <a:avLst>
              <a:gd name="adj" fmla="val 1397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37760" y="146304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Experimental matrix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4937760" y="1709928"/>
            <a:ext cx="3337560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Methods: 5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Datasets: 2 citation graphs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Backbones: 3 GNN architectures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Strategies: 6 node-selection methods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Runs: 950 experiment executions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Outputs: relative_f1_drop, retrain_gap, collateral damage, and efficiency.</a:t>
            </a:r>
            <a:endParaRPr lang="en-US" sz="12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Attack Selection Logic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21792" y="768096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6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attack is not only about how many nodes are deleted, but about what logic is used to choose them.</a:t>
            </a:r>
            <a:endParaRPr lang="en-US" sz="1660" dirty="0"/>
          </a:p>
        </p:txBody>
      </p:sp>
      <p:sp>
        <p:nvSpPr>
          <p:cNvPr id="8" name="Shape 6"/>
          <p:cNvSpPr/>
          <p:nvPr/>
        </p:nvSpPr>
        <p:spPr>
          <a:xfrm>
            <a:off x="713232" y="1325880"/>
            <a:ext cx="2487168" cy="2029968"/>
          </a:xfrm>
          <a:prstGeom prst="roundRect">
            <a:avLst>
              <a:gd name="adj" fmla="val 225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TracIn / IF-style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50392" y="1664208"/>
            <a:ext cx="22128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Model-aware logic.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Pick nodes with high training influence on the learned model.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Shorthand: score(v) ≈ I_train(v)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3328416" y="1325880"/>
            <a:ext cx="2487168" cy="2029968"/>
          </a:xfrm>
          <a:prstGeom prst="roundRect">
            <a:avLst>
              <a:gd name="adj" fmla="val 2252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65576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IM-v4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65576" y="1664208"/>
            <a:ext cx="22128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Graph-structural logic.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Pick nodes that maximize spread or disruption in the graph.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Shorthand: score(S) = spread(S)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5943600" y="1325880"/>
            <a:ext cx="2487168" cy="2029968"/>
          </a:xfrm>
          <a:prstGeom prst="roundRect">
            <a:avLst>
              <a:gd name="adj" fmla="val 225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80760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Hybrid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080760" y="1664208"/>
            <a:ext cx="22128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Combine model-side influence with topology-side spread to search for stronger targets.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Shorthand: score(v) = α·z_IF(v) + (1-α)·z_IM(v)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1078992" y="3803904"/>
            <a:ext cx="6912864" cy="694944"/>
          </a:xfrm>
          <a:prstGeom prst="roundRect">
            <a:avLst>
              <a:gd name="adj" fmla="val 6579"/>
            </a:avLst>
          </a:prstGeom>
          <a:solidFill>
            <a:srgbClr val="223A5E"/>
          </a:solidFill>
          <a:ln w="13970">
            <a:solidFill>
              <a:srgbClr val="223A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16152" y="3895344"/>
            <a:ext cx="6638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Reading rule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216152" y="4142232"/>
            <a:ext cx="66385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 these formulas only as intuition. The benchmark compares attacker logics: model-aware selection, graph-structural selection, and a hybrid of the two.</a:t>
            </a:r>
            <a:endParaRPr lang="en-US" sz="12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Metrics Framework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21792" y="768096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Three metrics answer three different questions: how much extra damage appears beyond a k=5 baseline, where it comes from, and how far it spreads.</a:t>
            </a:r>
            <a:endParaRPr lang="en-US" sz="1620" dirty="0"/>
          </a:p>
        </p:txBody>
      </p:sp>
      <p:sp>
        <p:nvSpPr>
          <p:cNvPr id="8" name="Shape 6"/>
          <p:cNvSpPr/>
          <p:nvPr/>
        </p:nvSpPr>
        <p:spPr>
          <a:xfrm>
            <a:off x="713232" y="1325880"/>
            <a:ext cx="2542032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1417320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Utility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50392" y="1664208"/>
            <a:ext cx="2267712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relative_f1_drop = F1_after(k=5, random) - F1_after(attack)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 a tiny random-trigger baseline because raw drop can mislead on shard-based methods.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3328416" y="1325880"/>
            <a:ext cx="2542032" cy="2011680"/>
          </a:xfrm>
          <a:prstGeom prst="roundRect">
            <a:avLst>
              <a:gd name="adj" fmla="val 2273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65576" y="1417320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Fidelity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65576" y="1664208"/>
            <a:ext cx="2267712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retrain_gap = F1_retrain - F1_unlearn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total_drop = drop_retrain + retrain_gap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5943600" y="1325880"/>
            <a:ext cx="2542032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80760" y="1417320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Collateral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080760" y="1664208"/>
            <a:ext cx="2267712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fraction_flipped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mean_pred_shift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These show how strongly retained nodes are disturbed.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987552" y="3785616"/>
            <a:ext cx="7095744" cy="768096"/>
          </a:xfrm>
          <a:prstGeom prst="roundRect">
            <a:avLst>
              <a:gd name="adj" fmla="val 5952"/>
            </a:avLst>
          </a:prstGeom>
          <a:solidFill>
            <a:srgbClr val="223A5E"/>
          </a:solidFill>
          <a:ln w="13970">
            <a:solidFill>
              <a:srgbClr val="223A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24712" y="3877056"/>
            <a:ext cx="6821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Reading rule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124712" y="4123944"/>
            <a:ext cx="68214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First trigger each method with a tiny random deletion, k=5, and use that post-unlearning F1 as the reference point. Then compare stronger attacks against that baseline; retrain_gap and collateral metrics explain why the utility changes appear.</a:t>
            </a:r>
            <a:endParaRPr lang="en-US" sz="12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Main Finding: Family Spectrum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pic>
        <p:nvPicPr>
          <p:cNvPr id="7" name="Image 0" descr="H:\project\OpenGU\GULib-master\report\0417_5003report\figures\paper_figures\FIG-1_Generaliz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914400"/>
            <a:ext cx="4983480" cy="31546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4187952"/>
            <a:ext cx="4937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1. Family-level spectrum using relative F1 drop at ratio = 0.05.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650992" y="932688"/>
            <a:ext cx="2788920" cy="914400"/>
          </a:xfrm>
          <a:prstGeom prst="roundRect">
            <a:avLst>
              <a:gd name="adj" fmla="val 5000"/>
            </a:avLst>
          </a:prstGeom>
          <a:solidFill>
            <a:srgbClr val="223A5E"/>
          </a:solidFill>
          <a:ln w="13970">
            <a:solidFill>
              <a:srgbClr val="223A5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788152" y="102412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read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5788152" y="1271016"/>
            <a:ext cx="2514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Relative_f1_drop reveals a family-level vulnerability spectrum rather than one shared failure pattern.</a:t>
            </a:r>
            <a:endParaRPr lang="en-US" sz="1220" dirty="0"/>
          </a:p>
        </p:txBody>
      </p:sp>
      <p:sp>
        <p:nvSpPr>
          <p:cNvPr id="12" name="Shape 9"/>
          <p:cNvSpPr/>
          <p:nvPr/>
        </p:nvSpPr>
        <p:spPr>
          <a:xfrm>
            <a:off x="5650992" y="1993392"/>
            <a:ext cx="2788920" cy="987552"/>
          </a:xfrm>
          <a:prstGeom prst="roundRect">
            <a:avLst>
              <a:gd name="adj" fmla="val 4630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788152" y="2084832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640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Family readout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5788152" y="2331720"/>
            <a:ext cx="25146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GNNDelete highest.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GIF comparatively stable.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GraphEraser shows shard protection.</a:t>
            </a:r>
            <a:endParaRPr lang="en-US" sz="1220" dirty="0"/>
          </a:p>
        </p:txBody>
      </p:sp>
      <p:sp>
        <p:nvSpPr>
          <p:cNvPr id="15" name="Shape 12"/>
          <p:cNvSpPr/>
          <p:nvPr/>
        </p:nvSpPr>
        <p:spPr>
          <a:xfrm>
            <a:off x="5650992" y="3163824"/>
            <a:ext cx="2788920" cy="1078992"/>
          </a:xfrm>
          <a:prstGeom prst="roundRect">
            <a:avLst>
              <a:gd name="adj" fmla="val 4237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788152" y="3255264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Strategy readout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5788152" y="3502152"/>
            <a:ext cx="25146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Across the same figure family and the companion strategy view, the strongest extra damage still concentrates on GNNDelete rather than spreading evenly across methods.</a:t>
            </a:r>
            <a:endParaRPr lang="en-US" sz="12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Ratio Sensitivity And Ablation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pic>
        <p:nvPicPr>
          <p:cNvPr id="7" name="Image 0" descr="H:\project\OpenGU\GULib-master\report\0417_5003report\figures\paper_figures\FIG-2_Sca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914400"/>
            <a:ext cx="5257800" cy="3291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85216" y="4297680"/>
            <a:ext cx="5212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2. Ratio-sensitivity view for GIF and GNNDelete on Cora/GCN.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016752" y="1005840"/>
            <a:ext cx="2359152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53912" y="1097280"/>
            <a:ext cx="2084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Ablation read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153912" y="134416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page asks how attack strength changes as the deletion ratio increases, not only who wins at one fixed point.</a:t>
            </a:r>
            <a:endParaRPr lang="en-US" sz="1220" dirty="0"/>
          </a:p>
        </p:txBody>
      </p:sp>
      <p:sp>
        <p:nvSpPr>
          <p:cNvPr id="12" name="Shape 9"/>
          <p:cNvSpPr/>
          <p:nvPr/>
        </p:nvSpPr>
        <p:spPr>
          <a:xfrm>
            <a:off x="6016752" y="2240280"/>
            <a:ext cx="2359152" cy="960120"/>
          </a:xfrm>
          <a:prstGeom prst="roundRect">
            <a:avLst>
              <a:gd name="adj" fmla="val 4762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153912" y="2331720"/>
            <a:ext cx="2084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Observed pattern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153912" y="257860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GNNDelete stays sensitive even at small ratios, while GIF remains much flatter across the same range.</a:t>
            </a:r>
            <a:endParaRPr lang="en-US" sz="1220" dirty="0"/>
          </a:p>
        </p:txBody>
      </p:sp>
      <p:sp>
        <p:nvSpPr>
          <p:cNvPr id="15" name="Shape 12"/>
          <p:cNvSpPr/>
          <p:nvPr/>
        </p:nvSpPr>
        <p:spPr>
          <a:xfrm>
            <a:off x="6016752" y="3474720"/>
            <a:ext cx="2359152" cy="749808"/>
          </a:xfrm>
          <a:prstGeom prst="roundRect">
            <a:avLst>
              <a:gd name="adj" fmla="val 6098"/>
            </a:avLst>
          </a:prstGeom>
          <a:solidFill>
            <a:srgbClr val="223A5E"/>
          </a:solidFill>
          <a:ln w="13970">
            <a:solidFill>
              <a:srgbClr val="223A5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153912" y="3566160"/>
            <a:ext cx="2084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Takeaway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153912" y="3813048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family difference is structural rather than a one-point artifact of the chosen ratio.</a:t>
            </a:r>
            <a:endParaRPr lang="en-US" sz="12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Attribution And Collateral Damage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21792" y="768096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7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relative_f1_drop says the attack beats the k=5 method baseline; retrain_gap and collateral metrics explain where the extra damage comes from.</a:t>
            </a:r>
            <a:endParaRPr lang="en-US" sz="1670" dirty="0"/>
          </a:p>
        </p:txBody>
      </p:sp>
      <p:sp>
        <p:nvSpPr>
          <p:cNvPr id="8" name="Shape 6"/>
          <p:cNvSpPr/>
          <p:nvPr/>
        </p:nvSpPr>
        <p:spPr>
          <a:xfrm>
            <a:off x="713232" y="1371600"/>
            <a:ext cx="2487168" cy="2542032"/>
          </a:xfrm>
          <a:prstGeom prst="roundRect">
            <a:avLst>
              <a:gd name="adj" fmla="val 1838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146304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Attack success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50392" y="1709928"/>
            <a:ext cx="2212848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relative_f1_drop tells us whether a structured attack causes more loss than the small random-trigger baseline.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3337560" y="1371600"/>
            <a:ext cx="2487168" cy="2542032"/>
          </a:xfrm>
          <a:prstGeom prst="roundRect">
            <a:avLst>
              <a:gd name="adj" fmla="val 1838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4720" y="146304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Attribution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74720" y="1709928"/>
            <a:ext cx="2212848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retrain_gap isolates the additional approximation error by comparing approximate unlearning with exact retraining on the same deletion set.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5961888" y="1371600"/>
            <a:ext cx="2487168" cy="2542032"/>
          </a:xfrm>
          <a:prstGeom prst="roundRect">
            <a:avLst>
              <a:gd name="adj" fmla="val 1838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9048" y="146304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Spillover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099048" y="1709928"/>
            <a:ext cx="2212848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fraction_flipped and mean_pred_shift show how strongly retained non-target nodes are disturbed.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1353312" y="3950208"/>
            <a:ext cx="6419088" cy="768096"/>
          </a:xfrm>
          <a:prstGeom prst="roundRect">
            <a:avLst>
              <a:gd name="adj" fmla="val 5952"/>
            </a:avLst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517904" y="4069080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Bottom line</a:t>
            </a:r>
            <a:endParaRPr lang="en-US" sz="1380" dirty="0"/>
          </a:p>
        </p:txBody>
      </p:sp>
      <p:sp>
        <p:nvSpPr>
          <p:cNvPr id="19" name="Text 17"/>
          <p:cNvSpPr/>
          <p:nvPr/>
        </p:nvSpPr>
        <p:spPr>
          <a:xfrm>
            <a:off x="1517904" y="4315968"/>
            <a:ext cx="6053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If total_drop = drop_retrain + retrain_gap, then large retrain gaps and large retained-node shifts indicate mechanism-induced spillover rather than only intrinsic node importance.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GraphEraser And Shard Protection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pic>
        <p:nvPicPr>
          <p:cNvPr id="7" name="Image 0" descr="H:\project\OpenGU\GULib-master\report\0417_5003report\figures\report_figures\fig2_grapheraser_sh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024128"/>
            <a:ext cx="4800600" cy="34015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4462272"/>
            <a:ext cx="4709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Observed shard-level score shift for GraphEraser on Cora/GCN.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669280" y="1051560"/>
            <a:ext cx="2697480" cy="896112"/>
          </a:xfrm>
          <a:prstGeom prst="roundRect">
            <a:avLst>
              <a:gd name="adj" fmla="val 5102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806440" y="1143000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Observed pattern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5806440" y="1389888"/>
            <a:ext cx="24231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After-unlearning scores shift upward across the tested strategies, which is evidence for a shard protection effect in these settings.</a:t>
            </a:r>
            <a:endParaRPr lang="en-US" sz="1220" dirty="0"/>
          </a:p>
        </p:txBody>
      </p:sp>
      <p:sp>
        <p:nvSpPr>
          <p:cNvPr id="12" name="Shape 9"/>
          <p:cNvSpPr/>
          <p:nvPr/>
        </p:nvSpPr>
        <p:spPr>
          <a:xfrm>
            <a:off x="5669280" y="2148840"/>
            <a:ext cx="2697480" cy="1060704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806440" y="2240280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it matters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5806440" y="2487168"/>
            <a:ext cx="24231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is why raw utility drop alone is not the right cross-family metric here; the k=5 relative baseline is the cleaner comparison lens.</a:t>
            </a:r>
            <a:endParaRPr lang="en-US" sz="1220" dirty="0"/>
          </a:p>
        </p:txBody>
      </p:sp>
      <p:sp>
        <p:nvSpPr>
          <p:cNvPr id="15" name="Shape 12"/>
          <p:cNvSpPr/>
          <p:nvPr/>
        </p:nvSpPr>
        <p:spPr>
          <a:xfrm>
            <a:off x="5669280" y="3520440"/>
            <a:ext cx="2697480" cy="868680"/>
          </a:xfrm>
          <a:prstGeom prst="roundRect">
            <a:avLst>
              <a:gd name="adj" fmla="val 5263"/>
            </a:avLst>
          </a:prstGeom>
          <a:solidFill>
            <a:srgbClr val="A6404B"/>
          </a:solidFill>
          <a:ln w="13970">
            <a:solidFill>
              <a:srgbClr val="A6404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06440" y="3611880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Caution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5806440" y="3858768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remains setting-specific evidence, not a claim of universal robustness.</a:t>
            </a:r>
            <a:endParaRPr lang="en-US" sz="12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Statistical Support And Effect Size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pic>
        <p:nvPicPr>
          <p:cNvPr id="7" name="Image 0" descr="H:\project\OpenGU\GULib-master\report\0417_5003report\figures\paper_figures\FIG-4a_Signific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932688"/>
            <a:ext cx="3794760" cy="3035808"/>
          </a:xfrm>
          <a:prstGeom prst="rect">
            <a:avLst/>
          </a:prstGeom>
        </p:spPr>
      </p:pic>
      <p:pic>
        <p:nvPicPr>
          <p:cNvPr id="8" name="Image 1" descr="H:\project\OpenGU\GULib-master\report\0417_5003report\figures\paper_figures\FIG-4b_Effe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932688"/>
            <a:ext cx="3794760" cy="30358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" y="4078224"/>
            <a:ext cx="37307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4a. Statistical support against random deletion.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4773168" y="4078224"/>
            <a:ext cx="37307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4b. Effect size beyond random deletion.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22960" y="4370832"/>
            <a:ext cx="32461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960120" y="4462272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Support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960120" y="4709160"/>
            <a:ext cx="2971800" cy="-45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4a asks how strongly the attack-over-random difference is supported.</a:t>
            </a:r>
            <a:endParaRPr lang="en-US" sz="1220" dirty="0"/>
          </a:p>
        </p:txBody>
      </p:sp>
      <p:sp>
        <p:nvSpPr>
          <p:cNvPr id="14" name="Shape 10"/>
          <p:cNvSpPr/>
          <p:nvPr/>
        </p:nvSpPr>
        <p:spPr>
          <a:xfrm>
            <a:off x="4983480" y="4370832"/>
            <a:ext cx="3246120" cy="384048"/>
          </a:xfrm>
          <a:prstGeom prst="roundRect">
            <a:avLst>
              <a:gd name="adj" fmla="val 11905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120640" y="4462272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Effect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5120640" y="4709160"/>
            <a:ext cx="2971800" cy="-45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4b asks how large that extra damage is once support is established.</a:t>
            </a:r>
            <a:endParaRPr lang="en-US" sz="12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Limitations And Future Work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21792" y="768096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project is complete; these scope limits and follow-up directions define what this report does and does not claim.</a:t>
            </a: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>
            <a:off x="749808" y="1389888"/>
            <a:ext cx="269748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1481328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 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86968" y="1728216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Evidence is concentrated on the tested citation benchmarks and backbones.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749808" y="2688336"/>
            <a:ext cx="269748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6968" y="2779776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 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86968" y="3026664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mechanism-level explanation for GNNDelete fragility is still incomplete.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3703320" y="1389888"/>
            <a:ext cx="269748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481328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Future work 1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840480" y="1728216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Validate the same pattern on larger graph benchmarks such as PubMed.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3703320" y="2688336"/>
            <a:ext cx="269748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0" y="2779776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Future work 2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840480" y="3026664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Add targeted ablations that explain when and why GNNDelete fails.</a:t>
            </a:r>
            <a:endParaRPr lang="en-US" sz="1220" dirty="0"/>
          </a:p>
        </p:txBody>
      </p:sp>
      <p:sp>
        <p:nvSpPr>
          <p:cNvPr id="20" name="Shape 18"/>
          <p:cNvSpPr/>
          <p:nvPr/>
        </p:nvSpPr>
        <p:spPr>
          <a:xfrm>
            <a:off x="6510528" y="1792224"/>
            <a:ext cx="1783080" cy="1417320"/>
          </a:xfrm>
          <a:prstGeom prst="roundRect">
            <a:avLst>
              <a:gd name="adj" fmla="val 3226"/>
            </a:avLst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56832" y="1901952"/>
            <a:ext cx="1481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Project status</a:t>
            </a:r>
            <a:endParaRPr lang="en-US" sz="1380" dirty="0"/>
          </a:p>
        </p:txBody>
      </p:sp>
      <p:sp>
        <p:nvSpPr>
          <p:cNvPr id="22" name="Text 20"/>
          <p:cNvSpPr/>
          <p:nvPr/>
        </p:nvSpPr>
        <p:spPr>
          <a:xfrm>
            <a:off x="6656832" y="2157984"/>
            <a:ext cx="1481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Completed MSc project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Final course submission with a reusable audit workflow.</a:t>
            </a:r>
            <a:endParaRPr lang="en-US" sz="10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83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77240" y="1325880"/>
            <a:ext cx="2331720" cy="219456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41732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6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Auditability matters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14400" y="1664208"/>
            <a:ext cx="2057400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should be evaluated not only for accuracy but also for adversarial deletion robustness.</a:t>
            </a:r>
            <a:endParaRPr lang="en-US" sz="1220" dirty="0"/>
          </a:p>
        </p:txBody>
      </p:sp>
      <p:sp>
        <p:nvSpPr>
          <p:cNvPr id="6" name="Shape 4"/>
          <p:cNvSpPr/>
          <p:nvPr/>
        </p:nvSpPr>
        <p:spPr>
          <a:xfrm>
            <a:off x="3401568" y="1325880"/>
            <a:ext cx="2331720" cy="219456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38728" y="141732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640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Family behavior differs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538728" y="1664208"/>
            <a:ext cx="2057400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tested settings, GNNDelete is most fragile, GIF is comparatively stable, and GraphEraser exhibits shard protection.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6025896" y="1325880"/>
            <a:ext cx="2331720" cy="2194560"/>
          </a:xfrm>
          <a:prstGeom prst="roundRect">
            <a:avLst>
              <a:gd name="adj" fmla="val 2083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63056" y="141732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Workflow contribution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163056" y="1664208"/>
            <a:ext cx="2057400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project contributes a reusable OpenGU-based audit pipeline alongside the findings themselves.</a:t>
            </a:r>
            <a:endParaRPr lang="en-US" sz="1220" dirty="0"/>
          </a:p>
        </p:txBody>
      </p:sp>
      <p:sp>
        <p:nvSpPr>
          <p:cNvPr id="12" name="Text 10"/>
          <p:cNvSpPr/>
          <p:nvPr/>
        </p:nvSpPr>
        <p:spPr>
          <a:xfrm>
            <a:off x="713232" y="41605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Thank you. Q&amp;A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58368" y="4681728"/>
            <a:ext cx="2286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Backup Appendix: Full Strategy Spectrum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pic>
        <p:nvPicPr>
          <p:cNvPr id="7" name="Image 0" descr="H:\project\OpenGU\GULib-master\report\0417_5003report\figures\paper_figures\FIG-3_Spectr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932688"/>
            <a:ext cx="7818120" cy="35661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13232" y="4590288"/>
            <a:ext cx="7543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Full Figure 3. Strategy comparison in relative_f1_drop at ratio = 0.05 using the k=5 baseline.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EE5003 Final Presentation</dc:title>
  <dc:subject>Adversarial Deletion Attacks on Approximate Graph Unlearning</dc:subject>
  <dc:creator>OpenAI Codex</dc:creator>
  <cp:lastModifiedBy>OpenAI Codex</cp:lastModifiedBy>
  <cp:revision>1</cp:revision>
  <dcterms:created xsi:type="dcterms:W3CDTF">2026-04-17T05:29:30Z</dcterms:created>
  <dcterms:modified xsi:type="dcterms:W3CDTF">2026-04-17T05:29:30Z</dcterms:modified>
</cp:coreProperties>
</file>