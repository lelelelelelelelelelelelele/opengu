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8EEF5">
              <a:alpha val="88000"/>
            </a:srgbClr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Adversarial Deletion Attacks on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13232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inheritance of safety behavior within graph unlearning families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13232" y="2926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Report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National University of Singapore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3657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Liu Chengyu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April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00584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09728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Thesis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1344168"/>
            <a:ext cx="178308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Deletion interfaces in approximate graph unlearning can be exploited to amplify approximation error, and fragility differs sharply across method families.</a:t>
            </a:r>
            <a:endParaRPr lang="en-US" sz="1220" dirty="0"/>
          </a:p>
        </p:txBody>
      </p:sp>
      <p:sp>
        <p:nvSpPr>
          <p:cNvPr id="10" name="Text 8"/>
          <p:cNvSpPr/>
          <p:nvPr/>
        </p:nvSpPr>
        <p:spPr>
          <a:xfrm>
            <a:off x="6309360" y="325526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-&gt; Method -&gt; Results -&gt; Takeaway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Graph Unlearning Matters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768096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Deletion requests are operationally plausible, and approximation turns them into a security question.</a:t>
            </a:r>
            <a:endParaRPr lang="en-US" sz="1720" dirty="0"/>
          </a:p>
        </p:txBody>
      </p:sp>
      <p:sp>
        <p:nvSpPr>
          <p:cNvPr id="8" name="Shape 6"/>
          <p:cNvSpPr/>
          <p:nvPr/>
        </p:nvSpPr>
        <p:spPr>
          <a:xfrm>
            <a:off x="594360" y="1353312"/>
            <a:ext cx="2468880" cy="2267712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4630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 deletion requests</a:t>
            </a:r>
            <a:endParaRPr lang="en-US" sz="158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21945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User-level or node-level removal is realistic in citation, social, and recommendation graphs.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3337560" y="1353312"/>
            <a:ext cx="2468880" cy="2267712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14630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</a:t>
            </a:r>
            <a:endParaRPr lang="en-US" sz="1580" dirty="0"/>
          </a:p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unlearning</a:t>
            </a:r>
            <a:endParaRPr lang="en-US" sz="1580" dirty="0"/>
          </a:p>
        </p:txBody>
      </p:sp>
      <p:sp>
        <p:nvSpPr>
          <p:cNvPr id="13" name="Text 11"/>
          <p:cNvSpPr/>
          <p:nvPr/>
        </p:nvSpPr>
        <p:spPr>
          <a:xfrm>
            <a:off x="3474720" y="2377440"/>
            <a:ext cx="21945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Exact retraining is expensive, so practical systems use approximation.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6080760" y="1353312"/>
            <a:ext cx="2468880" cy="2267712"/>
          </a:xfrm>
          <a:prstGeom prst="roundRect">
            <a:avLst>
              <a:gd name="adj" fmla="val 2016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4630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surface</a:t>
            </a:r>
            <a:endParaRPr lang="en-US" sz="158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1945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malicious requester may exploit the deletion interface itself by choosing harmful targets.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6565392" y="3822192"/>
            <a:ext cx="1938528" cy="749808"/>
          </a:xfrm>
          <a:prstGeom prst="roundRect">
            <a:avLst>
              <a:gd name="adj" fmla="val 6098"/>
            </a:avLst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3931920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Delete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38544" y="420624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Compliance tool and attack interface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Question And Objectives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914400"/>
            <a:ext cx="7863840" cy="868680"/>
          </a:xfrm>
          <a:prstGeom prst="roundRect">
            <a:avLst>
              <a:gd name="adj" fmla="val 5263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005840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question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1252728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 malicious deletion requests amplify approximation error and degrade retained-model utility beyond ordinary deletion at the same budget?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777240" y="2148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240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14400" y="2487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 an attack pipeline with multiple deletion strategies.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4663440" y="2148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240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800600" y="2487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vulnerability across method families, not just one algorithm.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777240" y="3291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383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3630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attribution metrics for collateral and retrain gap.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4663440" y="3291840"/>
            <a:ext cx="361188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383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 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800600" y="3630168"/>
            <a:ext cx="3337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 whether adversarial node selection is practically efficient.</a:t>
            </a:r>
            <a:endParaRPr lang="en-US" sz="12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 Families And Threat Model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7498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Families under test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58368" y="105156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14300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Learning-based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5528" y="138988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GNNDelete is the main fragile representative in this study.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24028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IF-based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95528" y="248716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GIF remains comparatively stable under adversarial selection.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658368" y="3246120"/>
            <a:ext cx="2880360" cy="960120"/>
          </a:xfrm>
          <a:prstGeom prst="roundRect">
            <a:avLst>
              <a:gd name="adj" fmla="val 476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" y="3337560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Shard-based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95528" y="358444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GraphEraser behaves differently and often improves in the tested settings.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931920" y="1051560"/>
            <a:ext cx="4526280" cy="1920240"/>
          </a:xfrm>
          <a:prstGeom prst="roundRect">
            <a:avLst>
              <a:gd name="adj" fmla="val 2381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69080" y="114300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Threat model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069080" y="1389888"/>
            <a:ext cx="42519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Attacker capability: choose which nodes to delete through the normal interface.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 of scope: poisoning labels, features, or hidden training code.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Target: maximize post-unlearning utility loss beyond random deletion.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406908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4223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ΔF1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414223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attack-over-random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3212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0527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Gap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560527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vs exact retrain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995160" y="3337560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E8EEF5"/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68312" y="3447288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26.2%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068312" y="3721608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non-target changes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Pipeline And Experimental Matrix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workflow compares approximate unlearning against an exact-retrain control on the same deletion set.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5800" y="135331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490472"/>
            <a:ext cx="384048" cy="384048"/>
          </a:xfrm>
          <a:prstGeom prst="ellipse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54533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1344168" y="144475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Select nodes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44168" y="166420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random or structured attack targets.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85800" y="222199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359152"/>
            <a:ext cx="384048" cy="384048"/>
          </a:xfrm>
          <a:prstGeom prst="ellipse">
            <a:avLst/>
          </a:prstGeom>
          <a:solidFill>
            <a:srgbClr val="A6404B"/>
          </a:solidFill>
          <a:ln w="12700">
            <a:solidFill>
              <a:srgbClr val="A6404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41401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1344168" y="231343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Apply unlearning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344168" y="253288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 the selected graph unlearning method.</a:t>
            </a:r>
            <a:endParaRPr lang="en-US" sz="1130" dirty="0"/>
          </a:p>
        </p:txBody>
      </p:sp>
      <p:sp>
        <p:nvSpPr>
          <p:cNvPr id="18" name="Shape 16"/>
          <p:cNvSpPr/>
          <p:nvPr/>
        </p:nvSpPr>
        <p:spPr>
          <a:xfrm>
            <a:off x="685800" y="309067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227832"/>
            <a:ext cx="384048" cy="384048"/>
          </a:xfrm>
          <a:prstGeom prst="ellipse">
            <a:avLst/>
          </a:prstGeom>
          <a:solidFill>
            <a:srgbClr val="E8EEF5"/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28269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1344168" y="318211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Exact retrain control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344168" y="340156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Retrain on the same deletions for the gold-standard reference.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685800" y="3959352"/>
            <a:ext cx="374904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4096512"/>
            <a:ext cx="384048" cy="384048"/>
          </a:xfrm>
          <a:prstGeom prst="ellipse">
            <a:avLst/>
          </a:prstGeom>
          <a:solidFill>
            <a:srgbClr val="1E2630"/>
          </a:solidFill>
          <a:ln w="12700">
            <a:solidFill>
              <a:srgbClr val="1E2630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15137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1344168" y="405079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outcomes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1344168" y="427024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 utility loss, retrain gap, and collateral damage.</a:t>
            </a:r>
            <a:endParaRPr lang="en-US" sz="1130" dirty="0"/>
          </a:p>
        </p:txBody>
      </p:sp>
      <p:sp>
        <p:nvSpPr>
          <p:cNvPr id="28" name="Shape 26"/>
          <p:cNvSpPr/>
          <p:nvPr/>
        </p:nvSpPr>
        <p:spPr>
          <a:xfrm>
            <a:off x="4800600" y="1371600"/>
            <a:ext cx="3611880" cy="3273552"/>
          </a:xfrm>
          <a:prstGeom prst="roundRect">
            <a:avLst>
              <a:gd name="adj" fmla="val 1397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146304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Experimental matrix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937760" y="1709928"/>
            <a:ext cx="3337560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Methods: 5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Datasets: 2 citation graphs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Backbones: 3 GNN architectures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Strategies: 6 node-selection methods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Runs: 950 experiment executions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Story: spectrum, deep dive, attribution, and efficiency.</a:t>
            </a:r>
            <a:endParaRPr lang="en-US" sz="12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Metrics Framework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metrics answer three different questions: how much extra damage appears beyond a k=5 baseline, where it comes from, and how far it spreads.</a:t>
            </a:r>
            <a:endParaRPr lang="en-US" sz="1620" dirty="0"/>
          </a:p>
        </p:txBody>
      </p:sp>
      <p:sp>
        <p:nvSpPr>
          <p:cNvPr id="8" name="Shape 6"/>
          <p:cNvSpPr/>
          <p:nvPr/>
        </p:nvSpPr>
        <p:spPr>
          <a:xfrm>
            <a:off x="713232" y="1325880"/>
            <a:ext cx="2542032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417320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Utility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" y="1664208"/>
            <a:ext cx="2267712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= F1_after(k=5, random) - F1_after(attack)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a tiny random-trigger baseline because raw drop can mislead on shard-based methods.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3328416" y="1325880"/>
            <a:ext cx="2542032" cy="2011680"/>
          </a:xfrm>
          <a:prstGeom prst="roundRect">
            <a:avLst>
              <a:gd name="adj" fmla="val 2273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5576" y="1417320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Fidelity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65576" y="1664208"/>
            <a:ext cx="2267712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retrain_gap = F1_retrain - F1_unlearn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total_drop = drop_retrain + retrain_gap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5943600" y="1325880"/>
            <a:ext cx="2542032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1417320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Collateral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080760" y="1664208"/>
            <a:ext cx="2267712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fraction_flipped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mean_pred_shift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show how strongly retained nodes are disturbed.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987552" y="3785616"/>
            <a:ext cx="7095744" cy="768096"/>
          </a:xfrm>
          <a:prstGeom prst="roundRect">
            <a:avLst>
              <a:gd name="adj" fmla="val 5952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24712" y="3877056"/>
            <a:ext cx="6821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rule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24712" y="4123944"/>
            <a:ext cx="68214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 trigger each method with a tiny random deletion, k=5, and use that post-unlearning F1 as the reference point. Then compare stronger attacks against that baseline; retrain_gap and collateral metrics explain why the utility changes appear.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Finding: Vulnerability Spectrum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1_Generaliz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5303520" cy="3383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4389120"/>
            <a:ext cx="5257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1. Family-level spectrum using relative F1 drop at ratio = 0.05.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126480" y="932688"/>
            <a:ext cx="2377440" cy="960120"/>
          </a:xfrm>
          <a:prstGeom prst="roundRect">
            <a:avLst>
              <a:gd name="adj" fmla="val 4762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63640" y="102412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read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263640" y="127101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reveals a clear family-level vulnerability spectrum rather than one shared failure pattern.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6144768" y="2057400"/>
            <a:ext cx="23317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81928" y="214884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40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Readout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281928" y="23957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GNNDelete highest.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GIF comparatively stable.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GraphEraser shows shard protection.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6144768" y="3255264"/>
            <a:ext cx="2331720" cy="914400"/>
          </a:xfrm>
          <a:prstGeom prst="roundRect">
            <a:avLst>
              <a:gd name="adj" fmla="val 5000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81928" y="334670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this metric?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281928" y="3593592"/>
            <a:ext cx="2057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raw drop can mislead on shard-based methods, so a k=5 post-unlearning baseline is the cleaner cross-family lens.</a:t>
            </a:r>
            <a:endParaRPr lang="en-US" sz="12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Ratio Sensitivity And Ablation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2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914400"/>
            <a:ext cx="5257800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" y="4297680"/>
            <a:ext cx="5212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2. Ratio-sensitivity view for GIF and GNNDelete on Cora/GCN.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016752" y="1005840"/>
            <a:ext cx="2359152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53912" y="109728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Ablation read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153912" y="134416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page asks how attack strength changes as the deletion ratio increases, not only who wins at one fixed point.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6016752" y="2240280"/>
            <a:ext cx="2359152" cy="960120"/>
          </a:xfrm>
          <a:prstGeom prst="roundRect">
            <a:avLst>
              <a:gd name="adj" fmla="val 476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53912" y="233172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Observed pattern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153912" y="257860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GNNDelete stays sensitive even at small ratios, while GIF remains much flatter across the same range.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6016752" y="3474720"/>
            <a:ext cx="2359152" cy="749808"/>
          </a:xfrm>
          <a:prstGeom prst="roundRect">
            <a:avLst>
              <a:gd name="adj" fmla="val 6098"/>
            </a:avLst>
          </a:prstGeom>
          <a:solidFill>
            <a:srgbClr val="223A5E"/>
          </a:solidFill>
          <a:ln w="13970">
            <a:solidFill>
              <a:srgbClr val="223A5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53912" y="356616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153912" y="3813048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family difference is structural rather than a one-point artifact of the chosen ratio.</a:t>
            </a:r>
            <a:endParaRPr lang="en-US" sz="12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Attribution And Collateral Damage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7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says the attack beats the k=5 method baseline; retrain_gap and collateral metrics explain where the extra damage comes from.</a:t>
            </a:r>
            <a:endParaRPr lang="en-US" sz="1670" dirty="0"/>
          </a:p>
        </p:txBody>
      </p:sp>
      <p:sp>
        <p:nvSpPr>
          <p:cNvPr id="8" name="Shape 6"/>
          <p:cNvSpPr/>
          <p:nvPr/>
        </p:nvSpPr>
        <p:spPr>
          <a:xfrm>
            <a:off x="713232" y="1371600"/>
            <a:ext cx="2487168" cy="2542032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463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success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" y="1709928"/>
            <a:ext cx="2212848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tells us whether a structured attack causes more loss than the small random-trigger baseline.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3337560" y="1371600"/>
            <a:ext cx="2487168" cy="2542032"/>
          </a:xfrm>
          <a:prstGeom prst="roundRect">
            <a:avLst>
              <a:gd name="adj" fmla="val 1838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1463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Attribution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74720" y="1709928"/>
            <a:ext cx="2212848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retrain_gap isolates the additional approximation error by comparing approximate unlearning with exact retraining on the same deletion set.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5961888" y="1371600"/>
            <a:ext cx="2487168" cy="2542032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463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Spillover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099048" y="1709928"/>
            <a:ext cx="2212848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fraction_flipped and mean_pred_shift show how strongly retained non-target nodes are disturbed.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1353312" y="3950208"/>
            <a:ext cx="6419088" cy="768096"/>
          </a:xfrm>
          <a:prstGeom prst="roundRect">
            <a:avLst>
              <a:gd name="adj" fmla="val 5952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17904" y="4069080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Bottom line</a:t>
            </a:r>
            <a:endParaRPr lang="en-US" sz="1380" dirty="0"/>
          </a:p>
        </p:txBody>
      </p:sp>
      <p:sp>
        <p:nvSpPr>
          <p:cNvPr id="19" name="Text 17"/>
          <p:cNvSpPr/>
          <p:nvPr/>
        </p:nvSpPr>
        <p:spPr>
          <a:xfrm>
            <a:off x="1517904" y="4315968"/>
            <a:ext cx="6053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total_drop = drop_retrain + retrain_gap, then large retrain gaps and large retained-node shifts indicate mechanism-induced spillover rather than only intrinsic node importance.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GraphEraser And Shard Protection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report_figures\fig2_grapheraser_sh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24128"/>
            <a:ext cx="4800600" cy="34015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4462272"/>
            <a:ext cx="4709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Observed shard-level score shift for GraphEraser on Cora/GCN.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669280" y="1051560"/>
            <a:ext cx="2697480" cy="896112"/>
          </a:xfrm>
          <a:prstGeom prst="roundRect">
            <a:avLst>
              <a:gd name="adj" fmla="val 5102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06440" y="114300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Observed pattern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806440" y="1389888"/>
            <a:ext cx="24231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After-unlearning scores shift upward across the tested strategies, which is evidence for a shard protection effect in these settings.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5669280" y="2148840"/>
            <a:ext cx="2697480" cy="1060704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06440" y="22402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it matters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806440" y="2487168"/>
            <a:ext cx="24231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is why raw utility drop alone is not the right cross-family metric here; the k=5 relative baseline is the cleaner comparison lens.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5669280" y="3520440"/>
            <a:ext cx="2697480" cy="868680"/>
          </a:xfrm>
          <a:prstGeom prst="roundRect">
            <a:avLst>
              <a:gd name="adj" fmla="val 5263"/>
            </a:avLst>
          </a:prstGeom>
          <a:solidFill>
            <a:srgbClr val="A6404B"/>
          </a:solidFill>
          <a:ln w="13970">
            <a:solidFill>
              <a:srgbClr val="A640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6118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Caution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06440" y="385876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remains setting-specific evidence, not a claim of universal robustness.</a:t>
            </a:r>
            <a:endParaRPr lang="en-US" sz="12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 Strength And Practicality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3_Spect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5349240" cy="3383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76072" y="4389120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3. Strategy comparison in relative_f1_drop at ratio = 0.05 using the k=5 baseline.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144768" y="914400"/>
            <a:ext cx="23317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81928" y="100584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key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281928" y="1252728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relative_f1_drop already incorporates the k=5 baseline, so this page focuses on strategy ranking and runtime.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6199632" y="1993392"/>
            <a:ext cx="960120" cy="914400"/>
          </a:xfrm>
          <a:prstGeom prst="roundRect">
            <a:avLst>
              <a:gd name="adj" fmla="val 5000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72784" y="2103120"/>
            <a:ext cx="813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18.9s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272784" y="2377440"/>
            <a:ext cx="81381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IM-v4 selection time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296912" y="1993392"/>
            <a:ext cx="960120" cy="914400"/>
          </a:xfrm>
          <a:prstGeom prst="roundRect">
            <a:avLst>
              <a:gd name="adj" fmla="val 5000"/>
            </a:avLst>
          </a:prstGeom>
          <a:solidFill>
            <a:srgbClr val="E8EEF5"/>
          </a:solidFill>
          <a:ln w="12700">
            <a:solidFill>
              <a:srgbClr val="E8EEF5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70064" y="2103120"/>
            <a:ext cx="813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1.3%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7370064" y="2377440"/>
            <a:ext cx="81381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spread loss vs CELF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199632" y="3063240"/>
            <a:ext cx="205740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36792" y="315468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336792" y="34015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Selection is operationally feasible.</a:t>
            </a:r>
            <a:endParaRPr lang="en-US" sz="1220" dirty="0"/>
          </a:p>
        </p:txBody>
      </p:sp>
      <p:sp>
        <p:nvSpPr>
          <p:cNvPr id="21" name="Text 18"/>
          <p:cNvSpPr/>
          <p:nvPr/>
        </p:nvSpPr>
        <p:spPr>
          <a:xfrm>
            <a:off x="6254496" y="39319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•"/>
            </a:pPr>
            <a:r>
              <a:rPr lang="en-US" sz="11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Structured attacks create the largest extra drop beyond the k=5 baseline on GNNDelete.</a:t>
            </a:r>
            <a:endParaRPr lang="en-US" sz="1120" dirty="0"/>
          </a:p>
          <a:p>
            <a:pPr marL="203200" indent="-203200">
              <a:buSzPct val="100000"/>
              <a:buChar char="•"/>
            </a:pPr>
            <a:r>
              <a:rPr lang="en-US" sz="11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IM-v4 makes attack selection fast enough to matter in practice.</a:t>
            </a:r>
            <a:endParaRPr lang="en-US" sz="11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 And Future 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" y="76809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project is complete; these scope limits and follow-up directions define what this report does and does not claim.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9808" y="1389888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48132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 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1728216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Evidence is concentrated on the tested citation benchmarks and backbones.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749808" y="2688336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277977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 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86968" y="3026664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mechanism-level explanation for GNNDelete fragility is still incomplete.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3703320" y="1389888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481328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work 1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840480" y="1728216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Validate the same pattern on larger graph benchmarks such as PubMed.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703320" y="2688336"/>
            <a:ext cx="269748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0" y="277977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work 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840480" y="3026664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targeted ablations that explain when and why GNNDelete fails.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6510528" y="1792224"/>
            <a:ext cx="1783080" cy="1417320"/>
          </a:xfrm>
          <a:prstGeom prst="roundRect">
            <a:avLst>
              <a:gd name="adj" fmla="val 3226"/>
            </a:avLst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56832" y="1901952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status</a:t>
            </a:r>
            <a:endParaRPr lang="en-US" sz="1380" dirty="0"/>
          </a:p>
        </p:txBody>
      </p:sp>
      <p:sp>
        <p:nvSpPr>
          <p:cNvPr id="22" name="Text 20"/>
          <p:cNvSpPr/>
          <p:nvPr/>
        </p:nvSpPr>
        <p:spPr>
          <a:xfrm>
            <a:off x="6656832" y="2157984"/>
            <a:ext cx="1481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Completed MSc project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Final course submission with a reusable audit workflow.</a:t>
            </a:r>
            <a:endParaRPr lang="en-US" sz="10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77240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Auditability matters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should be evaluated not only for accuracy but also for adversarial deletion robustness.</a:t>
            </a:r>
            <a:endParaRPr lang="en-US" sz="1220" dirty="0"/>
          </a:p>
        </p:txBody>
      </p:sp>
      <p:sp>
        <p:nvSpPr>
          <p:cNvPr id="6" name="Shape 4"/>
          <p:cNvSpPr/>
          <p:nvPr/>
        </p:nvSpPr>
        <p:spPr>
          <a:xfrm>
            <a:off x="3401568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3970">
            <a:solidFill>
              <a:srgbClr val="D9DE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38728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40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Family behavior differs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538728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tested settings, GNNDelete is most fragile, GIF is comparatively stable, and GraphEraser exhibits shard protection.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025896" y="1325880"/>
            <a:ext cx="2331720" cy="2194560"/>
          </a:xfrm>
          <a:prstGeom prst="roundRect">
            <a:avLst>
              <a:gd name="adj" fmla="val 2083"/>
            </a:avLst>
          </a:prstGeom>
          <a:solidFill>
            <a:srgbClr val="E8EEF5"/>
          </a:solidFill>
          <a:ln w="13970">
            <a:solidFill>
              <a:srgbClr val="E8EE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63056" y="141732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A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Workflow contribution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163056" y="1664208"/>
            <a:ext cx="20574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E26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project contributes a reusable OpenGU-based audit pipeline alongside the findings themselves.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713232" y="4160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you. Q&amp;A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8368" y="4681728"/>
            <a:ext cx="2286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23A5E"/>
          </a:solidFill>
          <a:ln w="12700">
            <a:solidFill>
              <a:srgbClr val="223A5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0058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Backup Appendix: Statistical Support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955280" y="118872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7F5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736592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EE5003 MSc Project | Liu Chengyu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577840" y="4736592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Approximate Graph Unlearning Audit</a:t>
            </a:r>
            <a:endParaRPr lang="en-US" sz="900" dirty="0"/>
          </a:p>
        </p:txBody>
      </p:sp>
      <p:pic>
        <p:nvPicPr>
          <p:cNvPr id="7" name="Image 0" descr="H:\project\OpenGU\GULib-master\report\0417_5003report\figures\paper_figures\FIG-4a_Signific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3794760" cy="3154680"/>
          </a:xfrm>
          <a:prstGeom prst="rect">
            <a:avLst/>
          </a:prstGeom>
        </p:spPr>
      </p:pic>
      <p:pic>
        <p:nvPicPr>
          <p:cNvPr id="8" name="Image 1" descr="H:\project\OpenGU\GULib-master\report\0417_5003report\figures\paper_figures\FIG-4b_Eff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005840"/>
            <a:ext cx="3794760" cy="31546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4297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4a. -log10(p) support against random deletion.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727448" y="4297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4b. Effect size beyond random deletion.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EE5003 Final Presentation</dc:title>
  <dc:subject>Adversarial Deletion Attacks on Approximate Graph Unlearning</dc:subject>
  <dc:creator>OpenAI Codex</dc:creator>
  <cp:lastModifiedBy>OpenAI Codex</cp:lastModifiedBy>
  <cp:revision>1</cp:revision>
  <dcterms:created xsi:type="dcterms:W3CDTF">2026-04-17T04:33:39Z</dcterms:created>
  <dcterms:modified xsi:type="dcterms:W3CDTF">2026-04-17T04:33:39Z</dcterms:modified>
</cp:coreProperties>
</file>