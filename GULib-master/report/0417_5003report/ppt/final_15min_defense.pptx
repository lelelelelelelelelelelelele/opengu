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8EEF5">
              <a:alpha val="88000"/>
            </a:srgbClr>
          </a:solidFill>
          <a:ln w="12700">
            <a:solidFill>
              <a:srgbClr val="E8EE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749808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Adversarial Deletion Attacks on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Approximate Graph Unlearning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inheritance of safety behavior within graph unlearning families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EE5003 MSc Project Report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University of Singapore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Chengyu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005840"/>
            <a:ext cx="205740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09728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Thesis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1344168"/>
            <a:ext cx="178308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interfaces in approximate graph unlearning can be exploited to amplify approximation error, and fragility differs sharply across method families.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309360" y="32552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-&gt; Method -&gt; Results -&gt; Takeaway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Graph Unlearning Matters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76809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Deletion requests are operationally plausible, and approximation turns them into a security question.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1280160"/>
            <a:ext cx="2468880" cy="26974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716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deletion requests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1618488"/>
            <a:ext cx="21945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User-level or node-level removal is realistic in citation, social, and recommendation graphs.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3337560" y="1280160"/>
            <a:ext cx="2468880" cy="26974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3716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Approximate unlearning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74720" y="1618488"/>
            <a:ext cx="21945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retraining is expensive, so practical systems use approximation.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080760" y="1280160"/>
            <a:ext cx="2468880" cy="26974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3716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 surface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17920" y="1618488"/>
            <a:ext cx="21945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malicious requester may exploit the deletion interface itself by choosing harmful targets.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583680" y="4160520"/>
            <a:ext cx="1783080" cy="566928"/>
          </a:xfrm>
          <a:prstGeom prst="roundRect">
            <a:avLst>
              <a:gd name="adj" fmla="val 8065"/>
            </a:avLst>
          </a:prstGeom>
          <a:solidFill>
            <a:srgbClr val="A6404B"/>
          </a:solidFill>
          <a:ln w="12700">
            <a:solidFill>
              <a:srgbClr val="A6404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4270248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656832" y="4544568"/>
            <a:ext cx="1636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tool and attack interface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 And Objectives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7863840" cy="868680"/>
          </a:xfrm>
          <a:prstGeom prst="roundRect">
            <a:avLst>
              <a:gd name="adj" fmla="val 5263"/>
            </a:avLst>
          </a:prstGeom>
          <a:solidFill>
            <a:srgbClr val="223A5E"/>
          </a:solidFill>
          <a:ln w="13970">
            <a:solidFill>
              <a:srgbClr val="223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0584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5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125272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malicious deletion requests amplify approximation error and degrade retained-model utility beyond ordinary deletion at the same budget?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777240" y="2148840"/>
            <a:ext cx="3611880" cy="896112"/>
          </a:xfrm>
          <a:prstGeom prst="roundRect">
            <a:avLst>
              <a:gd name="adj" fmla="val 5102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402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2487168"/>
            <a:ext cx="33375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attack pipeline with multiple deletion strategies.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663440" y="2148840"/>
            <a:ext cx="361188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2402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00600" y="2487168"/>
            <a:ext cx="33375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vulnerability across method families, not just one algorithm.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777240" y="3291840"/>
            <a:ext cx="361188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832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3630168"/>
            <a:ext cx="33375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attribution metrics for collateral and retrain gap.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663440" y="3291840"/>
            <a:ext cx="361188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3832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800600" y="3630168"/>
            <a:ext cx="33375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whether adversarial node selection is practically efficient.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Families And Threat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498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Families under test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58368" y="1051560"/>
            <a:ext cx="2880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14300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Learning-based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95528" y="138988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GNNDelete is the main fragile representative in this study.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58368" y="2148840"/>
            <a:ext cx="2880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24028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IF-based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95528" y="248716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 remains comparatively stable under adversarial selection.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58368" y="3246120"/>
            <a:ext cx="2880360" cy="960120"/>
          </a:xfrm>
          <a:prstGeom prst="roundRect">
            <a:avLst>
              <a:gd name="adj" fmla="val 4762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33756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Shard-based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95528" y="358444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GraphEraser behaves differently and often improves in the tested settings.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3931920" y="1051560"/>
            <a:ext cx="4526280" cy="1920240"/>
          </a:xfrm>
          <a:prstGeom prst="roundRect">
            <a:avLst>
              <a:gd name="adj" fmla="val 2381"/>
            </a:avLst>
          </a:prstGeom>
          <a:solidFill>
            <a:srgbClr val="223A5E"/>
          </a:solidFill>
          <a:ln w="13970">
            <a:solidFill>
              <a:srgbClr val="223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114300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5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 model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069080" y="1389888"/>
            <a:ext cx="42519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capability: choose which nodes to delete through the normal interface.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poisoning labels, features, or hidden training code.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maximize post-unlearning utility loss beyond random deletion.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4069080" y="3337560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42232" y="3447288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ΔF1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142232" y="3721608"/>
            <a:ext cx="1088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attack-over-random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32120" y="3337560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A6404B"/>
          </a:solidFill>
          <a:ln w="12700">
            <a:solidFill>
              <a:srgbClr val="A6404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05272" y="3447288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605272" y="3721608"/>
            <a:ext cx="1088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exact retrain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95160" y="3337560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E8EEF5"/>
          </a:solidFill>
          <a:ln w="12700">
            <a:solidFill>
              <a:srgbClr val="E8EEF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68312" y="3447288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26.2%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068312" y="3721608"/>
            <a:ext cx="1088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non-target changes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 Pipeline And Experimental Matrix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workflow compares approximate unlearning against an exact-retrain control on the same deletion set.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1353312"/>
            <a:ext cx="3749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90472"/>
            <a:ext cx="384048" cy="384048"/>
          </a:xfrm>
          <a:prstGeom prst="ellipse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5453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1344168" y="144475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nodes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44168" y="166420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random or structured attack targets.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85800" y="2221992"/>
            <a:ext cx="3749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359152"/>
            <a:ext cx="384048" cy="384048"/>
          </a:xfrm>
          <a:prstGeom prst="ellipse">
            <a:avLst/>
          </a:prstGeom>
          <a:solidFill>
            <a:srgbClr val="A6404B"/>
          </a:solidFill>
          <a:ln w="12700">
            <a:solidFill>
              <a:srgbClr val="A6404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4140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1344168" y="231343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unlearning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344168" y="253288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selected graph unlearning method.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685800" y="3090672"/>
            <a:ext cx="3749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227832"/>
            <a:ext cx="384048" cy="384048"/>
          </a:xfrm>
          <a:prstGeom prst="ellipse">
            <a:avLst/>
          </a:prstGeom>
          <a:solidFill>
            <a:srgbClr val="E8EEF5"/>
          </a:solidFill>
          <a:ln w="12700">
            <a:solidFill>
              <a:srgbClr val="E8EEF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2826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1344168" y="318211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 retrain control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344168" y="340156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the same deletions for the gold-standard reference.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685800" y="3959352"/>
            <a:ext cx="3749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096512"/>
            <a:ext cx="384048" cy="384048"/>
          </a:xfrm>
          <a:prstGeom prst="ellipse">
            <a:avLst/>
          </a:prstGeom>
          <a:solidFill>
            <a:srgbClr val="1E2630"/>
          </a:solidFill>
          <a:ln w="12700">
            <a:solidFill>
              <a:srgbClr val="1E263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1513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1344168" y="405079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outcomes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344168" y="427024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utility loss, retrain gap, and collateral damage.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4800600" y="1371600"/>
            <a:ext cx="3611880" cy="3273552"/>
          </a:xfrm>
          <a:prstGeom prst="roundRect">
            <a:avLst>
              <a:gd name="adj" fmla="val 1397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46304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matrix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937760" y="1709928"/>
            <a:ext cx="3337560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5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2 citation graphs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Backbones: 3 GNN architectures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Strategies: 6 node-selection methods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Runs: 950 experiment executions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Story: spectrum, deep dive, attribution, and efficiency.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Built In OpenGU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project contribution is a reusable adversarial-audit workflow, not only a single batch of experiments.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36576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4173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1664208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batch experiment runs across methods, datasets, and deletion ratios.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36576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173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discovery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92040" y="1664208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Auto-discovery of stored outputs to reduce manual bookkeeping.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31520" y="2313432"/>
            <a:ext cx="36576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4048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Collateral analysis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8680" y="2651760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Retained-node prediction tracking to reveal spillover.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4754880" y="2313432"/>
            <a:ext cx="36576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4048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summary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92040" y="2651760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F1 drop, support thresholds, and effect-size comparisons.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731520" y="3300984"/>
            <a:ext cx="36576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39242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 generation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8680" y="3639312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plotting scripts that turn stored outputs into report figures.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629400" y="411480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02552" y="4224528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Reproducible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702552" y="4498848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from stored outputs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Finding: Vulnerability Spectrum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Graph Unlearning Audit</a:t>
            </a:r>
            <a:endParaRPr lang="en-US" sz="900" dirty="0"/>
          </a:p>
        </p:txBody>
      </p:sp>
      <p:pic>
        <p:nvPicPr>
          <p:cNvPr id="7" name="Image 0" descr="H:\project\OpenGU\GULib-master\report\0417_5003report\figures\paper_figures\FIG-1_General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530352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4389120"/>
            <a:ext cx="5257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Relative F1 drop across datasets and backbones at ratio = 0.05.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126480" y="932688"/>
            <a:ext cx="2377440" cy="1078992"/>
          </a:xfrm>
          <a:prstGeom prst="roundRect">
            <a:avLst>
              <a:gd name="adj" fmla="val 4237"/>
            </a:avLst>
          </a:prstGeom>
          <a:solidFill>
            <a:srgbClr val="223A5E"/>
          </a:solidFill>
          <a:ln w="13970">
            <a:solidFill>
              <a:srgbClr val="223A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63640" y="10241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5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read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263640" y="1271016"/>
            <a:ext cx="21031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graph unlearning does not fail uniformly. Vulnerability depends strongly on the mechanism family.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6144768" y="2212848"/>
            <a:ext cx="23317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81928" y="230428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4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Readout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281928" y="2551176"/>
            <a:ext cx="2057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GNNDelete highest.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 comparatively stable.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GraphEraser shows no collapse.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6254496" y="345643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family-level pattern is consistent across the tested settings.</a:t>
            </a:r>
            <a:endParaRPr lang="en-US" sz="1160" dirty="0"/>
          </a:p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choice, not just deletion budget, determines fragility.</a:t>
            </a:r>
            <a:endParaRPr lang="en-US" sz="11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Dive: GNNDelete Fragility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Graph Unlearning Audit</a:t>
            </a:r>
            <a:endParaRPr lang="en-US" sz="900" dirty="0"/>
          </a:p>
        </p:txBody>
      </p:sp>
      <p:pic>
        <p:nvPicPr>
          <p:cNvPr id="7" name="Image 0" descr="H:\project\OpenGU\GULib-master\report\0417_5003report\figures\paper_figures\FIG-2_Sca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914400"/>
            <a:ext cx="5257800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" y="429768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 Ratio sensitivity view for GIF and GNNDelete on Cora/GCN.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172200" y="1097280"/>
            <a:ext cx="1920240" cy="731520"/>
          </a:xfrm>
          <a:prstGeom prst="roundRect">
            <a:avLst>
              <a:gd name="adj" fmla="val 6250"/>
            </a:avLst>
          </a:prstGeom>
          <a:solidFill>
            <a:srgbClr val="A6404B"/>
          </a:solidFill>
          <a:ln w="12700">
            <a:solidFill>
              <a:srgbClr val="A6404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45352" y="120700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21.53%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245352" y="1481328"/>
            <a:ext cx="17739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gap at ratio 0.01 on Cora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72200" y="2011680"/>
            <a:ext cx="1920240" cy="731520"/>
          </a:xfrm>
          <a:prstGeom prst="roundRect">
            <a:avLst>
              <a:gd name="adj" fmla="val 6250"/>
            </a:avLst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45352" y="212140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26.2%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245352" y="2395728"/>
            <a:ext cx="17739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non-target prediction changes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89320" y="2971800"/>
            <a:ext cx="23317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30632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126480" y="3310128"/>
            <a:ext cx="2057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retraining on the same deletion set shows only a small intrinsic decrease. The large collapse is therefore mainly approximation error, not simply node importance.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Attribution And Collateral Damage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 retraining tells us what the deletion should have done. The remaining gap is mechanism-induced spillover.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3232" y="1371600"/>
            <a:ext cx="3611880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6304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Deleted targets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1709928"/>
            <a:ext cx="33375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drop is legitimate because removed nodes can be informative. A correct system may still lose a small amount of utility when those nodes disappear. 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3611880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6304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Retained nodes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00600" y="1709928"/>
            <a:ext cx="33375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predictions on non-target retained nodes shift substantially, the damage is no longer only about the deleted nodes. It indicates spillover from the approximate unlearning mechanism.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1508760" y="4160520"/>
            <a:ext cx="6080760" cy="502920"/>
          </a:xfrm>
          <a:prstGeom prst="roundRect">
            <a:avLst>
              <a:gd name="adj" fmla="val 9091"/>
            </a:avLst>
          </a:prstGeom>
          <a:solidFill>
            <a:srgbClr val="223A5E"/>
          </a:solidFill>
          <a:ln w="13970">
            <a:solidFill>
              <a:srgbClr val="223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4251960"/>
            <a:ext cx="5806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5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 line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45920" y="4498848"/>
            <a:ext cx="5806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unlearning vs exact retrain is the attribution lens; collateral-damage metrics show how far the error propagates beyond the requested deletion.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GraphEraser Behaves Differently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Graph Unlearning Audit</a:t>
            </a:r>
            <a:endParaRPr lang="en-US" sz="900" dirty="0"/>
          </a:p>
        </p:txBody>
      </p:sp>
      <p:pic>
        <p:nvPicPr>
          <p:cNvPr id="7" name="Image 0" descr="H:\project\OpenGU\GULib-master\report\0417_5003report\figures\report_figures\fig2_grapheraser_sh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24128"/>
            <a:ext cx="4800600" cy="34015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4462272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shard-level score shift for GraphEraser on Cora/GCN.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669280" y="1051560"/>
            <a:ext cx="2697480" cy="896112"/>
          </a:xfrm>
          <a:prstGeom prst="roundRect">
            <a:avLst>
              <a:gd name="adj" fmla="val 5102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06440" y="114300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Observed pattern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806440" y="1389888"/>
            <a:ext cx="2423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After-unlearning scores shift upward across the tested attack strategies, matching the non-collapse pattern seen in the main results.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5669280" y="2148840"/>
            <a:ext cx="26974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06440" y="22402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Interpretation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806440" y="2487168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plausible reading is that deleting bridge or hub nodes can simplify shard-local classification and reduce cross-shard interference.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5669280" y="3584448"/>
            <a:ext cx="2697480" cy="804672"/>
          </a:xfrm>
          <a:prstGeom prst="roundRect">
            <a:avLst>
              <a:gd name="adj" fmla="val 5682"/>
            </a:avLst>
          </a:prstGeom>
          <a:solidFill>
            <a:srgbClr val="A6404B"/>
          </a:solidFill>
          <a:ln w="13970">
            <a:solidFill>
              <a:srgbClr val="A6404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36758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806440" y="3922776"/>
            <a:ext cx="2423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setting-specific evidence, not a claim of universal robustness.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 Strength And Practicality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Graph Unlearning Audit</a:t>
            </a:r>
            <a:endParaRPr lang="en-US" sz="900" dirty="0"/>
          </a:p>
        </p:txBody>
      </p:sp>
      <p:pic>
        <p:nvPicPr>
          <p:cNvPr id="7" name="Image 0" descr="H:\project\OpenGU\GULib-master\report\0417_5003report\figures\paper_figures\FIG-3_Spect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534924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6072" y="438912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 Cross-family comparison of the main attack strategies at ratio = 0.05.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144768" y="914400"/>
            <a:ext cx="23317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81928" y="10058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key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281928" y="125272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F1 drop measures the attack-over-random advantage at the same budget.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6199632" y="1993392"/>
            <a:ext cx="960120" cy="914400"/>
          </a:xfrm>
          <a:prstGeom prst="roundRect">
            <a:avLst>
              <a:gd name="adj" fmla="val 5000"/>
            </a:avLst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72784" y="2103120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18.9s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272784" y="2377440"/>
            <a:ext cx="8138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IM-v4 selection time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296912" y="1993392"/>
            <a:ext cx="960120" cy="914400"/>
          </a:xfrm>
          <a:prstGeom prst="roundRect">
            <a:avLst>
              <a:gd name="adj" fmla="val 5000"/>
            </a:avLst>
          </a:prstGeom>
          <a:solidFill>
            <a:srgbClr val="E8EEF5"/>
          </a:solidFill>
          <a:ln w="12700">
            <a:solidFill>
              <a:srgbClr val="E8EEF5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70064" y="2103120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1.3%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7370064" y="2377440"/>
            <a:ext cx="8138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loss vs CELF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99632" y="3063240"/>
            <a:ext cx="20574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36792" y="315468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336792" y="34015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is operationally feasible.</a:t>
            </a:r>
            <a:endParaRPr lang="en-US" sz="1220" dirty="0"/>
          </a:p>
        </p:txBody>
      </p:sp>
      <p:sp>
        <p:nvSpPr>
          <p:cNvPr id="21" name="Text 18"/>
          <p:cNvSpPr/>
          <p:nvPr/>
        </p:nvSpPr>
        <p:spPr>
          <a:xfrm>
            <a:off x="6254496" y="39319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attacks outperform random deletion most clearly on GNNDelete.</a:t>
            </a:r>
            <a:endParaRPr lang="en-US" sz="1120" dirty="0"/>
          </a:p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IM-v4 makes attack selection fast enough to matter in practice.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And Future 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project is complete; these scope limits and follow-up directions define what this report does and does not claim.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9808" y="1389888"/>
            <a:ext cx="26974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48132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 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86968" y="172821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concentrated on the tested citation benchmarks and backbones.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2688336"/>
            <a:ext cx="26974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7797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 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86968" y="302666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mechanism-level explanation for GNNDelete fragility is still incomplete.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3703320" y="1389888"/>
            <a:ext cx="26974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48132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 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840480" y="172821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same pattern on larger graph benchmarks such as PubMed.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3703320" y="2688336"/>
            <a:ext cx="26974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27797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 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840480" y="302666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targeted ablations that explain when and why GNNDelete fails.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510528" y="1792224"/>
            <a:ext cx="1783080" cy="1417320"/>
          </a:xfrm>
          <a:prstGeom prst="roundRect">
            <a:avLst>
              <a:gd name="adj" fmla="val 3226"/>
            </a:avLst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90195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F7F5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status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6656832" y="2157984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MSc project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course submission with a reusable audit workflow.</a:t>
            </a:r>
            <a:endParaRPr lang="en-US" sz="10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325880"/>
            <a:ext cx="233172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1732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Auditability matters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664208"/>
            <a:ext cx="205740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graph unlearning should be evaluated not only for accuracy but also for adversarial deletion robustness.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3401568" y="1325880"/>
            <a:ext cx="233172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38728" y="141732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40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Family behavior differs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538728" y="1664208"/>
            <a:ext cx="205740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tested settings, GNNDelete is most fragile, GIF is comparatively stable, and GraphEraser exhibits shard protection.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025896" y="1325880"/>
            <a:ext cx="2331720" cy="2194560"/>
          </a:xfrm>
          <a:prstGeom prst="roundRect">
            <a:avLst>
              <a:gd name="adj" fmla="val 2083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63056" y="141732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Workflow contribution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63056" y="1664208"/>
            <a:ext cx="205740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contributes a reusable OpenGU-based audit pipeline alongside the findings themselves.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713232" y="4160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 Q&amp;A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8368" y="4681728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EE5003 MSc Project | Liu Chengyu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 Appendix: Statistical Support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Graph Unlearning Audit</a:t>
            </a:r>
            <a:endParaRPr lang="en-US" sz="900" dirty="0"/>
          </a:p>
        </p:txBody>
      </p:sp>
      <p:pic>
        <p:nvPicPr>
          <p:cNvPr id="7" name="Image 0" descr="H:\project\OpenGU\GULib-master\report\0417_5003report\figures\paper_figures\FIG-4a_Signific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3794760" cy="3154680"/>
          </a:xfrm>
          <a:prstGeom prst="rect">
            <a:avLst/>
          </a:prstGeom>
        </p:spPr>
      </p:pic>
      <p:pic>
        <p:nvPicPr>
          <p:cNvPr id="8" name="Image 1" descr="H:\project\OpenGU\GULib-master\report\0417_5003report\figures\paper_figures\FIG-4b_Eff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005840"/>
            <a:ext cx="3794760" cy="3154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42976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4a. -log10(p) support against random deletion.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727448" y="42976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4b. Effect size beyond random deletion.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EE5003 Final Presentation</dc:title>
  <dc:subject>Adversarial Deletion Attacks on Approximate Graph Unlearning</dc:subject>
  <dc:creator>OpenAI Codex</dc:creator>
  <cp:lastModifiedBy>OpenAI Codex</cp:lastModifiedBy>
  <cp:revision>1</cp:revision>
  <dcterms:created xsi:type="dcterms:W3CDTF">2026-04-16T16:36:48Z</dcterms:created>
  <dcterms:modified xsi:type="dcterms:W3CDTF">2026-04-16T16:36:48Z</dcterms:modified>
</cp:coreProperties>
</file>