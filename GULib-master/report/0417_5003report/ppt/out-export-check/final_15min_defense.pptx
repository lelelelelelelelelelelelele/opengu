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8EEF5">
              <a:alpha val="88000"/>
            </a:srgbClr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Deletion Attacks 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3232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inheritance of safety behavior within graph unlearning families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Report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 University of Singapore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 Chengyu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73952" y="1188720"/>
            <a:ext cx="196596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3533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160020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interfaces in approximate graph unlearning can be exploited to amplify approximation error, and fragility differs sharply across method families.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510528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534656" y="3154680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322783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10528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534656" y="3639312"/>
            <a:ext cx="877824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371246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26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Graph Unlearning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76809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Deletion requests are operationally plausible, and approximation turns them into a security question.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deletion requests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User-level or node-level removal is realistic in citation, social, and recommendation graphs.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3375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</a:t>
            </a:r>
            <a:endParaRPr lang="en-US" sz="1580" dirty="0"/>
          </a:p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unlearning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retraining is expensive, so practical systems use approximation.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080760" y="1353312"/>
            <a:ext cx="2468880" cy="2267712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surface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6217920" y="2377440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malicious requester may exploit the deletion interface itself by choosing harmful targets.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565392" y="3822192"/>
            <a:ext cx="1938528" cy="749808"/>
          </a:xfrm>
          <a:prstGeom prst="roundRect">
            <a:avLst>
              <a:gd name="adj" fmla="val 6098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3931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38544" y="4206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tool and attack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 And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7863840" cy="868680"/>
          </a:xfrm>
          <a:prstGeom prst="roundRect">
            <a:avLst>
              <a:gd name="adj" fmla="val 5263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7899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malicious deletion requests amplify approximation error and degrade retained-model utility beyond ordinary deletion at the same budget?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13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attack pipeline with multiple deletion strategies.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313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vulnerability across method families, not just one algorithm.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772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attribution metrics for collateral and retrain gap.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1188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 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whether adversarial node selection is practically efficient.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 Families And Threat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Families under test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105156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21615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Learning-based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a direct unlearning correction; GNNDelete is the fragile representative here.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3134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IF-based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deletion through local influence-style updates; GIF stays comparatively stable.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58368" y="3246120"/>
            <a:ext cx="2880360" cy="960120"/>
          </a:xfrm>
          <a:prstGeom prst="roundRect">
            <a:avLst>
              <a:gd name="adj" fmla="val 476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4107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Shard-based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5528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 the graph and retrain affected shards; GraphEraser behaves differently in the tested settings.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931920" y="1051560"/>
            <a:ext cx="4526280" cy="1920240"/>
          </a:xfrm>
          <a:prstGeom prst="roundRect">
            <a:avLst>
              <a:gd name="adj" fmla="val 2381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21615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model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69080" y="1463040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capability: choose which nodes to delete through the normal interface.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scope: poisoning labels, features, or hidden training code.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maximize post-unlearning utility loss beyond random deletion.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06908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ΔF1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14223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attack-over-random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0527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exact retrain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337560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4472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26.2%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068312" y="3721608"/>
            <a:ext cx="1088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non-target changes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Pipeline And Experimental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workflow compares approximate unlearning against an exact-retrain control on the same deletion set.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90472"/>
            <a:ext cx="384048" cy="384048"/>
          </a:xfrm>
          <a:prstGeom prst="ellipse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45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344168" y="144475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nodes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44168" y="166420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random or structured attack targets.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85800" y="222199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59152"/>
            <a:ext cx="384048" cy="384048"/>
          </a:xfrm>
          <a:prstGeom prst="ellipse">
            <a:avLst/>
          </a:prstGeom>
          <a:solidFill>
            <a:srgbClr val="A6404B"/>
          </a:solidFill>
          <a:ln w="12700">
            <a:solidFill>
              <a:srgbClr val="A640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140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344168" y="231343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unlearning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253288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the selected graph unlearning method.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09067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227832"/>
            <a:ext cx="384048" cy="384048"/>
          </a:xfrm>
          <a:prstGeom prst="ellipse">
            <a:avLst/>
          </a:prstGeom>
          <a:solidFill>
            <a:srgbClr val="E8EEF5"/>
          </a:solidFill>
          <a:ln w="12700">
            <a:solidFill>
              <a:srgbClr val="E8EE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826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344168" y="318211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Exact retrain control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44168" y="3401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 on the same deletions for the gold-standard reference.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85800" y="3959352"/>
            <a:ext cx="3749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096512"/>
            <a:ext cx="384048" cy="384048"/>
          </a:xfrm>
          <a:prstGeom prst="ellipse">
            <a:avLst/>
          </a:prstGeom>
          <a:solidFill>
            <a:srgbClr val="1E2630"/>
          </a:solidFill>
          <a:ln w="12700">
            <a:solidFill>
              <a:srgbClr val="1E263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51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344168" y="40507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outcomes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344168" y="42702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utility loss, retrain gap, and collateral damage.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3611880" cy="3273552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5361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matrix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37760" y="1783080"/>
            <a:ext cx="333756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Methods: 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Datasets: 2 citation graphs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Backbones: 3 GNN architectures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Strategies: 6 node-selection methods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Runs: 950 experiment executions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Outputs: relative_f1_drop, retrain_gap, collateral damage, and efficiency.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Selection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 is not only about how many nodes are deleted, but about what logic is used to choose them.</a:t>
            </a:r>
            <a:endParaRPr lang="en-US" sz="166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TracIn / IF-style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Model-aware logic.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with high training influence on the learned model.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≈ I_train(v)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Graph-structural logic.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nodes that maximize spread or disruption in the graph.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score(S) = spread(S)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487168" cy="2029968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904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2128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model-side influence with topology-side spread to search for stronger targets.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Shorthand: score(v) = α·z_IF(v) + (1-α)·z_IM(v)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78992" y="3803904"/>
            <a:ext cx="6912864" cy="694944"/>
          </a:xfrm>
          <a:prstGeom prst="roundRect">
            <a:avLst>
              <a:gd name="adj" fmla="val 6579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3968496"/>
            <a:ext cx="6638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16152" y="4215384"/>
            <a:ext cx="6638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these formulas only as intuition. The benchmark compares attacker logics: model-aware selection, graph-structural selection, and a hybrid of the two.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metrics answer three different questions: how much extra damage appears beyond a k=5 baseline, where it comes from, and how far it spreads.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= F1_after(k=5, random) - F1_after(attack)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 tiny random-trigger baseline because raw drop can mislead on shard-based methods.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28416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Fidelity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= F1_retrain - F1_unlearn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total_drop = drop_retrain + retrain_gap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54203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904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Collateral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mean_pred_shift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show how strongly retained nodes are disturbed.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87552" y="3611880"/>
            <a:ext cx="7095744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776472"/>
            <a:ext cx="6821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rule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4712" y="4023360"/>
            <a:ext cx="6821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trigger each method with a tiny random deletion, k=5, and use that post-unlearning F1 as the reference point. Then compare stronger attacks against that baseline; retrain_gap and collateral metrics explain why the utility changes appear.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Finding: Family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1_Gener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498348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18795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1. Family-level spectrum using relative F1 drop at ratio = 0.05.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50992" y="914400"/>
            <a:ext cx="2788920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88152" y="10789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788152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reveals a family-level vulnerability spectrum rather than one shared failure pattern.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50992" y="196596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21305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40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Family readout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788152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highest.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GIF comparatively stable.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shows shard protection.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50992" y="3063240"/>
            <a:ext cx="2788920" cy="1280160"/>
          </a:xfrm>
          <a:prstGeom prst="roundRect">
            <a:avLst>
              <a:gd name="adj" fmla="val 3571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88152" y="3227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Strategy readout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788152" y="34747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the same figure family and the companion strategy view, the strongest extra damage still concentrates on GNNDelete rather than spreading evenly across methods.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Finding: Strategy Spectrum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3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932688"/>
            <a:ext cx="781812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4590288"/>
            <a:ext cx="7543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Figure 3. Strategy comparison in relative_f1_drop at ratio = 0.05 using the k=5 baseline.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Sensitivity And Ablation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2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14400"/>
            <a:ext cx="525780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429768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 Ratio-sensitivity view for GIF and GNNDelete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6752" y="960120"/>
            <a:ext cx="235915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read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53912" y="1371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page asks how attack strength changes as the deletion ratio increases, not only who wins at one fixed point.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016752" y="2057400"/>
            <a:ext cx="2359152" cy="1051560"/>
          </a:xfrm>
          <a:prstGeom prst="roundRect">
            <a:avLst>
              <a:gd name="adj" fmla="val 434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22219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153912" y="24688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GNNDelete stays sensitive even at small ratios, while GIF remains much flatter across the same range.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016752" y="3200400"/>
            <a:ext cx="2359152" cy="1051560"/>
          </a:xfrm>
          <a:prstGeom prst="roundRect">
            <a:avLst>
              <a:gd name="adj" fmla="val 4348"/>
            </a:avLst>
          </a:prstGeom>
          <a:solidFill>
            <a:srgbClr val="223A5E"/>
          </a:solidFill>
          <a:ln w="13970">
            <a:solidFill>
              <a:srgbClr val="223A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36499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153912" y="36118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family difference is structural rather than a one-point artifact of the chosen ratio.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 And Collateral Damage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7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says the attack beats the k=5 method baseline; retrain_gap and collateral metrics explain where the extra damage comes from.</a:t>
            </a:r>
            <a:endParaRPr lang="en-US" sz="167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 success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1783080"/>
            <a:ext cx="221284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relative_f1_drop tells us whether a structured attack causes more loss than the small random-trigger baseline.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Attribution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21284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retrain_gap isolates the additional approximation error by comparing approximate unlearning with exact retraining on the same deletion set.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61888" y="1371600"/>
            <a:ext cx="2487168" cy="2542032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53619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Spillover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9048" y="1783080"/>
            <a:ext cx="221284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fraction_flipped and mean_pred_shift show how strongly retained non-target nodes are disturbed.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353312" y="3950208"/>
            <a:ext cx="6419088" cy="768096"/>
          </a:xfrm>
          <a:prstGeom prst="roundRect">
            <a:avLst>
              <a:gd name="adj" fmla="val 5952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7904" y="40690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 line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1517904" y="4315968"/>
            <a:ext cx="6053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total_drop = drop_retrain + retrain_gap, then large retrain gaps and large retained-node shifts indicate mechanism-induced spillover rather than only intrinsic node importance.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GraphEraser And Shard Protection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report_figures\fig2_grapheraser_sh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24128"/>
            <a:ext cx="480060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46227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shard-level score shift for GraphEraser on Cora/GCN.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170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pattern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06440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After-unlearning scores shift upward across the tested strategies, which is evidence for a shard protection effect in these settings.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669280" y="2148840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13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06440" y="2560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raw utility drop alone is not the right cross-family metric here; the k=5 relative baseline is the cleaner comparison lens.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69280" y="329184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A6404B"/>
          </a:solidFill>
          <a:ln w="13970">
            <a:solidFill>
              <a:srgbClr val="A640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456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06440" y="3703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remains setting-specific evidence, not a claim of universal robustness.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Support And Effect Size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pic>
        <p:nvPicPr>
          <p:cNvPr id="7" name="Image 0" descr="H:\project\OpenGU\GULib-master\report\0417_5003report\figures\paper_figures\FIG-4a_Signific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932688"/>
            <a:ext cx="3794760" cy="2788920"/>
          </a:xfrm>
          <a:prstGeom prst="rect">
            <a:avLst/>
          </a:prstGeom>
        </p:spPr>
      </p:pic>
      <p:pic>
        <p:nvPicPr>
          <p:cNvPr id="8" name="Image 1" descr="H:\project\OpenGU\GULib-master\report\0417_5003report\figures\paper_figures\FIG-4b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32688"/>
            <a:ext cx="3794760" cy="2788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79476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4a. Statistical support against random deletion.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73168" y="3794760"/>
            <a:ext cx="3730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4b. Effect size beyond random deletion.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22960" y="4023360"/>
            <a:ext cx="32461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12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60120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4a asks how strongly the attack-over-random difference is supported.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4983480" y="4023360"/>
            <a:ext cx="3246120" cy="685800"/>
          </a:xfrm>
          <a:prstGeom prst="roundRect">
            <a:avLst>
              <a:gd name="adj" fmla="val 6667"/>
            </a:avLst>
          </a:prstGeom>
          <a:solidFill>
            <a:srgbClr val="E8EEF5"/>
          </a:solidFill>
          <a:ln w="13970">
            <a:solidFill>
              <a:srgbClr val="E8EE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4187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120640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4b asks how large that extra damage is once support is established.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55280" y="118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77840" y="4736592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Audit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is complete; these scope limits and follow-up directions define what this report does and does not claim.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9808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180136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is concentrated on the tested citation benchmarks and backbones.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8529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309981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mechanism-level explanation for GNNDelete fragility is still incomplete.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703320" y="1389888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1801368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the same pattern on larger graph benchmarks such as PubMed.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703320" y="2688336"/>
            <a:ext cx="269748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8529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 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3099816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targeted ablations that explain when and why GNNDelete fails.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10528" y="1792224"/>
            <a:ext cx="1783080" cy="1417320"/>
          </a:xfrm>
          <a:prstGeom prst="roundRect">
            <a:avLst>
              <a:gd name="adj" fmla="val 3226"/>
            </a:avLst>
          </a:prstGeom>
          <a:solidFill>
            <a:srgbClr val="223A5E"/>
          </a:solidFill>
          <a:ln w="12700">
            <a:solidFill>
              <a:srgbClr val="223A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9019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status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656832" y="2157984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 MSc project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course submission with a reusable audit workflow.</a:t>
            </a:r>
            <a:endParaRPr lang="en-US" sz="10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Auditability matters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Approximate graph unlearning should be evaluated not only for accuracy but also for adversarial deletion robustness.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3401568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8728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Family behavior differs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38728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tested settings, GNNDelete is most fragile, GIF is comparatively stable, and GraphEraser exhibits shard protection.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025896" y="1234440"/>
            <a:ext cx="23317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397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3990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A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Workflow contribution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63056" y="1645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6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contributes a reusable OpenGU-based audit pipeline alongside the findings themselves.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13232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 Q&amp;A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" y="468172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5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EE5003 MSc Project | Liu Chengyu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EE5003 Final Presentation</dc:title>
  <dc:subject>Adversarial Deletion Attacks on Approximate Graph Unlearning</dc:subject>
  <dc:creator>OpenAI Codex</dc:creator>
  <cp:lastModifiedBy>OpenAI Codex</cp:lastModifiedBy>
  <cp:revision>1</cp:revision>
  <dcterms:created xsi:type="dcterms:W3CDTF">2026-04-17T06:48:30Z</dcterms:created>
  <dcterms:modified xsi:type="dcterms:W3CDTF">2026-04-17T06:48:30Z</dcterms:modified>
</cp:coreProperties>
</file>