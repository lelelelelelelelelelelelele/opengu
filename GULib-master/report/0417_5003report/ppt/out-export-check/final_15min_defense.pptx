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266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9768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8EEF5">
              <a:alpha val="88000"/>
            </a:srgbClr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Adversarial Deletion Attacks on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inheritance of safety behavior within graph unlearning families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Report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National University of Singapore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Liu Chengyu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73952" y="1188720"/>
            <a:ext cx="1965960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611112" y="1280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11112" y="1527048"/>
            <a:ext cx="1691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interfaces in approximate graph unlearning can be exploited to amplify approximation error, and fragility differs sharply across method families.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10528" y="3154680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547104" y="322783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7534656" y="3154680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571232" y="322783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6510528" y="3639312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547104" y="37124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534656" y="3639312"/>
            <a:ext cx="877824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571232" y="37124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Graph Unlearning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7680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requests are operationally plausible, and approximation turns them into a security question.</a:t>
            </a:r>
            <a:endParaRPr lang="en-US" sz="1720" dirty="0"/>
          </a:p>
        </p:txBody>
      </p:sp>
      <p:sp>
        <p:nvSpPr>
          <p:cNvPr id="8" name="Shape 6"/>
          <p:cNvSpPr/>
          <p:nvPr/>
        </p:nvSpPr>
        <p:spPr>
          <a:xfrm>
            <a:off x="5943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deletion requests</a:t>
            </a:r>
            <a:endParaRPr lang="en-US" sz="158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User-level or node-level removal is realistic in citation, social, and recommendation graphs.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33375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747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</a:t>
            </a:r>
            <a:endParaRPr lang="en-US" sz="1580" dirty="0"/>
          </a:p>
          <a:p>
            <a:pPr marL="0" indent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unlearning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is expensive, so practical systems use approximation.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0807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2179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surface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malicious requester may exploit the deletion interface itself by choosing harmful targets.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565392" y="3822192"/>
            <a:ext cx="1938528" cy="749808"/>
          </a:xfrm>
          <a:prstGeom prst="roundRect">
            <a:avLst>
              <a:gd name="adj" fmla="val 6098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638544" y="393192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38544" y="420624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tool and attack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 And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914400"/>
            <a:ext cx="7863840" cy="868680"/>
          </a:xfrm>
          <a:prstGeom prst="roundRect">
            <a:avLst>
              <a:gd name="adj" fmla="val 5263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125272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malicious deletion requests amplify approximation error and degrade retained-model utility beyond ordinary deletion at the same budget?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an attack pipeline with multiple deletion strategies.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vulnerability across method families, not just one algorithm.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144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attribution metrics for collateral and retrain gap.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8006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whether adversarial node selection is practically efficient.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Families And Threat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7498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Families under test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105156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95528" y="1143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Learning-based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138988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 a direct unlearning correction; GNNDelete is the fragile representative here.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95528" y="2240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IF-based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24871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deletion through local influence-style updates; GIF stays comparatively stable.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" y="333756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Shard-based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5844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Partition the graph and retrain affected shards; GraphEraser behaves differently in the tested settings.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931920" y="1051560"/>
            <a:ext cx="4526280" cy="1920240"/>
          </a:xfrm>
          <a:prstGeom prst="roundRect">
            <a:avLst>
              <a:gd name="adj" fmla="val 238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069080" y="114300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Threat model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069080" y="1389888"/>
            <a:ext cx="42519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 capability: choose which nodes to delete through the normal interface.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scope: poisoning labels, features, or hidden training code.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Target: maximize post-unlearning utility loss beyond random deletion.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406908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14223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ΔF1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4223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attack-over-random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560527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60527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 exact retrain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706831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26.2%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06831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non-target changes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Pipeline And Experimental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workflow compares approximate unlearning against an exact-retrain control on the same deletion set.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135331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822960" y="1490472"/>
            <a:ext cx="384048" cy="384048"/>
          </a:xfrm>
          <a:prstGeom prst="ellipse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22960" y="15453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344168" y="144475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nodes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44168" y="166420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random or structured attack targets.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85800" y="222199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822960" y="2359152"/>
            <a:ext cx="384048" cy="384048"/>
          </a:xfrm>
          <a:prstGeom prst="ellipse">
            <a:avLst/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22960" y="241401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1344168" y="231343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unlearning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25328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 the selected graph unlearning method.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822960" y="3227832"/>
            <a:ext cx="384048" cy="384048"/>
          </a:xfrm>
          <a:prstGeom prst="ellipse">
            <a:avLst/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822960" y="328269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1344168" y="318211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 control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44168" y="340156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 on the same deletions for the gold-standard reference.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85800" y="395935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1E2630"/>
          </a:solidFill>
          <a:ln w="12700">
            <a:solidFill>
              <a:srgbClr val="1E263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22960" y="415137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1344168" y="405079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outcomes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44168" y="42702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utility loss, retrain gap, and collateral damage.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800600" y="1371600"/>
            <a:ext cx="3611880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93776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matrix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1709928"/>
            <a:ext cx="333756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Methods: 5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Datasets: 2 citation graphs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Backbones: 3 GNN architectures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Strategies: 6 node-selection methods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Runs: 950 experiment executions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Outputs: relative_f1_drop, retrain_gap, collateral damage, and efficiency.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Selection Logic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attack is not only about how many nodes are deleted, but about what logic is used to choose them.</a:t>
            </a:r>
            <a:endParaRPr lang="en-US" sz="166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5039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TracIn / IF-style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Model-aware logic.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nodes with high training influence on the learned model.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score(v) ≈ I_train(v)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65576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Graph-structural logic.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nodes that maximize spread or disruption in the graph.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score(S) = spread(S)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487168" cy="2029968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080760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Hybrid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128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Combine model-side influence with topology-side spread to search for stronger targets.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Shorthand: score(v) = α·z_IF(v) + (1-α)·z_IM(v)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078992" y="3803904"/>
            <a:ext cx="6912864" cy="694944"/>
          </a:xfrm>
          <a:prstGeom prst="roundRect">
            <a:avLst>
              <a:gd name="adj" fmla="val 6579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216152" y="3895344"/>
            <a:ext cx="6638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16152" y="4142232"/>
            <a:ext cx="66385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these formulas only as intuition. The benchmark compares attacker logics: model-aware selection, graph-structural selection, and a hybrid of the two.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Metrics Framework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metrics answer three different questions: how much extra damage appears beyond a k=5 baseline, where it comes from, and how far it spreads.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50392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Utility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= F1_after(k=5, random) - F1_after(attack)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a tiny random-trigger baseline because raw drop can mislead on shard-based methods.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65576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Fidelity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= F1_retrain - F1_unlearn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total_drop = drop_retrain + retrain_gap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080760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Collateral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mean_pred_shift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show how strongly retained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987552" y="3785616"/>
            <a:ext cx="7095744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124712" y="3877056"/>
            <a:ext cx="6821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24712" y="4123944"/>
            <a:ext cx="6821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trigger each method with a tiny random deletion, k=5, and use that post-unlearning F1 as the reference point. Then compare stronger attacks against that baseline; retrain_gap and collateral metrics explain why the utility changes appear.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Family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1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14400"/>
            <a:ext cx="4983480" cy="3154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187952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Family-level spectrum using relative F1 drop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50992" y="932688"/>
            <a:ext cx="2788920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5788152" y="102412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788152" y="1271016"/>
            <a:ext cx="2514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reveals a family-level vulnerability spectrum rather than one shared failure pattern.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50992" y="1993392"/>
            <a:ext cx="2788920" cy="98755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5788152" y="208483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Family readout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788152" y="2331720"/>
            <a:ext cx="2514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highest.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comparatively stable.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shows shard protection.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50992" y="3163824"/>
            <a:ext cx="2788920" cy="1078992"/>
          </a:xfrm>
          <a:prstGeom prst="roundRect">
            <a:avLst>
              <a:gd name="adj" fmla="val 4237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5788152" y="3255264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Strategy readout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788152" y="3502152"/>
            <a:ext cx="2514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Across the same figure family and the companion strategy view, the strongest extra damage still concentrates on GNNDelete rather than spreading evenly across methods.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Strategy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3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932688"/>
            <a:ext cx="781812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4590288"/>
            <a:ext cx="7543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Figure 3. Strategy comparison in relative_f1_drop at ratio = 0.05 using the k=5 baseline.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Ratio Sensitivity And Ablation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2_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914400"/>
            <a:ext cx="5257800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4297680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2. Ratio-sensitivity view for GIF and GNNDelete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016752" y="1005840"/>
            <a:ext cx="2359152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6153912" y="109728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Ablation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153912" y="134416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page asks how attack strength changes as the deletion ratio increases, not only who wins at one fixed point.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016752" y="2240280"/>
            <a:ext cx="2359152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6153912" y="233172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153912" y="257860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stays sensitive even at small ratios, while GIF remains much flatter across the same range.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6016752" y="3474720"/>
            <a:ext cx="2359152" cy="749808"/>
          </a:xfrm>
          <a:prstGeom prst="roundRect">
            <a:avLst>
              <a:gd name="adj" fmla="val 6098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6153912" y="356616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53912" y="38130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 difference is structural rather than a one-point artifact of the chosen ratio.</a:t>
            </a:r>
            <a:endParaRPr lang="en-US" sz="12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 And Collateral Damage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7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says the attack beats the k=5 method baseline; retrain_gap and collateral metrics explain where the extra damage comes from.</a:t>
            </a:r>
            <a:endParaRPr lang="en-US" sz="1670" dirty="0"/>
          </a:p>
        </p:txBody>
      </p:sp>
      <p:sp>
        <p:nvSpPr>
          <p:cNvPr id="8" name="Shape 6"/>
          <p:cNvSpPr/>
          <p:nvPr/>
        </p:nvSpPr>
        <p:spPr>
          <a:xfrm>
            <a:off x="713232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50392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success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tells us whether a structured attack causes more loss than the small random-trigger baseline.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74720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74720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isolates the additional approximation error by comparing approximate unlearning with exact retraining on the same deletion set.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61888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099048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Spillover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99048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 and mean_pred_shift show how strongly retained non-target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353312" y="3950208"/>
            <a:ext cx="6419088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517904" y="406908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Bottom line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1517904" y="4315968"/>
            <a:ext cx="6053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total_drop = drop_retrain + retrain_gap, then large retrain gaps and large retained-node shifts indicate mechanism-induced spillover rather than only intrinsic node importance.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And Shard Protection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report_figures\fig2_grapheraser_sh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024128"/>
            <a:ext cx="4800600" cy="34015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4462272"/>
            <a:ext cx="4709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shard-level score shift for GraphEraser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051560"/>
            <a:ext cx="26974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5806440" y="11430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806440" y="1389888"/>
            <a:ext cx="2423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After-unlearning scores shift upward across the tested strategies, which is evidence for a shard protection effect in these settings.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69280" y="2148840"/>
            <a:ext cx="2697480" cy="1060704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5806440" y="2240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806440" y="2487168"/>
            <a:ext cx="24231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why raw utility drop alone is not the right cross-family metric here; the k=5 relative baseline is the cleaner comparison lens.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69280" y="3520440"/>
            <a:ext cx="2697480" cy="868680"/>
          </a:xfrm>
          <a:prstGeom prst="roundRect">
            <a:avLst>
              <a:gd name="adj" fmla="val 5263"/>
            </a:avLst>
          </a:prstGeom>
          <a:solidFill>
            <a:srgbClr val="A6404B"/>
          </a:solidFill>
          <a:ln w="13970">
            <a:solidFill>
              <a:srgbClr val="A6404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5806440" y="36118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06440" y="385876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remains setting-specific evidence, not a claim of universal robustness.</a:t>
            </a:r>
            <a:endParaRPr lang="en-US" sz="12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Statistical Support And Effect Size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4a_Signific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932688"/>
            <a:ext cx="3794760" cy="3035808"/>
          </a:xfrm>
          <a:prstGeom prst="rect">
            <a:avLst/>
          </a:prstGeom>
        </p:spPr>
      </p:pic>
      <p:pic>
        <p:nvPicPr>
          <p:cNvPr id="8" name="Image 1" descr="H:\project\OpenGU\GULib-master\report\0417_5003report\figures\paper_figures\FIG-4b_Ef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932688"/>
            <a:ext cx="3794760" cy="30358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078224"/>
            <a:ext cx="37307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4a. Statistical support against random deletion.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773168" y="4078224"/>
            <a:ext cx="37307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4b. Effect size beyond random deletion.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22960" y="4370832"/>
            <a:ext cx="32461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8"/>
          <p:cNvSpPr/>
          <p:nvPr/>
        </p:nvSpPr>
        <p:spPr>
          <a:xfrm>
            <a:off x="960120" y="446227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960120" y="4709160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 asks how strongly the attack-over-random difference is supported.</a:t>
            </a:r>
            <a:endParaRPr lang="en-US" sz="1220" dirty="0"/>
          </a:p>
        </p:txBody>
      </p:sp>
      <p:sp>
        <p:nvSpPr>
          <p:cNvPr id="14" name="Shape 10"/>
          <p:cNvSpPr/>
          <p:nvPr/>
        </p:nvSpPr>
        <p:spPr>
          <a:xfrm>
            <a:off x="4983480" y="4370832"/>
            <a:ext cx="3246120" cy="384048"/>
          </a:xfrm>
          <a:prstGeom prst="roundRect">
            <a:avLst>
              <a:gd name="adj" fmla="val 11905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1"/>
          <p:cNvSpPr/>
          <p:nvPr/>
        </p:nvSpPr>
        <p:spPr>
          <a:xfrm>
            <a:off x="5120640" y="446227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Effect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120640" y="4709160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 asks how large that extra damage is once support is established.</a:t>
            </a:r>
            <a:endParaRPr lang="en-US" sz="12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And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is complete; these scope limits and follow-up directions define what this report does and does not claim.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9808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886968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 is concentrated on the tested citation benchmarks and backbones.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86968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mechanism-level explanation for GNNDelete fragility is still incomplete.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703320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840480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 the same pattern on larger graph benchmarks such as PubMed.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03320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840480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40480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targeted ablations that explain when and why GNNDelete fails.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10528" y="1792224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656832" y="190195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status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656832" y="2157984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Completed MSc project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course submission with a reusable audit workflow.</a:t>
            </a:r>
            <a:endParaRPr lang="en-US" sz="10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Auditability matters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should be evaluated not only for accuracy but also for adversarial deletion robustness.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3401568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538728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Family behavior differs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38728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tested settings, GNNDelete is most fragile, GIF is comparatively stable, and GraphEraser exhibits shard protection.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025896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163056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Workflow contribution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63056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contributes a reusable OpenGU-based audit pipeline alongside the findings themselves.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713232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you. Q&amp;A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" y="46817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1516</Words>
  <Application>Microsoft Office PowerPoint</Application>
  <PresentationFormat>全屏显示(16:9)</PresentationFormat>
  <Paragraphs>233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EE5003 Final Presentation</dc:title>
  <dc:subject>Adversarial Deletion Attacks on Approximate Graph Unlearning</dc:subject>
  <dc:creator>OpenAI Codex</dc:creator>
  <cp:lastModifiedBy>Liu Chengyu</cp:lastModifiedBy>
  <cp:revision>2</cp:revision>
  <dcterms:created xsi:type="dcterms:W3CDTF">2026-04-17T06:16:59Z</dcterms:created>
  <dcterms:modified xsi:type="dcterms:W3CDTF">2026-04-17T06:25:39Z</dcterms:modified>
</cp:coreProperties>
</file>